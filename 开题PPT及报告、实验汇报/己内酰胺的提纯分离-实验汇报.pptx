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8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3" r:id="rId3"/>
    <p:sldId id="264" r:id="rId4"/>
    <p:sldId id="265" r:id="rId5"/>
    <p:sldId id="266" r:id="rId6"/>
    <p:sldId id="270" r:id="rId7"/>
    <p:sldId id="271" r:id="rId8"/>
    <p:sldId id="267" r:id="rId9"/>
    <p:sldId id="268" r:id="rId10"/>
    <p:sldId id="272" r:id="rId11"/>
    <p:sldId id="274" r:id="rId12"/>
    <p:sldId id="273" r:id="rId13"/>
    <p:sldId id="275" r:id="rId14"/>
    <p:sldId id="276" r:id="rId15"/>
    <p:sldId id="25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E3A43-2622-47DF-9DE7-85F1807DAACB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85B28-191E-4BE7-B0AE-5FA5D3DC97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57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992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063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271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533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866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927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820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124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277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055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753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048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3116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460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F89C0-C321-BBDB-8DFE-7E745C298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3ED8B9-DBD8-E254-99B2-9969E98C4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FE552-4F35-007D-2E19-6586802E1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EFC17D-795F-0C8A-B3FA-F86CB583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2202B8-84C9-0A99-A889-F85BCA06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80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CD128-3A0E-A9F8-626F-67340B26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B16DA0-F248-127D-B5E4-619C1A023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5AF1A7-292A-9F42-D38C-518FF686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E64B1D-4B7D-5B3C-57E5-59B76F43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E70640-360C-2E04-4FDE-A3371B9D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16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83A2B-F32A-9266-BB9E-32E89718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93ABF6-6CAD-3E30-CFA0-690C202F9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DC628-1BB1-ADC3-BF7C-521DBB28C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0694D2-C24B-8FC2-DC63-D3F4A907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5635D2-4D15-0074-23F4-F46E60A1F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84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7C27C-982A-2FB1-3CC2-C272C7A5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A1C4A-5A79-1900-FB84-1B00F6508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5B0A6D-C1B9-869C-9D44-FBC4F3CB1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1D96FA-2D99-F728-7F5F-0655D3CF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72D0AB-1EE0-93D7-BBB8-39E8AABB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D97F91-00A1-A66C-2553-67FE4A05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77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FB37A-D9C4-DF73-8736-F5AEA629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8CBB90-F0F4-4569-E020-35096F398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B4DA9E-9730-F16E-A319-3A2672C35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544B91-94FC-F4E9-D486-F3FA01125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423434-6C57-CDA5-7370-24987DE1E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05E1F2-2F3B-2050-9310-0579D655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105A99-FC8C-36F1-EF29-1F466BE9A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16790B-4F42-6157-AFDE-63CDD2F3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96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D3B03-AD95-129C-35F9-54BF3F99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D12DFE-1F5C-636A-1F9D-A8487DEE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D64563-040A-64AB-C188-BA558E977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8B658-38A4-5AD5-8BD5-B04D275F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46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0DDECD-9A03-2B7A-32E1-F50546A0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274D60-C6BF-1C04-D8CC-CAB6E03C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59F9C6-D267-BD93-74B2-E2325E3A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83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A490B-6509-F87D-A8E7-6E72F1E5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D3D65-C822-CDD9-F55E-39092F6E2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10C9A3-A130-9235-F8D7-74F71BB06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0F2795-B6BD-2040-E7EC-668EA8D9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8F2B79-DB27-EA01-E1D9-0544EE9A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655EAD-4F79-A44B-303F-B7D57AFC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046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B42AE-CB15-7B91-A410-99341FA1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8C6AD9-AE81-2A71-53B1-7099E2F93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ABA715-397B-D405-8B63-C96F1D9FE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844B08-A81C-06B9-621C-91ACD3ED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CAA7CE-A643-45FD-514E-EE242AFB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4E4A4D-E2F2-FFCA-D8FD-29CAE15A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380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AFBF9-0F57-BF0C-BF9F-07F4FBE1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FC4A71-F33C-500C-A150-F89BC8144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68228-F97C-40CE-564E-03EB7E86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CAE4D-7E2D-A7A3-684E-2EE10665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59BC9A-1A46-46C2-4F77-93F8F698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54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F663A9-592E-0B2E-07D5-CF659C475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615761-D28A-C38F-E7E6-72D7E667D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2084EE-0365-AC40-9383-CA275D565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DFEB0-4AC5-D7F9-EAA7-FC444199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2FA63E-DC4C-CEE7-A805-B11E835E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8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2 多媒体办公系统01-07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8"/>
            <a:ext cx="12192000" cy="685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06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2 多媒体办公系统01-09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19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536200" y="5877340"/>
            <a:ext cx="2844800" cy="365125"/>
          </a:xfrm>
        </p:spPr>
        <p:txBody>
          <a:bodyPr/>
          <a:lstStyle/>
          <a:p>
            <a:fld id="{D9DE98FE-917E-4DEF-80D6-9FEA7ECDC804}" type="datetime1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框 12"/>
          <p:cNvSpPr txBox="1"/>
          <p:nvPr userDrawn="1"/>
        </p:nvSpPr>
        <p:spPr>
          <a:xfrm>
            <a:off x="7536200" y="6226540"/>
            <a:ext cx="3648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dist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dirty="0">
                <a:solidFill>
                  <a:srgbClr val="0D0D0D"/>
                </a:solidFill>
                <a:latin typeface="方正兰亭中黑简体" panose="02000000000000000000" charset="-122"/>
                <a:ea typeface="方正兰亭中黑简体" panose="02000000000000000000" charset="-122"/>
                <a:cs typeface="FZLanTingHeiS-B-GB"/>
              </a:rPr>
              <a:t>中石化石油化工科学研究院</a:t>
            </a:r>
            <a:r>
              <a:rPr kumimoji="1" lang="zh-CN" altLang="en-US" sz="1400" dirty="0">
                <a:solidFill>
                  <a:srgbClr val="0D0D0D"/>
                </a:solidFill>
                <a:latin typeface="方正兰亭中黑简体" panose="02000000000000000000" charset="-122"/>
                <a:ea typeface="方正兰亭中黑简体" panose="02000000000000000000" charset="-122"/>
                <a:cs typeface="FZLanTingHeiS-B-GB"/>
                <a:sym typeface="+mn-ea"/>
              </a:rPr>
              <a:t>有限公司</a:t>
            </a:r>
          </a:p>
        </p:txBody>
      </p:sp>
      <p:sp>
        <p:nvSpPr>
          <p:cNvPr id="8" name="文本框 16"/>
          <p:cNvSpPr txBox="1"/>
          <p:nvPr userDrawn="1"/>
        </p:nvSpPr>
        <p:spPr>
          <a:xfrm>
            <a:off x="7536200" y="6452242"/>
            <a:ext cx="39721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SINOPEC Research Institute of Petroleum Processing </a:t>
            </a:r>
            <a:r>
              <a:rPr kumimoji="1" lang="en-US" altLang="zh-CN" sz="800" b="1" kern="2200" spc="53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Co.,Ltd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8345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2 多媒体办公系统01-10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2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C2F9B9-4A63-7C7F-38D4-A5E50ABF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280778-F50E-51D9-0EDE-465A9C39E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BF12F-7F25-1B55-0966-263F7A274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4F746-7CAE-4E15-836F-92DA9451889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D404F-C26A-FD27-CB70-6C0ED7E7D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0B1FAB-66B0-2292-EB9C-FD3841F81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84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5.emf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6.emf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7.emf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8.emf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9.emf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10.emf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image" Target="../media/image12.emf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1.emf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873787" y="5661311"/>
            <a:ext cx="3499907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1467" dirty="0">
                <a:solidFill>
                  <a:srgbClr val="0D0D0D"/>
                </a:solidFill>
                <a:latin typeface="方正兰亭中黑简体" panose="02000000000000000000" charset="-122"/>
                <a:ea typeface="方正兰亭中黑简体" panose="02000000000000000000" charset="-122"/>
                <a:cs typeface="FZLanTingHeiS-B-GB"/>
              </a:rPr>
              <a:t>中石化石油化工科学研究院</a:t>
            </a:r>
            <a:r>
              <a:rPr kumimoji="1" lang="zh-CN" altLang="en-US" sz="1467" dirty="0">
                <a:solidFill>
                  <a:srgbClr val="0D0D0D"/>
                </a:solidFill>
                <a:latin typeface="方正兰亭中黑简体" panose="02000000000000000000" charset="-122"/>
                <a:ea typeface="方正兰亭中黑简体" panose="02000000000000000000" charset="-122"/>
                <a:cs typeface="FZLanTingHeiS-B-GB"/>
                <a:sym typeface="+mn-ea"/>
              </a:rPr>
              <a:t>有限公司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73787" y="5944228"/>
            <a:ext cx="3691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kern="16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SINOPEC Research Institute of Petroleum Processing </a:t>
            </a:r>
            <a:r>
              <a:rPr kumimoji="1" lang="en-US" altLang="zh-CN" sz="800" b="1" kern="1600" spc="4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Co.,Ltd</a:t>
            </a:r>
            <a:r>
              <a:rPr kumimoji="1" lang="en-US" altLang="zh-CN" sz="800" b="1" kern="16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.</a:t>
            </a:r>
          </a:p>
        </p:txBody>
      </p:sp>
      <p:pic>
        <p:nvPicPr>
          <p:cNvPr id="3" name="图片 2" descr="中国石化标识-01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520" y="452588"/>
            <a:ext cx="1967427" cy="720721"/>
          </a:xfrm>
          <a:prstGeom prst="rect">
            <a:avLst/>
          </a:prstGeom>
        </p:spPr>
      </p:pic>
      <p:sp>
        <p:nvSpPr>
          <p:cNvPr id="2" name="文本框 25">
            <a:extLst>
              <a:ext uri="{FF2B5EF4-FFF2-40B4-BE49-F238E27FC236}">
                <a16:creationId xmlns:a16="http://schemas.microsoft.com/office/drawing/2014/main" id="{94A77D88-A624-7ADE-CF5B-F5E8410DCB87}"/>
              </a:ext>
            </a:extLst>
          </p:cNvPr>
          <p:cNvSpPr txBox="1"/>
          <p:nvPr/>
        </p:nvSpPr>
        <p:spPr>
          <a:xfrm>
            <a:off x="1182370" y="1057613"/>
            <a:ext cx="9827260" cy="797200"/>
          </a:xfrm>
          <a:prstGeom prst="rect">
            <a:avLst/>
          </a:prstGeom>
          <a:noFill/>
        </p:spPr>
        <p:txBody>
          <a:bodyPr wrap="square" lIns="121916" tIns="60957" rIns="121916" bIns="60957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37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Medium" panose="020B0600000000000000" charset="-122"/>
              </a:rPr>
              <a:t>废尼龙</a:t>
            </a:r>
            <a:r>
              <a:rPr kumimoji="1" lang="en-US" altLang="zh-CN" sz="37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Medium" panose="020B0600000000000000" charset="-122"/>
              </a:rPr>
              <a:t>6</a:t>
            </a:r>
            <a:r>
              <a:rPr kumimoji="1" lang="zh-CN" altLang="en-US" sz="37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Medium" panose="020B0600000000000000" charset="-122"/>
              </a:rPr>
              <a:t>中己内酰胺单体的回收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BE27D3-C87D-BE92-A9C2-63DE19F79AA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127108" y="2296929"/>
            <a:ext cx="7441353" cy="1004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kumimoji="1" lang="zh-CN" altLang="en-US" sz="1867" b="1" kern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汇报人：戴超</a:t>
            </a:r>
            <a:endParaRPr kumimoji="1" lang="en-US" altLang="zh-CN" sz="1867" b="1" kern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kumimoji="1" lang="en-US" altLang="zh-CN" sz="1867" b="1" kern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2024</a:t>
            </a:r>
            <a:r>
              <a:rPr kumimoji="1" lang="zh-CN" altLang="en-US" sz="1867" b="1" kern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kumimoji="1" lang="en-US" altLang="zh-CN" sz="1867" b="1" kern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kumimoji="1" lang="zh-CN" altLang="en-US" sz="1867" b="1" kern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kumimoji="1" lang="en-US" altLang="zh-CN" sz="1867" b="1" kern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kumimoji="1" lang="zh-CN" altLang="en-US" sz="1867" b="1" kern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855009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0" y="55033"/>
            <a:ext cx="6149447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实验设计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955AF4-AC8B-B9E9-918D-99B401A9056B}"/>
              </a:ext>
            </a:extLst>
          </p:cNvPr>
          <p:cNvSpPr txBox="1"/>
          <p:nvPr/>
        </p:nvSpPr>
        <p:spPr>
          <a:xfrm>
            <a:off x="156633" y="866140"/>
            <a:ext cx="11129970" cy="874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实验内容：取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25g(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实际称量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25.02g)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己内酰胺与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1.15g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（实际称量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1.15g)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氨基己酸混合先用水溶解，再用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4-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甲基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戊醇进行多次萃取（将上次萃取得到的水相加入萃取剂再进行萃取）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5EEC8B7-8406-1E30-69AD-E09A489D7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688951"/>
              </p:ext>
            </p:extLst>
          </p:nvPr>
        </p:nvGraphicFramePr>
        <p:xfrm>
          <a:off x="325966" y="2582945"/>
          <a:ext cx="11263757" cy="26378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48417">
                  <a:extLst>
                    <a:ext uri="{9D8B030D-6E8A-4147-A177-3AD203B41FA5}">
                      <a16:colId xmlns:a16="http://schemas.microsoft.com/office/drawing/2014/main" val="2457669932"/>
                    </a:ext>
                  </a:extLst>
                </a:gridCol>
                <a:gridCol w="1359488">
                  <a:extLst>
                    <a:ext uri="{9D8B030D-6E8A-4147-A177-3AD203B41FA5}">
                      <a16:colId xmlns:a16="http://schemas.microsoft.com/office/drawing/2014/main" val="3582632001"/>
                    </a:ext>
                  </a:extLst>
                </a:gridCol>
                <a:gridCol w="1502482">
                  <a:extLst>
                    <a:ext uri="{9D8B030D-6E8A-4147-A177-3AD203B41FA5}">
                      <a16:colId xmlns:a16="http://schemas.microsoft.com/office/drawing/2014/main" val="2522934914"/>
                    </a:ext>
                  </a:extLst>
                </a:gridCol>
                <a:gridCol w="1502482">
                  <a:extLst>
                    <a:ext uri="{9D8B030D-6E8A-4147-A177-3AD203B41FA5}">
                      <a16:colId xmlns:a16="http://schemas.microsoft.com/office/drawing/2014/main" val="3808453590"/>
                    </a:ext>
                  </a:extLst>
                </a:gridCol>
                <a:gridCol w="1502482">
                  <a:extLst>
                    <a:ext uri="{9D8B030D-6E8A-4147-A177-3AD203B41FA5}">
                      <a16:colId xmlns:a16="http://schemas.microsoft.com/office/drawing/2014/main" val="312958426"/>
                    </a:ext>
                  </a:extLst>
                </a:gridCol>
                <a:gridCol w="1502482">
                  <a:extLst>
                    <a:ext uri="{9D8B030D-6E8A-4147-A177-3AD203B41FA5}">
                      <a16:colId xmlns:a16="http://schemas.microsoft.com/office/drawing/2014/main" val="4093208813"/>
                    </a:ext>
                  </a:extLst>
                </a:gridCol>
                <a:gridCol w="2245924">
                  <a:extLst>
                    <a:ext uri="{9D8B030D-6E8A-4147-A177-3AD203B41FA5}">
                      <a16:colId xmlns:a16="http://schemas.microsoft.com/office/drawing/2014/main" val="2566495922"/>
                    </a:ext>
                  </a:extLst>
                </a:gridCol>
              </a:tblGrid>
              <a:tr h="732938"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一次萃取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二次萃取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三次萃取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四次萃取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五次萃取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六次萃取（三倍量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065049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萃取剂量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/g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26.14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26.3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26.15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26.19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26.19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78.46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387587"/>
                  </a:ext>
                </a:extLst>
              </a:tr>
              <a:tr h="701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萃取相质量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/g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46.9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35.61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30.19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33.14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28.75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86.06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845190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水相质量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/g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111.06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101.75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95.97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87.38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78.69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69.87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3623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50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分析结果（液相色谱）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E974F86-F10C-36AE-9010-185E5745D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807184"/>
              </p:ext>
            </p:extLst>
          </p:nvPr>
        </p:nvGraphicFramePr>
        <p:xfrm>
          <a:off x="156633" y="887351"/>
          <a:ext cx="11824835" cy="4968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1454">
                  <a:extLst>
                    <a:ext uri="{9D8B030D-6E8A-4147-A177-3AD203B41FA5}">
                      <a16:colId xmlns:a16="http://schemas.microsoft.com/office/drawing/2014/main" val="4250185187"/>
                    </a:ext>
                  </a:extLst>
                </a:gridCol>
                <a:gridCol w="2289085">
                  <a:extLst>
                    <a:ext uri="{9D8B030D-6E8A-4147-A177-3AD203B41FA5}">
                      <a16:colId xmlns:a16="http://schemas.microsoft.com/office/drawing/2014/main" val="3890417900"/>
                    </a:ext>
                  </a:extLst>
                </a:gridCol>
                <a:gridCol w="2289085">
                  <a:extLst>
                    <a:ext uri="{9D8B030D-6E8A-4147-A177-3AD203B41FA5}">
                      <a16:colId xmlns:a16="http://schemas.microsoft.com/office/drawing/2014/main" val="3912410480"/>
                    </a:ext>
                  </a:extLst>
                </a:gridCol>
                <a:gridCol w="2692461">
                  <a:extLst>
                    <a:ext uri="{9D8B030D-6E8A-4147-A177-3AD203B41FA5}">
                      <a16:colId xmlns:a16="http://schemas.microsoft.com/office/drawing/2014/main" val="4244379405"/>
                    </a:ext>
                  </a:extLst>
                </a:gridCol>
                <a:gridCol w="2092750">
                  <a:extLst>
                    <a:ext uri="{9D8B030D-6E8A-4147-A177-3AD203B41FA5}">
                      <a16:colId xmlns:a16="http://schemas.microsoft.com/office/drawing/2014/main" val="2612736730"/>
                    </a:ext>
                  </a:extLst>
                </a:gridCol>
              </a:tblGrid>
              <a:tr h="311446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样品名称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己内酰胺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6-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氨基己酸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己内酰胺萃取量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/g(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萃取相密度取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0.811g/cm</a:t>
                      </a:r>
                      <a:r>
                        <a:rPr lang="en-US" altLang="zh-CN" sz="1600" baseline="300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比实际值小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氨基己酸萃取量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/g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8926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含量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mg/ml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含量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mg/ml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755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己内酰胺标样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29154"/>
                  </a:ext>
                </a:extLst>
              </a:tr>
              <a:tr h="4138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6-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氨基己酸标样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0.5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84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萃取相（一次萃取）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103.33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0.41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5.98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0.024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0878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萃取相（二次萃取）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92.69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0.05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0.002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65549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萃取相（三次萃取）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69.02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027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萃取相（四次萃取）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56.20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90141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萃取相（五次萃取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41.62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850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萃取相（六次萃取）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20.27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2099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最终得水相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16.92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9.28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0.648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85294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合计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/g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6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19.72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0.674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9075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76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0" y="20772"/>
            <a:ext cx="6149447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实验设计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DD808B7-138A-6C10-33E8-61061A4D9B24}"/>
              </a:ext>
            </a:extLst>
          </p:cNvPr>
          <p:cNvGrpSpPr/>
          <p:nvPr/>
        </p:nvGrpSpPr>
        <p:grpSpPr>
          <a:xfrm>
            <a:off x="156633" y="1105813"/>
            <a:ext cx="12032869" cy="4557653"/>
            <a:chOff x="161903" y="1133387"/>
            <a:chExt cx="12032869" cy="455765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4C1050A6-F1AB-3752-F50E-5F8F7F747FB9}"/>
                </a:ext>
              </a:extLst>
            </p:cNvPr>
            <p:cNvGrpSpPr/>
            <p:nvPr/>
          </p:nvGrpSpPr>
          <p:grpSpPr>
            <a:xfrm>
              <a:off x="161903" y="2004187"/>
              <a:ext cx="3156037" cy="2241705"/>
              <a:chOff x="187922" y="738951"/>
              <a:chExt cx="3230197" cy="2241705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6570FF7-15DC-9E35-406E-A003F375C2AD}"/>
                  </a:ext>
                </a:extLst>
              </p:cNvPr>
              <p:cNvSpPr txBox="1"/>
              <p:nvPr/>
            </p:nvSpPr>
            <p:spPr>
              <a:xfrm>
                <a:off x="196999" y="738951"/>
                <a:ext cx="1997562" cy="715089"/>
              </a:xfrm>
              <a:prstGeom prst="round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己内酰胺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25g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实际称量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25.13g)</a:t>
                </a:r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29C123C-ED1B-1831-B992-3C728B3BA1D7}"/>
                  </a:ext>
                </a:extLst>
              </p:cNvPr>
              <p:cNvSpPr txBox="1"/>
              <p:nvPr/>
            </p:nvSpPr>
            <p:spPr>
              <a:xfrm>
                <a:off x="187922" y="2265567"/>
                <a:ext cx="1893639" cy="715089"/>
              </a:xfrm>
              <a:prstGeom prst="round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氨基己酸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1.15g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实际称量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1.14g)</a:t>
                </a:r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" name="连接符: 肘形 12">
                <a:extLst>
                  <a:ext uri="{FF2B5EF4-FFF2-40B4-BE49-F238E27FC236}">
                    <a16:creationId xmlns:a16="http://schemas.microsoft.com/office/drawing/2014/main" id="{C9359C64-3EE0-4237-18F8-2B5758D5C4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8662" y="1092980"/>
                <a:ext cx="1219457" cy="679292"/>
              </a:xfrm>
              <a:prstGeom prst="bentConnector3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连接符: 肘形 19">
                <a:extLst>
                  <a:ext uri="{FF2B5EF4-FFF2-40B4-BE49-F238E27FC236}">
                    <a16:creationId xmlns:a16="http://schemas.microsoft.com/office/drawing/2014/main" id="{9E99A32D-5A69-E75B-99B3-2740D1CD30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85662" y="1751339"/>
                <a:ext cx="720293" cy="871773"/>
              </a:xfrm>
              <a:prstGeom prst="bentConnector2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8A962F9-CC28-2D5B-BA5D-8D7700DAAA28}"/>
                </a:ext>
              </a:extLst>
            </p:cNvPr>
            <p:cNvSpPr txBox="1"/>
            <p:nvPr/>
          </p:nvSpPr>
          <p:spPr>
            <a:xfrm>
              <a:off x="3317940" y="2842185"/>
              <a:ext cx="646331" cy="369332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混合</a:t>
              </a:r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7DC074C0-4FC0-505D-EA54-6C93E6070288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>
              <a:off x="3964271" y="3026851"/>
              <a:ext cx="229721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15AC0F9-0E50-F47B-1C46-51CDCDF7527E}"/>
                </a:ext>
              </a:extLst>
            </p:cNvPr>
            <p:cNvSpPr txBox="1"/>
            <p:nvPr/>
          </p:nvSpPr>
          <p:spPr>
            <a:xfrm>
              <a:off x="3964271" y="2374696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加入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4-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甲基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-2-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戊醇</a:t>
              </a:r>
              <a:endPara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50.52g</a:t>
              </a:r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FF004DB-74E6-EC81-198E-E6CA98128F4D}"/>
                </a:ext>
              </a:extLst>
            </p:cNvPr>
            <p:cNvSpPr txBox="1"/>
            <p:nvPr/>
          </p:nvSpPr>
          <p:spPr>
            <a:xfrm>
              <a:off x="6261488" y="2833196"/>
              <a:ext cx="1377672" cy="408623"/>
            </a:xfrm>
            <a:prstGeom prst="round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液固混合物</a:t>
              </a: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F80CBDC6-AD1D-5126-7551-85C06FEE9233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7639160" y="3037508"/>
              <a:ext cx="53065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0AB3735-D5A4-4723-D1ED-5747B1C5B0B0}"/>
                </a:ext>
              </a:extLst>
            </p:cNvPr>
            <p:cNvSpPr txBox="1"/>
            <p:nvPr/>
          </p:nvSpPr>
          <p:spPr>
            <a:xfrm>
              <a:off x="7581322" y="264853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过滤</a:t>
              </a:r>
            </a:p>
          </p:txBody>
        </p:sp>
        <p:sp>
          <p:nvSpPr>
            <p:cNvPr id="51" name="左大括号 50">
              <a:extLst>
                <a:ext uri="{FF2B5EF4-FFF2-40B4-BE49-F238E27FC236}">
                  <a16:creationId xmlns:a16="http://schemas.microsoft.com/office/drawing/2014/main" id="{8C96300B-F1B7-953A-0AC8-A48F4AEB176C}"/>
                </a:ext>
              </a:extLst>
            </p:cNvPr>
            <p:cNvSpPr/>
            <p:nvPr/>
          </p:nvSpPr>
          <p:spPr>
            <a:xfrm>
              <a:off x="8145682" y="1932611"/>
              <a:ext cx="419587" cy="1801170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D87784C-AC4A-260C-6A1A-224340F66C8E}"/>
                </a:ext>
              </a:extLst>
            </p:cNvPr>
            <p:cNvSpPr txBox="1"/>
            <p:nvPr/>
          </p:nvSpPr>
          <p:spPr>
            <a:xfrm>
              <a:off x="8561567" y="1723427"/>
              <a:ext cx="1600021" cy="408623"/>
            </a:xfrm>
            <a:prstGeom prst="round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氨基己酸固体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C465CBA2-45EA-1F6A-8771-24F3DB93E37B}"/>
                </a:ext>
              </a:extLst>
            </p:cNvPr>
            <p:cNvSpPr txBox="1"/>
            <p:nvPr/>
          </p:nvSpPr>
          <p:spPr>
            <a:xfrm>
              <a:off x="8569276" y="3526493"/>
              <a:ext cx="1466033" cy="408623"/>
            </a:xfrm>
            <a:prstGeom prst="round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己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醇混合物</a:t>
              </a: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8A99ABFB-2F9E-DD21-C496-01DCAECEED13}"/>
                </a:ext>
              </a:extLst>
            </p:cNvPr>
            <p:cNvCxnSpPr>
              <a:cxnSpLocks/>
              <a:stCxn id="55" idx="2"/>
            </p:cNvCxnSpPr>
            <p:nvPr/>
          </p:nvCxnSpPr>
          <p:spPr>
            <a:xfrm flipH="1">
              <a:off x="9302292" y="3935116"/>
              <a:ext cx="1" cy="69329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693FB77-2A11-130F-34A4-6524C8D25B09}"/>
                </a:ext>
              </a:extLst>
            </p:cNvPr>
            <p:cNvSpPr txBox="1"/>
            <p:nvPr/>
          </p:nvSpPr>
          <p:spPr>
            <a:xfrm>
              <a:off x="9590050" y="4024193"/>
              <a:ext cx="1107996" cy="36933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闪蒸分离</a:t>
              </a: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19844E4A-0027-A052-9CAF-1C0F4118822E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10161588" y="1927739"/>
              <a:ext cx="158685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A2456F9-CD25-4C14-0104-6E528EB5BB51}"/>
                </a:ext>
              </a:extLst>
            </p:cNvPr>
            <p:cNvSpPr txBox="1"/>
            <p:nvPr/>
          </p:nvSpPr>
          <p:spPr>
            <a:xfrm>
              <a:off x="8565269" y="2299045"/>
              <a:ext cx="30957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60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℃干燥</a:t>
              </a:r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4h,</a:t>
              </a:r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送去红外、质谱</a:t>
              </a:r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DD12C2FA-FCD8-2CF5-F72D-C093507B12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35309" y="3733781"/>
              <a:ext cx="1714872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连接符: 肘形 74">
              <a:extLst>
                <a:ext uri="{FF2B5EF4-FFF2-40B4-BE49-F238E27FC236}">
                  <a16:creationId xmlns:a16="http://schemas.microsoft.com/office/drawing/2014/main" id="{ED74FFB5-B09C-EB24-C1A3-26262EEBDC3C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rot="5400000" flipH="1" flipV="1">
              <a:off x="8173775" y="345253"/>
              <a:ext cx="1264493" cy="3711394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32BF6E9B-0F7C-3486-CA21-B5DAB81F4FA6}"/>
                </a:ext>
              </a:extLst>
            </p:cNvPr>
            <p:cNvSpPr txBox="1"/>
            <p:nvPr/>
          </p:nvSpPr>
          <p:spPr>
            <a:xfrm>
              <a:off x="6950324" y="1133387"/>
              <a:ext cx="3701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静置取上层清液送去液相色谱分析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710A5BC3-F72A-3AA2-8ABA-77854E0A664F}"/>
                </a:ext>
              </a:extLst>
            </p:cNvPr>
            <p:cNvSpPr txBox="1"/>
            <p:nvPr/>
          </p:nvSpPr>
          <p:spPr>
            <a:xfrm>
              <a:off x="9416447" y="3177007"/>
              <a:ext cx="2778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取滤液送去液相色谱分析</a:t>
              </a:r>
            </a:p>
          </p:txBody>
        </p:sp>
        <p:sp>
          <p:nvSpPr>
            <p:cNvPr id="90" name="右大括号 89">
              <a:extLst>
                <a:ext uri="{FF2B5EF4-FFF2-40B4-BE49-F238E27FC236}">
                  <a16:creationId xmlns:a16="http://schemas.microsoft.com/office/drawing/2014/main" id="{2351547C-6CA3-43A3-D26B-E45FF4B399EA}"/>
                </a:ext>
              </a:extLst>
            </p:cNvPr>
            <p:cNvSpPr/>
            <p:nvPr/>
          </p:nvSpPr>
          <p:spPr>
            <a:xfrm rot="16200000">
              <a:off x="9117625" y="3477567"/>
              <a:ext cx="369333" cy="2671023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4B2DB53D-CDFA-C1C0-55D9-5E67C10E176F}"/>
                </a:ext>
              </a:extLst>
            </p:cNvPr>
            <p:cNvSpPr txBox="1"/>
            <p:nvPr/>
          </p:nvSpPr>
          <p:spPr>
            <a:xfrm>
              <a:off x="6950324" y="5044709"/>
              <a:ext cx="23166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己内酰胺固体</a:t>
              </a:r>
              <a:endPara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送去红外、质谱分析</a:t>
              </a: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B857970-62DF-D387-00FC-D0060E7E4408}"/>
                </a:ext>
              </a:extLst>
            </p:cNvPr>
            <p:cNvSpPr txBox="1"/>
            <p:nvPr/>
          </p:nvSpPr>
          <p:spPr>
            <a:xfrm>
              <a:off x="9590050" y="5018387"/>
              <a:ext cx="18549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醇相</a:t>
              </a:r>
              <a:endPara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做液相色谱分析</a:t>
              </a:r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A7E7AC66-F09F-8038-EB7D-97D9C1824D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041" y="5356213"/>
              <a:ext cx="632548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908405F7-E5EB-FB7D-7E35-7EC99B1833A5}"/>
                </a:ext>
              </a:extLst>
            </p:cNvPr>
            <p:cNvSpPr txBox="1"/>
            <p:nvPr/>
          </p:nvSpPr>
          <p:spPr>
            <a:xfrm>
              <a:off x="649041" y="4908702"/>
              <a:ext cx="66511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做纯度、消光值、挥发性碱值、高锰酸钾值、色度、酸碱度分析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6227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6085ED0-0547-2807-B9BF-D8850243F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526326"/>
              </p:ext>
            </p:extLst>
          </p:nvPr>
        </p:nvGraphicFramePr>
        <p:xfrm>
          <a:off x="156633" y="1076444"/>
          <a:ext cx="6640662" cy="1747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50477">
                  <a:extLst>
                    <a:ext uri="{9D8B030D-6E8A-4147-A177-3AD203B41FA5}">
                      <a16:colId xmlns:a16="http://schemas.microsoft.com/office/drawing/2014/main" val="3833777802"/>
                    </a:ext>
                  </a:extLst>
                </a:gridCol>
                <a:gridCol w="1397523">
                  <a:extLst>
                    <a:ext uri="{9D8B030D-6E8A-4147-A177-3AD203B41FA5}">
                      <a16:colId xmlns:a16="http://schemas.microsoft.com/office/drawing/2014/main" val="252691634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47178353"/>
                    </a:ext>
                  </a:extLst>
                </a:gridCol>
                <a:gridCol w="2068662">
                  <a:extLst>
                    <a:ext uri="{9D8B030D-6E8A-4147-A177-3AD203B41FA5}">
                      <a16:colId xmlns:a16="http://schemas.microsoft.com/office/drawing/2014/main" val="2342018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峰面积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含量（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mg/ml)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实际含量（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mg/ml)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386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甲基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戊醇标样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97412325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8.18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240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上层清液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79270352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6.6566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665.66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483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滤液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71709261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6.0216 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602.16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492627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2740E6A-C518-B7B8-22F4-EF0878A71A74}"/>
              </a:ext>
            </a:extLst>
          </p:cNvPr>
          <p:cNvSpPr txBox="1"/>
          <p:nvPr/>
        </p:nvSpPr>
        <p:spPr>
          <a:xfrm>
            <a:off x="7747753" y="1219929"/>
            <a:ext cx="289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注：样品浓度稀释了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0BF0276-6A6F-A8E1-84F5-65744852DABB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93101869"/>
              </p:ext>
            </p:extLst>
          </p:nvPr>
        </p:nvGraphicFramePr>
        <p:xfrm>
          <a:off x="156633" y="3279819"/>
          <a:ext cx="6906260" cy="22075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2778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样品名称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己内酰胺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氨基己酸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峰面积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mg/ml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峰面积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mg/ml</a:t>
                      </a:r>
                      <a:endParaRPr lang="en-US" altLang="en-US" sz="180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己内酰胺标样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4.15E+11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6.754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20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氨基己酸标样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1.99E+10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0.5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上清液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3.01E+12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48.98 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1.83E+09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0.05 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滤液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2.74E+12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44.64 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1.85E+09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0.05 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箭头: 右 12">
            <a:extLst>
              <a:ext uri="{FF2B5EF4-FFF2-40B4-BE49-F238E27FC236}">
                <a16:creationId xmlns:a16="http://schemas.microsoft.com/office/drawing/2014/main" id="{3A84D333-9150-A989-BBC2-90B3C91E4D11}"/>
              </a:ext>
            </a:extLst>
          </p:cNvPr>
          <p:cNvSpPr/>
          <p:nvPr/>
        </p:nvSpPr>
        <p:spPr>
          <a:xfrm rot="9292434">
            <a:off x="6812338" y="1553811"/>
            <a:ext cx="920371" cy="275960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810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0FB677-A14C-DDE3-3984-B0215C6798DE}"/>
              </a:ext>
            </a:extLst>
          </p:cNvPr>
          <p:cNvSpPr/>
          <p:nvPr/>
        </p:nvSpPr>
        <p:spPr>
          <a:xfrm>
            <a:off x="5204460" y="736519"/>
            <a:ext cx="1783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上清液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总离子流色谱图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05675BA-A19D-6F70-F761-C7A488DFD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44" y="2027990"/>
            <a:ext cx="11458575" cy="3876675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5AD35BED-2C3D-ED2D-FD8E-5BD4C805ACE1}"/>
              </a:ext>
            </a:extLst>
          </p:cNvPr>
          <p:cNvGrpSpPr/>
          <p:nvPr/>
        </p:nvGrpSpPr>
        <p:grpSpPr>
          <a:xfrm>
            <a:off x="896900" y="4501634"/>
            <a:ext cx="1106805" cy="760720"/>
            <a:chOff x="4317957" y="633281"/>
            <a:chExt cx="1106805" cy="105654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3B27F8F-4A35-6C98-9117-FC934C32640C}"/>
                </a:ext>
              </a:extLst>
            </p:cNvPr>
            <p:cNvSpPr/>
            <p:nvPr/>
          </p:nvSpPr>
          <p:spPr>
            <a:xfrm>
              <a:off x="4317957" y="633281"/>
              <a:ext cx="1106805" cy="425976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1400" b="1">
                  <a:solidFill>
                    <a:srgbClr val="FF0000"/>
                  </a:solidFill>
                  <a:sym typeface="+mn-ea"/>
                </a:rPr>
                <a:t>C6 H13 O2 N</a:t>
              </a:r>
              <a:endParaRPr lang="en-US" sz="1400" b="1" i="0" u="none" strike="noStrike" dirty="0">
                <a:solidFill>
                  <a:srgbClr val="FF0000"/>
                </a:solidFill>
                <a:effectLst/>
                <a:latin typeface="Calibri" panose="020F0502020204030204" charset="0"/>
                <a:sym typeface="+mn-ea"/>
              </a:endParaRP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F0F87A68-91D6-0C92-A9BC-898310CEFAD5}"/>
                </a:ext>
              </a:extLst>
            </p:cNvPr>
            <p:cNvCxnSpPr/>
            <p:nvPr/>
          </p:nvCxnSpPr>
          <p:spPr>
            <a:xfrm>
              <a:off x="4871357" y="1060746"/>
              <a:ext cx="0" cy="629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63878A0-C56F-38C6-4E51-D1A4F864685B}"/>
              </a:ext>
            </a:extLst>
          </p:cNvPr>
          <p:cNvGrpSpPr/>
          <p:nvPr/>
        </p:nvGrpSpPr>
        <p:grpSpPr>
          <a:xfrm>
            <a:off x="2637434" y="1846699"/>
            <a:ext cx="1016635" cy="760720"/>
            <a:chOff x="4363041" y="633281"/>
            <a:chExt cx="1016635" cy="1056547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83525BE-5C1E-F372-D8D6-E7362BE8BBF8}"/>
                </a:ext>
              </a:extLst>
            </p:cNvPr>
            <p:cNvSpPr/>
            <p:nvPr/>
          </p:nvSpPr>
          <p:spPr>
            <a:xfrm>
              <a:off x="4363041" y="633281"/>
              <a:ext cx="1016635" cy="425976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1400" b="1" dirty="0">
                  <a:solidFill>
                    <a:srgbClr val="FF0000"/>
                  </a:solidFill>
                  <a:sym typeface="+mn-ea"/>
                </a:rPr>
                <a:t>C6 H11 O N</a:t>
              </a:r>
              <a:endParaRPr lang="en-US" sz="1400" b="1" i="0" u="none" strike="noStrike" dirty="0">
                <a:solidFill>
                  <a:srgbClr val="FF0000"/>
                </a:solidFill>
                <a:effectLst/>
                <a:latin typeface="Calibri" panose="020F0502020204030204" charset="0"/>
                <a:sym typeface="+mn-ea"/>
              </a:endParaRP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CF8875D0-2620-0214-5B94-24E4AA8E8158}"/>
                </a:ext>
              </a:extLst>
            </p:cNvPr>
            <p:cNvCxnSpPr/>
            <p:nvPr/>
          </p:nvCxnSpPr>
          <p:spPr>
            <a:xfrm>
              <a:off x="4871357" y="1060746"/>
              <a:ext cx="0" cy="629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027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B4C0B7-0313-056C-E788-32561565E0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712" y="2098415"/>
            <a:ext cx="11458575" cy="38766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96F4818-A69E-E67E-8622-E31D4E30D26F}"/>
              </a:ext>
            </a:extLst>
          </p:cNvPr>
          <p:cNvSpPr/>
          <p:nvPr/>
        </p:nvSpPr>
        <p:spPr>
          <a:xfrm>
            <a:off x="4644556" y="729826"/>
            <a:ext cx="1783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2-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滤液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总离子流色谱图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90367E5-AAA7-8EC4-900F-E2E2D2BBD3FB}"/>
              </a:ext>
            </a:extLst>
          </p:cNvPr>
          <p:cNvGrpSpPr/>
          <p:nvPr/>
        </p:nvGrpSpPr>
        <p:grpSpPr>
          <a:xfrm>
            <a:off x="2526303" y="1790441"/>
            <a:ext cx="1242648" cy="760720"/>
            <a:chOff x="4250035" y="633281"/>
            <a:chExt cx="1242648" cy="105654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06529B9-8FCF-7DE6-8D68-B28D2BEAC47E}"/>
                </a:ext>
              </a:extLst>
            </p:cNvPr>
            <p:cNvSpPr/>
            <p:nvPr/>
          </p:nvSpPr>
          <p:spPr>
            <a:xfrm>
              <a:off x="4250035" y="633281"/>
              <a:ext cx="1242648" cy="4274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14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C6 H11 O N</a:t>
              </a:r>
              <a:endParaRPr lang="en-US" sz="1400" b="1" i="0" u="none" strike="noStrike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FB32E2C1-75E3-C347-9B69-B84641510810}"/>
                </a:ext>
              </a:extLst>
            </p:cNvPr>
            <p:cNvCxnSpPr/>
            <p:nvPr/>
          </p:nvCxnSpPr>
          <p:spPr>
            <a:xfrm>
              <a:off x="4871357" y="1060746"/>
              <a:ext cx="0" cy="629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417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0" y="20772"/>
            <a:ext cx="6149447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实验设计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E513A4-0357-54EB-A890-B30E127083E8}"/>
              </a:ext>
            </a:extLst>
          </p:cNvPr>
          <p:cNvSpPr txBox="1"/>
          <p:nvPr/>
        </p:nvSpPr>
        <p:spPr>
          <a:xfrm>
            <a:off x="156633" y="95844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萃取能力对比实验</a:t>
            </a: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9D0AEBDA-634A-8BC0-1C51-6DC8BD364028}"/>
              </a:ext>
            </a:extLst>
          </p:cNvPr>
          <p:cNvGrpSpPr/>
          <p:nvPr/>
        </p:nvGrpSpPr>
        <p:grpSpPr>
          <a:xfrm>
            <a:off x="342313" y="1096829"/>
            <a:ext cx="11524216" cy="2983094"/>
            <a:chOff x="156633" y="1195405"/>
            <a:chExt cx="11524216" cy="2983094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602E9C85-486E-A9BA-2792-995ABE6B8E74}"/>
                </a:ext>
              </a:extLst>
            </p:cNvPr>
            <p:cNvGrpSpPr/>
            <p:nvPr/>
          </p:nvGrpSpPr>
          <p:grpSpPr>
            <a:xfrm>
              <a:off x="156633" y="1195405"/>
              <a:ext cx="10241037" cy="2983094"/>
              <a:chOff x="156633" y="1195405"/>
              <a:chExt cx="10241037" cy="2983094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7CD0A31-73BF-94EF-77D2-4C7C9E973AE0}"/>
                  </a:ext>
                </a:extLst>
              </p:cNvPr>
              <p:cNvSpPr txBox="1"/>
              <p:nvPr/>
            </p:nvSpPr>
            <p:spPr>
              <a:xfrm>
                <a:off x="156633" y="1819373"/>
                <a:ext cx="1600021" cy="408623"/>
              </a:xfrm>
              <a:prstGeom prst="round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4-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甲基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-2-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戊醇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C9A7971-7AB2-49B7-779E-38133AC60BC7}"/>
                  </a:ext>
                </a:extLst>
              </p:cNvPr>
              <p:cNvSpPr txBox="1"/>
              <p:nvPr/>
            </p:nvSpPr>
            <p:spPr>
              <a:xfrm>
                <a:off x="724356" y="3429000"/>
                <a:ext cx="1140143" cy="408623"/>
              </a:xfrm>
              <a:prstGeom prst="round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己内酰胺</a:t>
                </a:r>
              </a:p>
            </p:txBody>
          </p:sp>
          <p:cxnSp>
            <p:nvCxnSpPr>
              <p:cNvPr id="18" name="连接符: 肘形 17">
                <a:extLst>
                  <a:ext uri="{FF2B5EF4-FFF2-40B4-BE49-F238E27FC236}">
                    <a16:creationId xmlns:a16="http://schemas.microsoft.com/office/drawing/2014/main" id="{15002ACB-7F83-8B6B-7280-BE8A4AE0E569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1756654" y="2023685"/>
                <a:ext cx="2051775" cy="842063"/>
              </a:xfrm>
              <a:prstGeom prst="bentConnector3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连接符: 肘形 43">
                <a:extLst>
                  <a:ext uri="{FF2B5EF4-FFF2-40B4-BE49-F238E27FC236}">
                    <a16:creationId xmlns:a16="http://schemas.microsoft.com/office/drawing/2014/main" id="{D5796E91-7AD5-7799-45A8-FDBDF6792A98}"/>
                  </a:ext>
                </a:extLst>
              </p:cNvPr>
              <p:cNvCxnSpPr>
                <a:stCxn id="12" idx="3"/>
              </p:cNvCxnSpPr>
              <p:nvPr/>
            </p:nvCxnSpPr>
            <p:spPr>
              <a:xfrm flipV="1">
                <a:off x="1864499" y="2865748"/>
                <a:ext cx="1943930" cy="767564"/>
              </a:xfrm>
              <a:prstGeom prst="bentConnector3">
                <a:avLst>
                  <a:gd name="adj1" fmla="val 47575"/>
                </a:avLst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681A7CBF-48F6-D22E-988D-F5B8B974D08F}"/>
                  </a:ext>
                </a:extLst>
              </p:cNvPr>
              <p:cNvSpPr txBox="1"/>
              <p:nvPr/>
            </p:nvSpPr>
            <p:spPr>
              <a:xfrm>
                <a:off x="3808429" y="2695532"/>
                <a:ext cx="872355" cy="369332"/>
              </a:xfrm>
              <a:prstGeom prst="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混合液</a:t>
                </a:r>
              </a:p>
            </p:txBody>
          </p: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78AF40DA-C075-4D52-89E7-3F34777B4779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>
                <a:off x="4680784" y="2880198"/>
                <a:ext cx="1183648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646549D-2D83-A7E3-70D8-C60D9782D926}"/>
                  </a:ext>
                </a:extLst>
              </p:cNvPr>
              <p:cNvSpPr txBox="1"/>
              <p:nvPr/>
            </p:nvSpPr>
            <p:spPr>
              <a:xfrm>
                <a:off x="4711006" y="2496416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用水反萃</a:t>
                </a:r>
              </a:p>
            </p:txBody>
          </p:sp>
          <p:sp>
            <p:nvSpPr>
              <p:cNvPr id="59" name="左中括号 58">
                <a:extLst>
                  <a:ext uri="{FF2B5EF4-FFF2-40B4-BE49-F238E27FC236}">
                    <a16:creationId xmlns:a16="http://schemas.microsoft.com/office/drawing/2014/main" id="{383CA59B-1B31-81DF-913B-0EDE7129D4D7}"/>
                  </a:ext>
                </a:extLst>
              </p:cNvPr>
              <p:cNvSpPr/>
              <p:nvPr/>
            </p:nvSpPr>
            <p:spPr>
              <a:xfrm>
                <a:off x="5864432" y="1672628"/>
                <a:ext cx="146806" cy="2301559"/>
              </a:xfrm>
              <a:prstGeom prst="leftBracket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183453D-BC89-22C4-E653-BF47DFB54117}"/>
                  </a:ext>
                </a:extLst>
              </p:cNvPr>
              <p:cNvSpPr txBox="1"/>
              <p:nvPr/>
            </p:nvSpPr>
            <p:spPr>
              <a:xfrm>
                <a:off x="6009008" y="3769876"/>
                <a:ext cx="1140143" cy="408623"/>
              </a:xfrm>
              <a:prstGeom prst="round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萃取水相</a:t>
                </a:r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BA3D5A9B-72E6-84F8-310A-01BA32A4F6DD}"/>
                  </a:ext>
                </a:extLst>
              </p:cNvPr>
              <p:cNvCxnSpPr>
                <a:cxnSpLocks/>
                <a:stCxn id="60" idx="2"/>
                <a:endCxn id="61" idx="0"/>
              </p:cNvCxnSpPr>
              <p:nvPr/>
            </p:nvCxnSpPr>
            <p:spPr>
              <a:xfrm>
                <a:off x="6579079" y="1788694"/>
                <a:ext cx="1" cy="1981182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73D6BCA4-BA3C-4485-90D0-0C30772C42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9080" y="2865748"/>
                <a:ext cx="2847724" cy="1897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2054FBC-9A4B-46C8-7B53-DFD8C80AAD76}"/>
                  </a:ext>
                </a:extLst>
              </p:cNvPr>
              <p:cNvSpPr txBox="1"/>
              <p:nvPr/>
            </p:nvSpPr>
            <p:spPr>
              <a:xfrm>
                <a:off x="6731914" y="2454075"/>
                <a:ext cx="2544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取样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送去液相色谱分析</a:t>
                </a:r>
              </a:p>
            </p:txBody>
          </p: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0687762C-731F-8F79-953F-01D5987C88F2}"/>
                  </a:ext>
                </a:extLst>
              </p:cNvPr>
              <p:cNvCxnSpPr>
                <a:cxnSpLocks/>
                <a:stCxn id="60" idx="3"/>
                <a:endCxn id="60" idx="3"/>
              </p:cNvCxnSpPr>
              <p:nvPr/>
            </p:nvCxnSpPr>
            <p:spPr>
              <a:xfrm>
                <a:off x="7149150" y="1584383"/>
                <a:ext cx="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箭头连接符 83">
                <a:extLst>
                  <a:ext uri="{FF2B5EF4-FFF2-40B4-BE49-F238E27FC236}">
                    <a16:creationId xmlns:a16="http://schemas.microsoft.com/office/drawing/2014/main" id="{66EF4ED2-9516-DBB4-E915-2DD563F817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9376" y="1594488"/>
                <a:ext cx="1823207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5CD5CA36-F3D2-C84C-39E9-C6818A4A91B7}"/>
                  </a:ext>
                </a:extLst>
              </p:cNvPr>
              <p:cNvSpPr txBox="1"/>
              <p:nvPr/>
            </p:nvSpPr>
            <p:spPr>
              <a:xfrm>
                <a:off x="7223722" y="1195405"/>
                <a:ext cx="1459054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105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℃烘干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8h</a:t>
                </a:r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8" name="直接箭头连接符 87">
                <a:extLst>
                  <a:ext uri="{FF2B5EF4-FFF2-40B4-BE49-F238E27FC236}">
                    <a16:creationId xmlns:a16="http://schemas.microsoft.com/office/drawing/2014/main" id="{A5CF5497-5E25-FF1B-AE3B-1AAF991E0D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9376" y="3973718"/>
                <a:ext cx="1890929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1E5FBCE9-1CD6-5630-8508-15E0F34B72CA}"/>
                  </a:ext>
                </a:extLst>
              </p:cNvPr>
              <p:cNvSpPr txBox="1"/>
              <p:nvPr/>
            </p:nvSpPr>
            <p:spPr>
              <a:xfrm>
                <a:off x="7166343" y="3519617"/>
                <a:ext cx="1689886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105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℃，烘干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8h</a:t>
                </a:r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4BF8395D-24C5-1E7F-87FF-B3F7A1B2B72F}"/>
                  </a:ext>
                </a:extLst>
              </p:cNvPr>
              <p:cNvSpPr txBox="1"/>
              <p:nvPr/>
            </p:nvSpPr>
            <p:spPr>
              <a:xfrm>
                <a:off x="9030783" y="3768971"/>
                <a:ext cx="1366887" cy="408623"/>
              </a:xfrm>
              <a:prstGeom prst="round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无固体残留</a:t>
                </a:r>
              </a:p>
            </p:txBody>
          </p:sp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C815395B-3ACA-7B3F-FB1D-A1A407BC4E30}"/>
                </a:ext>
              </a:extLst>
            </p:cNvPr>
            <p:cNvGrpSpPr/>
            <p:nvPr/>
          </p:nvGrpSpPr>
          <p:grpSpPr>
            <a:xfrm>
              <a:off x="6009007" y="1380071"/>
              <a:ext cx="5671842" cy="430536"/>
              <a:chOff x="6009007" y="1380071"/>
              <a:chExt cx="5671842" cy="430536"/>
            </a:xfrm>
          </p:grpSpPr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39CDAB8-4855-91A6-F03C-23C63303D264}"/>
                  </a:ext>
                </a:extLst>
              </p:cNvPr>
              <p:cNvSpPr txBox="1"/>
              <p:nvPr/>
            </p:nvSpPr>
            <p:spPr>
              <a:xfrm>
                <a:off x="6009007" y="1380071"/>
                <a:ext cx="1140143" cy="408623"/>
              </a:xfrm>
              <a:prstGeom prst="round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萃取醇相</a:t>
                </a: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6BC28293-8E13-C626-2A40-6CAA0D9F5339}"/>
                  </a:ext>
                </a:extLst>
              </p:cNvPr>
              <p:cNvSpPr txBox="1"/>
              <p:nvPr/>
            </p:nvSpPr>
            <p:spPr>
              <a:xfrm>
                <a:off x="8964195" y="1401984"/>
                <a:ext cx="2716654" cy="408623"/>
              </a:xfrm>
              <a:prstGeom prst="round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己内酰胺固体，约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11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克</a:t>
                </a:r>
              </a:p>
            </p:txBody>
          </p:sp>
        </p:grpSp>
      </p:grpSp>
      <p:graphicFrame>
        <p:nvGraphicFramePr>
          <p:cNvPr id="105" name="表格 104">
            <a:extLst>
              <a:ext uri="{FF2B5EF4-FFF2-40B4-BE49-F238E27FC236}">
                <a16:creationId xmlns:a16="http://schemas.microsoft.com/office/drawing/2014/main" id="{B4589468-56DD-8E04-1735-A7DBAF9F4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403624"/>
              </p:ext>
            </p:extLst>
          </p:nvPr>
        </p:nvGraphicFramePr>
        <p:xfrm>
          <a:off x="1215323" y="4375016"/>
          <a:ext cx="9200561" cy="1010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28452">
                  <a:extLst>
                    <a:ext uri="{9D8B030D-6E8A-4147-A177-3AD203B41FA5}">
                      <a16:colId xmlns:a16="http://schemas.microsoft.com/office/drawing/2014/main" val="1290952751"/>
                    </a:ext>
                  </a:extLst>
                </a:gridCol>
                <a:gridCol w="2300489">
                  <a:extLst>
                    <a:ext uri="{9D8B030D-6E8A-4147-A177-3AD203B41FA5}">
                      <a16:colId xmlns:a16="http://schemas.microsoft.com/office/drawing/2014/main" val="3149602851"/>
                    </a:ext>
                  </a:extLst>
                </a:gridCol>
                <a:gridCol w="1374415">
                  <a:extLst>
                    <a:ext uri="{9D8B030D-6E8A-4147-A177-3AD203B41FA5}">
                      <a16:colId xmlns:a16="http://schemas.microsoft.com/office/drawing/2014/main" val="1203601028"/>
                    </a:ext>
                  </a:extLst>
                </a:gridCol>
                <a:gridCol w="1830698">
                  <a:extLst>
                    <a:ext uri="{9D8B030D-6E8A-4147-A177-3AD203B41FA5}">
                      <a16:colId xmlns:a16="http://schemas.microsoft.com/office/drawing/2014/main" val="1198094244"/>
                    </a:ext>
                  </a:extLst>
                </a:gridCol>
                <a:gridCol w="1866507">
                  <a:extLst>
                    <a:ext uri="{9D8B030D-6E8A-4147-A177-3AD203B41FA5}">
                      <a16:colId xmlns:a16="http://schemas.microsoft.com/office/drawing/2014/main" val="3402270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己内酰胺用量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实际称取量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(g)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甲基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戊醇用量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实际称取量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(g)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水用量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实际称取量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(g)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萃取水相质量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(g)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萃取醇相质量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(g)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23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25/25.11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50/50.05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50/50.26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48.37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75.97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842062"/>
                  </a:ext>
                </a:extLst>
              </a:tr>
            </a:tbl>
          </a:graphicData>
        </a:graphic>
      </p:graphicFrame>
      <p:sp>
        <p:nvSpPr>
          <p:cNvPr id="109" name="文本框 108">
            <a:extLst>
              <a:ext uri="{FF2B5EF4-FFF2-40B4-BE49-F238E27FC236}">
                <a16:creationId xmlns:a16="http://schemas.microsoft.com/office/drawing/2014/main" id="{7D97F543-D487-E8D7-53CF-72F9DC2AE843}"/>
              </a:ext>
            </a:extLst>
          </p:cNvPr>
          <p:cNvSpPr txBox="1"/>
          <p:nvPr/>
        </p:nvSpPr>
        <p:spPr>
          <a:xfrm>
            <a:off x="121527" y="5642791"/>
            <a:ext cx="1173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配制己内酰胺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-4-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甲基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戊醇空白样作为对照（质量比为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1:2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，己内酰胺实际称取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2.54g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甲基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戊醇实际称取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5.25g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85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C56FA76-0C33-8374-02DE-F7113473491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06792823"/>
              </p:ext>
            </p:extLst>
          </p:nvPr>
        </p:nvGraphicFramePr>
        <p:xfrm>
          <a:off x="1896358" y="1197648"/>
          <a:ext cx="8399283" cy="29287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16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022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样品名称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己内酰胺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氨基己酸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93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峰面积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mg/ml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峰面积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mg/ml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10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己内酰胺标样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4.15E+11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6.754</a:t>
                      </a:r>
                      <a:endParaRPr lang="en-US" altLang="en-US" sz="180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82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氨基己酸标样</a:t>
                      </a: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1.99E+10</a:t>
                      </a:r>
                      <a:endParaRPr lang="en-US" altLang="en-US" sz="180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0.5</a:t>
                      </a:r>
                      <a:endParaRPr lang="en-US" altLang="en-US" sz="180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4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萃取醇相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2.16E+12</a:t>
                      </a:r>
                      <a:endParaRPr lang="en-US" altLang="en-US" sz="180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35.18 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萃取水相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2.21E+12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35.95 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27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己内酰胺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-4-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甲基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戊醇空白样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2.48E+12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40.40 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47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旋蒸出的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甲基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戊醇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2.07E+11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3.37 </a:t>
                      </a: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47433549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2530D69-213D-E523-3868-8B51FEEE6337}"/>
              </a:ext>
            </a:extLst>
          </p:cNvPr>
          <p:cNvSpPr txBox="1"/>
          <p:nvPr/>
        </p:nvSpPr>
        <p:spPr>
          <a:xfrm>
            <a:off x="624840" y="4664929"/>
            <a:ext cx="11184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己内酰胺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-4-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甲基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戊醇空白样：按质量比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配制，己内酰胺实际称量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2.54g,4-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甲基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-2-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戊醇实际称取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5.25g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402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9BD9CA-9E7B-B315-AEE4-9600ED59EC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73" y="2272867"/>
            <a:ext cx="11458575" cy="38766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8358ECC-F6F7-36F4-FF21-E9CFB1317224}"/>
              </a:ext>
            </a:extLst>
          </p:cNvPr>
          <p:cNvSpPr/>
          <p:nvPr/>
        </p:nvSpPr>
        <p:spPr>
          <a:xfrm>
            <a:off x="4874715" y="1027468"/>
            <a:ext cx="18004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萃取醇相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总离子流色谱图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4E14EDC-B43B-DFD8-72FF-0032F16AD876}"/>
              </a:ext>
            </a:extLst>
          </p:cNvPr>
          <p:cNvGrpSpPr/>
          <p:nvPr/>
        </p:nvGrpSpPr>
        <p:grpSpPr>
          <a:xfrm>
            <a:off x="2735783" y="2064634"/>
            <a:ext cx="1048685" cy="760720"/>
            <a:chOff x="4347014" y="633281"/>
            <a:chExt cx="1048685" cy="105654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1F24255-A401-D7CA-8F9D-AC9E26965C83}"/>
                </a:ext>
              </a:extLst>
            </p:cNvPr>
            <p:cNvSpPr/>
            <p:nvPr/>
          </p:nvSpPr>
          <p:spPr>
            <a:xfrm>
              <a:off x="4347014" y="633281"/>
              <a:ext cx="1048685" cy="4274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</a:t>
              </a:r>
              <a:r>
                <a:rPr lang="en-US" sz="1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6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H</a:t>
              </a:r>
              <a:r>
                <a:rPr lang="en-US" sz="1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11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O N</a:t>
              </a:r>
              <a:endParaRPr lang="en-US" sz="14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074E28F-4197-9E58-A796-1B6DFA013595}"/>
                </a:ext>
              </a:extLst>
            </p:cNvPr>
            <p:cNvCxnSpPr/>
            <p:nvPr/>
          </p:nvCxnSpPr>
          <p:spPr>
            <a:xfrm>
              <a:off x="4871357" y="1060746"/>
              <a:ext cx="0" cy="629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1426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498DE9-56BB-1940-5B9F-43FAD6BE8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33" y="2098415"/>
            <a:ext cx="11458575" cy="38766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9B001B3-FA54-D2F9-F9B2-8C552F66EF59}"/>
              </a:ext>
            </a:extLst>
          </p:cNvPr>
          <p:cNvSpPr/>
          <p:nvPr/>
        </p:nvSpPr>
        <p:spPr>
          <a:xfrm>
            <a:off x="4434477" y="729826"/>
            <a:ext cx="1783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萃取水相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总离子流色谱图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8673E70-DD31-5AC8-FAA2-ECD52532E568}"/>
              </a:ext>
            </a:extLst>
          </p:cNvPr>
          <p:cNvGrpSpPr/>
          <p:nvPr/>
        </p:nvGrpSpPr>
        <p:grpSpPr>
          <a:xfrm>
            <a:off x="2493215" y="1790441"/>
            <a:ext cx="1048685" cy="760720"/>
            <a:chOff x="4347016" y="633281"/>
            <a:chExt cx="1048685" cy="105654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B77F603-1B02-2A1A-042B-45A02B835CD6}"/>
                </a:ext>
              </a:extLst>
            </p:cNvPr>
            <p:cNvSpPr/>
            <p:nvPr/>
          </p:nvSpPr>
          <p:spPr>
            <a:xfrm>
              <a:off x="4347016" y="633281"/>
              <a:ext cx="1048685" cy="4274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</a:t>
              </a:r>
              <a:r>
                <a:rPr lang="en-US" sz="1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6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H</a:t>
              </a:r>
              <a:r>
                <a:rPr lang="en-US" sz="1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11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O N</a:t>
              </a:r>
              <a:endParaRPr lang="en-US" sz="14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002E1650-61F6-868B-5BFF-9C819F6EEBF2}"/>
                </a:ext>
              </a:extLst>
            </p:cNvPr>
            <p:cNvCxnSpPr/>
            <p:nvPr/>
          </p:nvCxnSpPr>
          <p:spPr>
            <a:xfrm>
              <a:off x="4871357" y="1060746"/>
              <a:ext cx="0" cy="629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4060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D0B92B-A79A-6F72-6243-86F4D0061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712" y="2013210"/>
            <a:ext cx="11458575" cy="38766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16C7F9E-247E-E819-FE87-0F7D81FDEFE5}"/>
              </a:ext>
            </a:extLst>
          </p:cNvPr>
          <p:cNvSpPr/>
          <p:nvPr/>
        </p:nvSpPr>
        <p:spPr>
          <a:xfrm>
            <a:off x="4635852" y="798707"/>
            <a:ext cx="18004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空白样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总离子流色谱图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E8205FC-7FDC-2B8B-1CCE-B5A6854DEAFB}"/>
              </a:ext>
            </a:extLst>
          </p:cNvPr>
          <p:cNvGrpSpPr/>
          <p:nvPr/>
        </p:nvGrpSpPr>
        <p:grpSpPr>
          <a:xfrm>
            <a:off x="2593594" y="1859322"/>
            <a:ext cx="1016624" cy="760720"/>
            <a:chOff x="4363046" y="633281"/>
            <a:chExt cx="1016624" cy="105654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9A1C32D-6A6D-D9A4-F0FD-094C29CED255}"/>
                </a:ext>
              </a:extLst>
            </p:cNvPr>
            <p:cNvSpPr/>
            <p:nvPr/>
          </p:nvSpPr>
          <p:spPr>
            <a:xfrm>
              <a:off x="4363046" y="633281"/>
              <a:ext cx="1016624" cy="4274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</a:t>
              </a:r>
              <a:r>
                <a:rPr lang="en-US" sz="1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6 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H</a:t>
              </a:r>
              <a:r>
                <a:rPr lang="en-US" sz="1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11 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O N</a:t>
              </a:r>
              <a:endParaRPr lang="en-US" sz="14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F3E48C87-0616-B25F-E9B7-3DC3DE4B28D8}"/>
                </a:ext>
              </a:extLst>
            </p:cNvPr>
            <p:cNvCxnSpPr/>
            <p:nvPr/>
          </p:nvCxnSpPr>
          <p:spPr>
            <a:xfrm>
              <a:off x="4871357" y="1060746"/>
              <a:ext cx="0" cy="629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707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0839F9-D83C-F2E9-6842-5A96DA5408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73" y="1859322"/>
            <a:ext cx="11458575" cy="38766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E01E156-52F1-2A69-1969-C1558926ECA1}"/>
              </a:ext>
            </a:extLst>
          </p:cNvPr>
          <p:cNvSpPr/>
          <p:nvPr/>
        </p:nvSpPr>
        <p:spPr>
          <a:xfrm>
            <a:off x="4656917" y="798707"/>
            <a:ext cx="18004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旋蒸出的醇液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总离子流色谱图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7C483F1-4202-AD31-CF31-11EF6F5CF10C}"/>
              </a:ext>
            </a:extLst>
          </p:cNvPr>
          <p:cNvGrpSpPr/>
          <p:nvPr/>
        </p:nvGrpSpPr>
        <p:grpSpPr>
          <a:xfrm>
            <a:off x="2901764" y="1859322"/>
            <a:ext cx="899605" cy="760720"/>
            <a:chOff x="4421555" y="633281"/>
            <a:chExt cx="899605" cy="105654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1AC2BE7-DD07-1C6C-7830-726E6405CC4A}"/>
                </a:ext>
              </a:extLst>
            </p:cNvPr>
            <p:cNvSpPr/>
            <p:nvPr/>
          </p:nvSpPr>
          <p:spPr>
            <a:xfrm>
              <a:off x="4421555" y="633281"/>
              <a:ext cx="899605" cy="4274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6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H</a:t>
              </a:r>
              <a:r>
                <a:rPr lang="en-US" sz="1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11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ON</a:t>
              </a:r>
              <a:endParaRPr lang="en-US" sz="14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B13B1BD-1E40-418A-B473-D63E15031F0D}"/>
                </a:ext>
              </a:extLst>
            </p:cNvPr>
            <p:cNvCxnSpPr/>
            <p:nvPr/>
          </p:nvCxnSpPr>
          <p:spPr>
            <a:xfrm>
              <a:off x="4871357" y="1060746"/>
              <a:ext cx="0" cy="629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537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1" y="55034"/>
            <a:ext cx="7378516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分析结果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0F421AE-2B4D-C23C-678E-9A5E1DBA2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7310" y="861695"/>
            <a:ext cx="6457950" cy="49574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C9EF9B5-77BE-43D6-9856-46C72BB8A3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5155" y="956945"/>
            <a:ext cx="6331585" cy="48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48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中国石化标识-0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507" y="5637308"/>
            <a:ext cx="1967427" cy="72072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82C84DD-CF10-DE17-331F-104DF3854F84}"/>
              </a:ext>
            </a:extLst>
          </p:cNvPr>
          <p:cNvSpPr txBox="1"/>
          <p:nvPr/>
        </p:nvSpPr>
        <p:spPr>
          <a:xfrm>
            <a:off x="1775401" y="1988800"/>
            <a:ext cx="7622169" cy="1898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5867" b="1" kern="2200" dirty="0">
                <a:solidFill>
                  <a:srgbClr val="CD0A2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谢谢老师的聆听！</a:t>
            </a:r>
            <a:endParaRPr kumimoji="1" lang="en-US" altLang="zh-CN" sz="5867" b="1" kern="2200" dirty="0">
              <a:solidFill>
                <a:srgbClr val="CD0A2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/>
            </a:endParaRPr>
          </a:p>
          <a:p>
            <a:pPr algn="ctr"/>
            <a:r>
              <a:rPr kumimoji="1" lang="zh-CN" altLang="en-US" sz="5867" b="1" kern="2200" dirty="0">
                <a:solidFill>
                  <a:srgbClr val="CD0A2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rPr>
              <a:t>欢迎批评和指正！</a:t>
            </a:r>
            <a:endParaRPr kumimoji="1" lang="en-US" altLang="zh-CN" sz="5867" b="1" kern="2200" dirty="0">
              <a:solidFill>
                <a:srgbClr val="CD0A2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784343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119,&quot;width&quot;:4920.228346456693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43*230"/>
  <p:tag name="TABLE_ENDDRAG_RECT" val="188*138*543*2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43*230"/>
  <p:tag name="TABLE_ENDDRAG_RECT" val="188*138*543*23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2350</TotalTime>
  <Words>820</Words>
  <Application>Microsoft Office PowerPoint</Application>
  <PresentationFormat>宽屏</PresentationFormat>
  <Paragraphs>251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等线</vt:lpstr>
      <vt:lpstr>等线 Light</vt:lpstr>
      <vt:lpstr>方正兰亭中黑简体</vt:lpstr>
      <vt:lpstr>黑体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超 戴</dc:creator>
  <cp:lastModifiedBy>超 戴</cp:lastModifiedBy>
  <cp:revision>12</cp:revision>
  <dcterms:created xsi:type="dcterms:W3CDTF">2024-06-13T01:47:18Z</dcterms:created>
  <dcterms:modified xsi:type="dcterms:W3CDTF">2024-09-10T08:36:51Z</dcterms:modified>
</cp:coreProperties>
</file>