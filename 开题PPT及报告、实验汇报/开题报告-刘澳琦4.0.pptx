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3" r:id="rId2"/>
    <p:sldMasterId id="2147483661" r:id="rId3"/>
  </p:sldMasterIdLst>
  <p:notesMasterIdLst>
    <p:notesMasterId r:id="rId33"/>
  </p:notesMasterIdLst>
  <p:sldIdLst>
    <p:sldId id="257" r:id="rId4"/>
    <p:sldId id="259" r:id="rId5"/>
    <p:sldId id="261" r:id="rId6"/>
    <p:sldId id="830" r:id="rId7"/>
    <p:sldId id="277" r:id="rId8"/>
    <p:sldId id="831" r:id="rId9"/>
    <p:sldId id="833" r:id="rId10"/>
    <p:sldId id="832" r:id="rId11"/>
    <p:sldId id="265" r:id="rId12"/>
    <p:sldId id="270" r:id="rId13"/>
    <p:sldId id="278" r:id="rId14"/>
    <p:sldId id="829" r:id="rId15"/>
    <p:sldId id="825" r:id="rId16"/>
    <p:sldId id="834" r:id="rId17"/>
    <p:sldId id="274" r:id="rId18"/>
    <p:sldId id="835" r:id="rId19"/>
    <p:sldId id="273" r:id="rId20"/>
    <p:sldId id="817" r:id="rId21"/>
    <p:sldId id="272" r:id="rId22"/>
    <p:sldId id="275" r:id="rId23"/>
    <p:sldId id="818" r:id="rId24"/>
    <p:sldId id="819" r:id="rId25"/>
    <p:sldId id="821" r:id="rId26"/>
    <p:sldId id="820" r:id="rId27"/>
    <p:sldId id="826" r:id="rId28"/>
    <p:sldId id="827" r:id="rId29"/>
    <p:sldId id="271" r:id="rId30"/>
    <p:sldId id="263" r:id="rId31"/>
    <p:sldId id="258" r:id="rId32"/>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0A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95" autoAdjust="0"/>
    <p:restoredTop sz="73091" autoAdjust="0"/>
  </p:normalViewPr>
  <p:slideViewPr>
    <p:cSldViewPr snapToObjects="1">
      <p:cViewPr varScale="1">
        <p:scale>
          <a:sx n="59" d="100"/>
          <a:sy n="59" d="100"/>
        </p:scale>
        <p:origin x="1512" y="67"/>
      </p:cViewPr>
      <p:guideLst>
        <p:guide orient="horz" pos="2160"/>
        <p:guide pos="2880"/>
      </p:guideLst>
    </p:cSldViewPr>
  </p:slideViewPr>
  <p:outlineViewPr>
    <p:cViewPr>
      <p:scale>
        <a:sx n="33" d="100"/>
        <a:sy n="33" d="100"/>
      </p:scale>
      <p:origin x="0" y="-6278"/>
    </p:cViewPr>
  </p:outlineViewPr>
  <p:notesTextViewPr>
    <p:cViewPr>
      <p:scale>
        <a:sx n="100" d="100"/>
        <a:sy n="100" d="100"/>
      </p:scale>
      <p:origin x="0" y="0"/>
    </p:cViewPr>
  </p:notesTextViewPr>
  <p:sorterViewPr>
    <p:cViewPr>
      <p:scale>
        <a:sx n="100" d="100"/>
        <a:sy n="100" d="100"/>
      </p:scale>
      <p:origin x="0" y="-451"/>
    </p:cViewPr>
  </p:sorterViewPr>
  <p:notesViewPr>
    <p:cSldViewPr snapToObjects="1">
      <p:cViewPr varScale="1">
        <p:scale>
          <a:sx n="58" d="100"/>
          <a:sy n="58" d="100"/>
        </p:scale>
        <p:origin x="3254" y="62"/>
      </p:cViewPr>
      <p:guideLst/>
    </p:cSldViewPr>
  </p:notes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951D49-9367-4866-BD7D-6A39201EBD11}" type="doc">
      <dgm:prSet loTypeId="urn:microsoft.com/office/officeart/2005/8/layout/equation2" loCatId="process" qsTypeId="urn:microsoft.com/office/officeart/2005/8/quickstyle/3d1" qsCatId="3D" csTypeId="urn:microsoft.com/office/officeart/2005/8/colors/colorful1" csCatId="colorful" phldr="1"/>
      <dgm:spPr/>
    </dgm:pt>
    <dgm:pt modelId="{F5AF68A9-B696-4EAA-A32F-39B8FA47E2C3}">
      <dgm:prSet phldrT="[文本]" custT="1"/>
      <dgm:spPr/>
      <dgm:t>
        <a:bodyPr/>
        <a:lstStyle/>
        <a:p>
          <a:r>
            <a:rPr lang="zh-CN" altLang="en-US" sz="1200" dirty="0"/>
            <a:t>精馏过程能耗高</a:t>
          </a:r>
        </a:p>
      </dgm:t>
    </dgm:pt>
    <dgm:pt modelId="{637FDF2E-025C-41DE-A1A2-E7E232CB3EDD}" type="parTrans" cxnId="{E7523F03-8D9E-464D-A2D3-863DC88ADE9D}">
      <dgm:prSet/>
      <dgm:spPr/>
      <dgm:t>
        <a:bodyPr/>
        <a:lstStyle/>
        <a:p>
          <a:endParaRPr lang="zh-CN" altLang="en-US"/>
        </a:p>
      </dgm:t>
    </dgm:pt>
    <dgm:pt modelId="{C2B064B7-27BF-4F90-8350-97125FBD06DC}" type="sibTrans" cxnId="{E7523F03-8D9E-464D-A2D3-863DC88ADE9D}">
      <dgm:prSet/>
      <dgm:spPr/>
      <dgm:t>
        <a:bodyPr/>
        <a:lstStyle/>
        <a:p>
          <a:endParaRPr lang="zh-CN" altLang="en-US"/>
        </a:p>
      </dgm:t>
    </dgm:pt>
    <dgm:pt modelId="{BBD97D24-40D3-4064-A810-F7C54BB1318A}">
      <dgm:prSet phldrT="[文本]"/>
      <dgm:spPr/>
      <dgm:t>
        <a:bodyPr/>
        <a:lstStyle/>
        <a:p>
          <a:r>
            <a:rPr lang="zh-CN" altLang="en-US" dirty="0"/>
            <a:t>过程强化技术</a:t>
          </a:r>
          <a:r>
            <a:rPr lang="en-US" altLang="zh-CN" dirty="0"/>
            <a:t>-</a:t>
          </a:r>
          <a:r>
            <a:rPr lang="zh-CN" altLang="en-US" dirty="0"/>
            <a:t>隔壁塔</a:t>
          </a:r>
        </a:p>
      </dgm:t>
    </dgm:pt>
    <dgm:pt modelId="{5632B46F-423E-4FB7-8526-6E622E8A4454}" type="parTrans" cxnId="{39C04006-EFA5-4152-A9E9-6ECFFE0827CF}">
      <dgm:prSet/>
      <dgm:spPr/>
      <dgm:t>
        <a:bodyPr/>
        <a:lstStyle/>
        <a:p>
          <a:endParaRPr lang="zh-CN" altLang="en-US"/>
        </a:p>
      </dgm:t>
    </dgm:pt>
    <dgm:pt modelId="{FFC1C3EB-6358-4B56-9209-D4C0C7FE13B5}" type="sibTrans" cxnId="{39C04006-EFA5-4152-A9E9-6ECFFE0827CF}">
      <dgm:prSet/>
      <dgm:spPr/>
      <dgm:t>
        <a:bodyPr/>
        <a:lstStyle/>
        <a:p>
          <a:endParaRPr lang="zh-CN" altLang="en-US"/>
        </a:p>
      </dgm:t>
    </dgm:pt>
    <dgm:pt modelId="{96926DE2-BABE-47E8-AAD1-312C9EC6144A}">
      <dgm:prSet custT="1"/>
      <dgm:spPr/>
      <dgm:t>
        <a:bodyPr/>
        <a:lstStyle/>
        <a:p>
          <a:r>
            <a:rPr lang="zh-CN" altLang="en-US" sz="1400" dirty="0"/>
            <a:t>“双碳”目标</a:t>
          </a:r>
        </a:p>
      </dgm:t>
    </dgm:pt>
    <dgm:pt modelId="{C2C4DE2B-6E7B-4A19-AAA2-BB1F57513246}" type="parTrans" cxnId="{D6B05641-65CB-4C93-810C-B8385404EDCE}">
      <dgm:prSet/>
      <dgm:spPr/>
      <dgm:t>
        <a:bodyPr/>
        <a:lstStyle/>
        <a:p>
          <a:endParaRPr lang="zh-CN" altLang="en-US"/>
        </a:p>
      </dgm:t>
    </dgm:pt>
    <dgm:pt modelId="{2EA1B7FD-A4CB-4993-9E09-21668082958F}" type="sibTrans" cxnId="{D6B05641-65CB-4C93-810C-B8385404EDCE}">
      <dgm:prSet/>
      <dgm:spPr/>
      <dgm:t>
        <a:bodyPr/>
        <a:lstStyle/>
        <a:p>
          <a:endParaRPr lang="zh-CN" altLang="en-US"/>
        </a:p>
      </dgm:t>
    </dgm:pt>
    <dgm:pt modelId="{2FEC523E-15DE-42D8-A751-341D1C3130A6}" type="pres">
      <dgm:prSet presAssocID="{C7951D49-9367-4866-BD7D-6A39201EBD11}" presName="Name0" presStyleCnt="0">
        <dgm:presLayoutVars>
          <dgm:dir/>
          <dgm:resizeHandles val="exact"/>
        </dgm:presLayoutVars>
      </dgm:prSet>
      <dgm:spPr/>
    </dgm:pt>
    <dgm:pt modelId="{C39E7DED-4A19-4C09-9777-460C7344C8A8}" type="pres">
      <dgm:prSet presAssocID="{C7951D49-9367-4866-BD7D-6A39201EBD11}" presName="vNodes" presStyleCnt="0"/>
      <dgm:spPr/>
    </dgm:pt>
    <dgm:pt modelId="{6B226443-5876-49D5-849B-ACE772479588}" type="pres">
      <dgm:prSet presAssocID="{F5AF68A9-B696-4EAA-A32F-39B8FA47E2C3}" presName="node" presStyleLbl="node1" presStyleIdx="0" presStyleCnt="3" custScaleX="318890" custScaleY="134280">
        <dgm:presLayoutVars>
          <dgm:bulletEnabled val="1"/>
        </dgm:presLayoutVars>
      </dgm:prSet>
      <dgm:spPr/>
    </dgm:pt>
    <dgm:pt modelId="{7128FE45-8B1F-48E0-BC89-B156C8F9AB0C}" type="pres">
      <dgm:prSet presAssocID="{C2B064B7-27BF-4F90-8350-97125FBD06DC}" presName="spacerT" presStyleCnt="0"/>
      <dgm:spPr/>
    </dgm:pt>
    <dgm:pt modelId="{73AD6A56-7EC8-4250-8000-F54BD11A2873}" type="pres">
      <dgm:prSet presAssocID="{C2B064B7-27BF-4F90-8350-97125FBD06DC}" presName="sibTrans" presStyleLbl="sibTrans2D1" presStyleIdx="0" presStyleCnt="2"/>
      <dgm:spPr/>
    </dgm:pt>
    <dgm:pt modelId="{CD5740B5-D042-46EB-9A67-CDACFAB4508D}" type="pres">
      <dgm:prSet presAssocID="{C2B064B7-27BF-4F90-8350-97125FBD06DC}" presName="spacerB" presStyleCnt="0"/>
      <dgm:spPr/>
    </dgm:pt>
    <dgm:pt modelId="{4C28A230-3873-4D7D-8B1D-365C4B44DD9B}" type="pres">
      <dgm:prSet presAssocID="{96926DE2-BABE-47E8-AAD1-312C9EC6144A}" presName="node" presStyleLbl="node1" presStyleIdx="1" presStyleCnt="3" custScaleX="301034" custScaleY="134017">
        <dgm:presLayoutVars>
          <dgm:bulletEnabled val="1"/>
        </dgm:presLayoutVars>
      </dgm:prSet>
      <dgm:spPr/>
    </dgm:pt>
    <dgm:pt modelId="{CDD5CFDD-58A0-48A7-B54A-1B4321E572BE}" type="pres">
      <dgm:prSet presAssocID="{C7951D49-9367-4866-BD7D-6A39201EBD11}" presName="sibTransLast" presStyleLbl="sibTrans2D1" presStyleIdx="1" presStyleCnt="2"/>
      <dgm:spPr/>
    </dgm:pt>
    <dgm:pt modelId="{B4FFCEBF-B433-4D92-AF21-916AD102FE68}" type="pres">
      <dgm:prSet presAssocID="{C7951D49-9367-4866-BD7D-6A39201EBD11}" presName="connectorText" presStyleLbl="sibTrans2D1" presStyleIdx="1" presStyleCnt="2"/>
      <dgm:spPr/>
    </dgm:pt>
    <dgm:pt modelId="{1B744093-42C9-4C69-B1AE-BEAEDEC3940D}" type="pres">
      <dgm:prSet presAssocID="{C7951D49-9367-4866-BD7D-6A39201EBD11}" presName="lastNode" presStyleLbl="node1" presStyleIdx="2" presStyleCnt="3" custScaleX="211256" custScaleY="93602">
        <dgm:presLayoutVars>
          <dgm:bulletEnabled val="1"/>
        </dgm:presLayoutVars>
      </dgm:prSet>
      <dgm:spPr/>
    </dgm:pt>
  </dgm:ptLst>
  <dgm:cxnLst>
    <dgm:cxn modelId="{E7523F03-8D9E-464D-A2D3-863DC88ADE9D}" srcId="{C7951D49-9367-4866-BD7D-6A39201EBD11}" destId="{F5AF68A9-B696-4EAA-A32F-39B8FA47E2C3}" srcOrd="0" destOrd="0" parTransId="{637FDF2E-025C-41DE-A1A2-E7E232CB3EDD}" sibTransId="{C2B064B7-27BF-4F90-8350-97125FBD06DC}"/>
    <dgm:cxn modelId="{39C04006-EFA5-4152-A9E9-6ECFFE0827CF}" srcId="{C7951D49-9367-4866-BD7D-6A39201EBD11}" destId="{BBD97D24-40D3-4064-A810-F7C54BB1318A}" srcOrd="2" destOrd="0" parTransId="{5632B46F-423E-4FB7-8526-6E622E8A4454}" sibTransId="{FFC1C3EB-6358-4B56-9209-D4C0C7FE13B5}"/>
    <dgm:cxn modelId="{1150FF3E-DDD1-4737-BD5F-178EE25ECE9F}" type="presOf" srcId="{96926DE2-BABE-47E8-AAD1-312C9EC6144A}" destId="{4C28A230-3873-4D7D-8B1D-365C4B44DD9B}" srcOrd="0" destOrd="0" presId="urn:microsoft.com/office/officeart/2005/8/layout/equation2"/>
    <dgm:cxn modelId="{D6B05641-65CB-4C93-810C-B8385404EDCE}" srcId="{C7951D49-9367-4866-BD7D-6A39201EBD11}" destId="{96926DE2-BABE-47E8-AAD1-312C9EC6144A}" srcOrd="1" destOrd="0" parTransId="{C2C4DE2B-6E7B-4A19-AAA2-BB1F57513246}" sibTransId="{2EA1B7FD-A4CB-4993-9E09-21668082958F}"/>
    <dgm:cxn modelId="{D7F5A467-139B-4AA1-988F-59CC951AB0AD}" type="presOf" srcId="{C2B064B7-27BF-4F90-8350-97125FBD06DC}" destId="{73AD6A56-7EC8-4250-8000-F54BD11A2873}" srcOrd="0" destOrd="0" presId="urn:microsoft.com/office/officeart/2005/8/layout/equation2"/>
    <dgm:cxn modelId="{0060957E-582B-492C-9530-346C1C04A01C}" type="presOf" srcId="{BBD97D24-40D3-4064-A810-F7C54BB1318A}" destId="{1B744093-42C9-4C69-B1AE-BEAEDEC3940D}" srcOrd="0" destOrd="0" presId="urn:microsoft.com/office/officeart/2005/8/layout/equation2"/>
    <dgm:cxn modelId="{EAFA7890-D274-4DB6-B1E8-71FBB2D73936}" type="presOf" srcId="{C7951D49-9367-4866-BD7D-6A39201EBD11}" destId="{2FEC523E-15DE-42D8-A751-341D1C3130A6}" srcOrd="0" destOrd="0" presId="urn:microsoft.com/office/officeart/2005/8/layout/equation2"/>
    <dgm:cxn modelId="{BE08A5BA-03F0-4FB8-B4E1-271C1DA302D1}" type="presOf" srcId="{F5AF68A9-B696-4EAA-A32F-39B8FA47E2C3}" destId="{6B226443-5876-49D5-849B-ACE772479588}" srcOrd="0" destOrd="0" presId="urn:microsoft.com/office/officeart/2005/8/layout/equation2"/>
    <dgm:cxn modelId="{2A7883CD-BCDC-4F5E-BC89-808AFA32FD3F}" type="presOf" srcId="{2EA1B7FD-A4CB-4993-9E09-21668082958F}" destId="{CDD5CFDD-58A0-48A7-B54A-1B4321E572BE}" srcOrd="0" destOrd="0" presId="urn:microsoft.com/office/officeart/2005/8/layout/equation2"/>
    <dgm:cxn modelId="{8DAA52E6-935A-4803-BBF4-65BE0EA4A68D}" type="presOf" srcId="{2EA1B7FD-A4CB-4993-9E09-21668082958F}" destId="{B4FFCEBF-B433-4D92-AF21-916AD102FE68}" srcOrd="1" destOrd="0" presId="urn:microsoft.com/office/officeart/2005/8/layout/equation2"/>
    <dgm:cxn modelId="{D531EED5-0B5E-41ED-8BEA-1B149C3AD5E4}" type="presParOf" srcId="{2FEC523E-15DE-42D8-A751-341D1C3130A6}" destId="{C39E7DED-4A19-4C09-9777-460C7344C8A8}" srcOrd="0" destOrd="0" presId="urn:microsoft.com/office/officeart/2005/8/layout/equation2"/>
    <dgm:cxn modelId="{71488111-3085-4F11-B93E-ED101CA00983}" type="presParOf" srcId="{C39E7DED-4A19-4C09-9777-460C7344C8A8}" destId="{6B226443-5876-49D5-849B-ACE772479588}" srcOrd="0" destOrd="0" presId="urn:microsoft.com/office/officeart/2005/8/layout/equation2"/>
    <dgm:cxn modelId="{26A7628C-7503-4DEF-BE4D-A8217F2D8814}" type="presParOf" srcId="{C39E7DED-4A19-4C09-9777-460C7344C8A8}" destId="{7128FE45-8B1F-48E0-BC89-B156C8F9AB0C}" srcOrd="1" destOrd="0" presId="urn:microsoft.com/office/officeart/2005/8/layout/equation2"/>
    <dgm:cxn modelId="{BC4411BF-2575-45A5-A8E0-C1C629C75EF7}" type="presParOf" srcId="{C39E7DED-4A19-4C09-9777-460C7344C8A8}" destId="{73AD6A56-7EC8-4250-8000-F54BD11A2873}" srcOrd="2" destOrd="0" presId="urn:microsoft.com/office/officeart/2005/8/layout/equation2"/>
    <dgm:cxn modelId="{627D88B6-CB0A-4337-B1F3-FB65E0A555BD}" type="presParOf" srcId="{C39E7DED-4A19-4C09-9777-460C7344C8A8}" destId="{CD5740B5-D042-46EB-9A67-CDACFAB4508D}" srcOrd="3" destOrd="0" presId="urn:microsoft.com/office/officeart/2005/8/layout/equation2"/>
    <dgm:cxn modelId="{73CA6E74-A8DC-4920-A295-E18DAA88A79E}" type="presParOf" srcId="{C39E7DED-4A19-4C09-9777-460C7344C8A8}" destId="{4C28A230-3873-4D7D-8B1D-365C4B44DD9B}" srcOrd="4" destOrd="0" presId="urn:microsoft.com/office/officeart/2005/8/layout/equation2"/>
    <dgm:cxn modelId="{85ED8830-123E-4F14-8A56-DEF116902964}" type="presParOf" srcId="{2FEC523E-15DE-42D8-A751-341D1C3130A6}" destId="{CDD5CFDD-58A0-48A7-B54A-1B4321E572BE}" srcOrd="1" destOrd="0" presId="urn:microsoft.com/office/officeart/2005/8/layout/equation2"/>
    <dgm:cxn modelId="{B954B7CC-A0BA-4E8A-835C-13369C007E2F}" type="presParOf" srcId="{CDD5CFDD-58A0-48A7-B54A-1B4321E572BE}" destId="{B4FFCEBF-B433-4D92-AF21-916AD102FE68}" srcOrd="0" destOrd="0" presId="urn:microsoft.com/office/officeart/2005/8/layout/equation2"/>
    <dgm:cxn modelId="{3945D134-FEE2-49F6-9D51-1E51A238255F}" type="presParOf" srcId="{2FEC523E-15DE-42D8-A751-341D1C3130A6}" destId="{1B744093-42C9-4C69-B1AE-BEAEDEC3940D}"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226443-5876-49D5-849B-ACE772479588}">
      <dsp:nvSpPr>
        <dsp:cNvPr id="0" name=""/>
        <dsp:cNvSpPr/>
      </dsp:nvSpPr>
      <dsp:spPr>
        <a:xfrm>
          <a:off x="437" y="806189"/>
          <a:ext cx="1704649" cy="71780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精馏过程能耗高</a:t>
          </a:r>
        </a:p>
      </dsp:txBody>
      <dsp:txXfrm>
        <a:off x="250077" y="911309"/>
        <a:ext cx="1205369" cy="507563"/>
      </dsp:txXfrm>
    </dsp:sp>
    <dsp:sp modelId="{73AD6A56-7EC8-4250-8000-F54BD11A2873}">
      <dsp:nvSpPr>
        <dsp:cNvPr id="0" name=""/>
        <dsp:cNvSpPr/>
      </dsp:nvSpPr>
      <dsp:spPr>
        <a:xfrm>
          <a:off x="697740" y="1567399"/>
          <a:ext cx="310043" cy="310043"/>
        </a:xfrm>
        <a:prstGeom prst="mathPlus">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738836" y="1685959"/>
        <a:ext cx="227851" cy="72923"/>
      </dsp:txXfrm>
    </dsp:sp>
    <dsp:sp modelId="{4C28A230-3873-4D7D-8B1D-365C4B44DD9B}">
      <dsp:nvSpPr>
        <dsp:cNvPr id="0" name=""/>
        <dsp:cNvSpPr/>
      </dsp:nvSpPr>
      <dsp:spPr>
        <a:xfrm>
          <a:off x="48162" y="1920848"/>
          <a:ext cx="1609199" cy="716397"/>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“双碳”目标</a:t>
          </a:r>
        </a:p>
      </dsp:txBody>
      <dsp:txXfrm>
        <a:off x="283824" y="2025762"/>
        <a:ext cx="1137875" cy="506569"/>
      </dsp:txXfrm>
    </dsp:sp>
    <dsp:sp modelId="{CDD5CFDD-58A0-48A7-B54A-1B4321E572BE}">
      <dsp:nvSpPr>
        <dsp:cNvPr id="0" name=""/>
        <dsp:cNvSpPr/>
      </dsp:nvSpPr>
      <dsp:spPr>
        <a:xfrm>
          <a:off x="1785270" y="1622290"/>
          <a:ext cx="169989" cy="198855"/>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zh-CN" altLang="en-US" sz="800" kern="1200"/>
        </a:p>
      </dsp:txBody>
      <dsp:txXfrm>
        <a:off x="1785270" y="1662061"/>
        <a:ext cx="118992" cy="119313"/>
      </dsp:txXfrm>
    </dsp:sp>
    <dsp:sp modelId="{1B744093-42C9-4C69-B1AE-BEAEDEC3940D}">
      <dsp:nvSpPr>
        <dsp:cNvPr id="0" name=""/>
        <dsp:cNvSpPr/>
      </dsp:nvSpPr>
      <dsp:spPr>
        <a:xfrm>
          <a:off x="2025821" y="1221361"/>
          <a:ext cx="2258568" cy="1000712"/>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zh-CN" altLang="en-US" sz="2100" kern="1200" dirty="0"/>
            <a:t>过程强化技术</a:t>
          </a:r>
          <a:r>
            <a:rPr lang="en-US" altLang="zh-CN" sz="2100" kern="1200" dirty="0"/>
            <a:t>-</a:t>
          </a:r>
          <a:r>
            <a:rPr lang="zh-CN" altLang="en-US" sz="2100" kern="1200" dirty="0"/>
            <a:t>隔壁塔</a:t>
          </a:r>
        </a:p>
      </dsp:txBody>
      <dsp:txXfrm>
        <a:off x="2356581" y="1367912"/>
        <a:ext cx="1597048" cy="707610"/>
      </dsp:txXfrm>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D3983694-7AA6-4450-B506-94BE0F2BBD2A}" type="datetimeFigureOut">
              <a:rPr lang="zh-CN" altLang="en-US" smtClean="0"/>
              <a:pPr/>
              <a:t>2022/10/21</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E6C4E10E-0D6E-4584-9622-8691374B2975}" type="slidenum">
              <a:rPr lang="zh-CN" altLang="en-US" smtClean="0"/>
              <a:pPr/>
              <a:t>‹#›</a:t>
            </a:fld>
            <a:endParaRPr lang="zh-CN" altLang="en-US"/>
          </a:p>
        </p:txBody>
      </p:sp>
    </p:spTree>
    <p:extLst>
      <p:ext uri="{BB962C8B-B14F-4D97-AF65-F5344CB8AC3E}">
        <p14:creationId xmlns:p14="http://schemas.microsoft.com/office/powerpoint/2010/main" val="257468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a:t>
            </a:fld>
            <a:endParaRPr lang="zh-CN" altLang="en-US"/>
          </a:p>
        </p:txBody>
      </p:sp>
    </p:spTree>
    <p:extLst>
      <p:ext uri="{BB962C8B-B14F-4D97-AF65-F5344CB8AC3E}">
        <p14:creationId xmlns:p14="http://schemas.microsoft.com/office/powerpoint/2010/main" val="3737268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rgbClr val="FF0000"/>
              </a:solidFill>
              <a:sym typeface="+mn-ea"/>
            </a:endParaRPr>
          </a:p>
        </p:txBody>
      </p:sp>
      <p:sp>
        <p:nvSpPr>
          <p:cNvPr id="4" name="灯片编号占位符 3"/>
          <p:cNvSpPr>
            <a:spLocks noGrp="1"/>
          </p:cNvSpPr>
          <p:nvPr>
            <p:ph type="sldNum" sz="quarter" idx="5"/>
          </p:nvPr>
        </p:nvSpPr>
        <p:spPr/>
        <p:txBody>
          <a:bodyPr/>
          <a:lstStyle/>
          <a:p>
            <a:fld id="{E6C4E10E-0D6E-4584-9622-8691374B2975}" type="slidenum">
              <a:rPr lang="zh-CN" altLang="en-US" smtClean="0"/>
              <a:pPr/>
              <a:t>2</a:t>
            </a:fld>
            <a:endParaRPr lang="zh-CN" altLang="en-US"/>
          </a:p>
        </p:txBody>
      </p:sp>
    </p:spTree>
    <p:extLst>
      <p:ext uri="{BB962C8B-B14F-4D97-AF65-F5344CB8AC3E}">
        <p14:creationId xmlns:p14="http://schemas.microsoft.com/office/powerpoint/2010/main" val="834052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3</a:t>
            </a:fld>
            <a:endParaRPr lang="zh-CN" altLang="en-US"/>
          </a:p>
        </p:txBody>
      </p:sp>
    </p:spTree>
    <p:extLst>
      <p:ext uri="{BB962C8B-B14F-4D97-AF65-F5344CB8AC3E}">
        <p14:creationId xmlns:p14="http://schemas.microsoft.com/office/powerpoint/2010/main" val="91402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en-US" altLang="zh-CN"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4</a:t>
            </a:fld>
            <a:endParaRPr lang="zh-CN" altLang="en-US"/>
          </a:p>
        </p:txBody>
      </p:sp>
    </p:spTree>
    <p:extLst>
      <p:ext uri="{BB962C8B-B14F-4D97-AF65-F5344CB8AC3E}">
        <p14:creationId xmlns:p14="http://schemas.microsoft.com/office/powerpoint/2010/main" val="4196188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normAutofit/>
          </a:bodyPr>
          <a:lstStyle/>
          <a:p>
            <a:pPr indent="304800"/>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5</a:t>
            </a:fld>
            <a:endParaRPr lang="zh-CN" altLang="en-US"/>
          </a:p>
        </p:txBody>
      </p:sp>
    </p:spTree>
    <p:extLst>
      <p:ext uri="{BB962C8B-B14F-4D97-AF65-F5344CB8AC3E}">
        <p14:creationId xmlns:p14="http://schemas.microsoft.com/office/powerpoint/2010/main" val="2800046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normAutofit/>
          </a:bodyPr>
          <a:lstStyle/>
          <a:p>
            <a:pPr>
              <a:defRPr/>
            </a:pPr>
            <a:endParaRPr lang="zh-CN" altLang="en-US" sz="1200"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6</a:t>
            </a:fld>
            <a:endParaRPr lang="zh-CN" altLang="en-US"/>
          </a:p>
        </p:txBody>
      </p:sp>
    </p:spTree>
    <p:extLst>
      <p:ext uri="{BB962C8B-B14F-4D97-AF65-F5344CB8AC3E}">
        <p14:creationId xmlns:p14="http://schemas.microsoft.com/office/powerpoint/2010/main" val="3738256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normAutofit/>
          </a:bodyPr>
          <a:lstStyle/>
          <a:p>
            <a:pPr>
              <a:defRPr/>
            </a:pPr>
            <a:endParaRPr lang="zh-CN" altLang="en-US" sz="1200"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7</a:t>
            </a:fld>
            <a:endParaRPr lang="zh-CN" altLang="en-US"/>
          </a:p>
        </p:txBody>
      </p:sp>
    </p:spTree>
    <p:extLst>
      <p:ext uri="{BB962C8B-B14F-4D97-AF65-F5344CB8AC3E}">
        <p14:creationId xmlns:p14="http://schemas.microsoft.com/office/powerpoint/2010/main" val="3077266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pPr>
              <a:defRPr/>
            </a:pPr>
            <a:endParaRPr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8</a:t>
            </a:fld>
            <a:endParaRPr lang="zh-CN" altLang="en-US"/>
          </a:p>
        </p:txBody>
      </p:sp>
    </p:spTree>
    <p:extLst>
      <p:ext uri="{BB962C8B-B14F-4D97-AF65-F5344CB8AC3E}">
        <p14:creationId xmlns:p14="http://schemas.microsoft.com/office/powerpoint/2010/main" val="841732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9</a:t>
            </a:fld>
            <a:endParaRPr lang="zh-CN" altLang="en-US"/>
          </a:p>
        </p:txBody>
      </p:sp>
    </p:spTree>
    <p:extLst>
      <p:ext uri="{BB962C8B-B14F-4D97-AF65-F5344CB8AC3E}">
        <p14:creationId xmlns:p14="http://schemas.microsoft.com/office/powerpoint/2010/main" val="293837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rgbClr val="FF0000"/>
              </a:solidFill>
              <a:sym typeface="+mn-ea"/>
            </a:endParaRPr>
          </a:p>
        </p:txBody>
      </p:sp>
      <p:sp>
        <p:nvSpPr>
          <p:cNvPr id="4" name="灯片编号占位符 3"/>
          <p:cNvSpPr>
            <a:spLocks noGrp="1"/>
          </p:cNvSpPr>
          <p:nvPr>
            <p:ph type="sldNum" sz="quarter" idx="5"/>
          </p:nvPr>
        </p:nvSpPr>
        <p:spPr/>
        <p:txBody>
          <a:bodyPr/>
          <a:lstStyle/>
          <a:p>
            <a:fld id="{E6C4E10E-0D6E-4584-9622-8691374B2975}" type="slidenum">
              <a:rPr lang="zh-CN" altLang="en-US" smtClean="0"/>
              <a:pPr/>
              <a:t>10</a:t>
            </a:fld>
            <a:endParaRPr lang="zh-CN" altLang="en-US"/>
          </a:p>
        </p:txBody>
      </p:sp>
    </p:spTree>
    <p:extLst>
      <p:ext uri="{BB962C8B-B14F-4D97-AF65-F5344CB8AC3E}">
        <p14:creationId xmlns:p14="http://schemas.microsoft.com/office/powerpoint/2010/main" val="1210013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11</a:t>
            </a:fld>
            <a:endParaRPr lang="zh-CN" altLang="en-US"/>
          </a:p>
        </p:txBody>
      </p:sp>
    </p:spTree>
    <p:extLst>
      <p:ext uri="{BB962C8B-B14F-4D97-AF65-F5344CB8AC3E}">
        <p14:creationId xmlns:p14="http://schemas.microsoft.com/office/powerpoint/2010/main" val="787227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normAutofit/>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12</a:t>
            </a:fld>
            <a:endParaRPr lang="zh-CN" altLang="en-US"/>
          </a:p>
        </p:txBody>
      </p:sp>
    </p:spTree>
    <p:extLst>
      <p:ext uri="{BB962C8B-B14F-4D97-AF65-F5344CB8AC3E}">
        <p14:creationId xmlns:p14="http://schemas.microsoft.com/office/powerpoint/2010/main" val="2793146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13</a:t>
            </a:fld>
            <a:endParaRPr lang="zh-CN" altLang="en-US"/>
          </a:p>
        </p:txBody>
      </p:sp>
    </p:spTree>
    <p:extLst>
      <p:ext uri="{BB962C8B-B14F-4D97-AF65-F5344CB8AC3E}">
        <p14:creationId xmlns:p14="http://schemas.microsoft.com/office/powerpoint/2010/main" val="4153250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normAutofit/>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14</a:t>
            </a:fld>
            <a:endParaRPr lang="zh-CN" altLang="en-US"/>
          </a:p>
        </p:txBody>
      </p:sp>
    </p:spTree>
    <p:extLst>
      <p:ext uri="{BB962C8B-B14F-4D97-AF65-F5344CB8AC3E}">
        <p14:creationId xmlns:p14="http://schemas.microsoft.com/office/powerpoint/2010/main" val="786694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15</a:t>
            </a:fld>
            <a:endParaRPr lang="zh-CN" altLang="en-US"/>
          </a:p>
        </p:txBody>
      </p:sp>
    </p:spTree>
    <p:extLst>
      <p:ext uri="{BB962C8B-B14F-4D97-AF65-F5344CB8AC3E}">
        <p14:creationId xmlns:p14="http://schemas.microsoft.com/office/powerpoint/2010/main" val="3849197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normAutofit/>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16</a:t>
            </a:fld>
            <a:endParaRPr lang="zh-CN" altLang="en-US"/>
          </a:p>
        </p:txBody>
      </p:sp>
    </p:spTree>
    <p:extLst>
      <p:ext uri="{BB962C8B-B14F-4D97-AF65-F5344CB8AC3E}">
        <p14:creationId xmlns:p14="http://schemas.microsoft.com/office/powerpoint/2010/main" val="1000238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solidFill>
                <a:srgbClr val="FF0000"/>
              </a:solidFill>
              <a:sym typeface="+mn-ea"/>
            </a:endParaRPr>
          </a:p>
        </p:txBody>
      </p:sp>
      <p:sp>
        <p:nvSpPr>
          <p:cNvPr id="4" name="灯片编号占位符 3"/>
          <p:cNvSpPr>
            <a:spLocks noGrp="1"/>
          </p:cNvSpPr>
          <p:nvPr>
            <p:ph type="sldNum" sz="quarter" idx="5"/>
          </p:nvPr>
        </p:nvSpPr>
        <p:spPr/>
        <p:txBody>
          <a:bodyPr/>
          <a:lstStyle/>
          <a:p>
            <a:fld id="{E6C4E10E-0D6E-4584-9622-8691374B2975}" type="slidenum">
              <a:rPr lang="zh-CN" altLang="en-US" smtClean="0"/>
              <a:pPr/>
              <a:t>17</a:t>
            </a:fld>
            <a:endParaRPr lang="zh-CN" altLang="en-US"/>
          </a:p>
        </p:txBody>
      </p:sp>
    </p:spTree>
    <p:extLst>
      <p:ext uri="{BB962C8B-B14F-4D97-AF65-F5344CB8AC3E}">
        <p14:creationId xmlns:p14="http://schemas.microsoft.com/office/powerpoint/2010/main" val="3965698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我的研究思路将从两个相辅相成的方面开展。通过</a:t>
            </a:r>
            <a:r>
              <a:rPr lang="zh-CN" altLang="en-US" sz="1200" kern="1200" dirty="0">
                <a:solidFill>
                  <a:schemeClr val="tx1"/>
                </a:solidFill>
                <a:effectLst/>
                <a:latin typeface="+mn-lt"/>
                <a:ea typeface="+mn-ea"/>
                <a:cs typeface="+mn-cs"/>
              </a:rPr>
              <a:t>文献了解芳烃抽提蒸馏在隔壁塔应用的有关文献较少，就此展开的研究。芳烃抽提蒸馏与隔壁塔结合的新的结构叫做萃取隔壁精馏塔。主要部分分三点。第一是稳态设计：先用简捷方法计算初值，为隔壁塔严格设计提供基础数据，再进行严格模拟，然后对塔结构进行自由度分析</a:t>
            </a:r>
            <a:r>
              <a:rPr lang="zh-CN" altLang="en-US" sz="1200" dirty="0"/>
              <a:t>。其次要对上述的设计变量进行灵敏度分析，</a:t>
            </a:r>
            <a:r>
              <a:rPr lang="zh-CN" altLang="en-US" dirty="0"/>
              <a:t>能够比较准确地得到设计变量的适宜取值范围 ，优化时在该范围内搜索可望进一步缩短寻优时间 </a:t>
            </a:r>
            <a:r>
              <a:rPr lang="zh-CN" altLang="zh-CN" sz="1200" spc="-25" dirty="0">
                <a:effectLst/>
                <a:latin typeface="Times New Roman" panose="02020603050405020304" pitchFamily="18" charset="0"/>
                <a:ea typeface="+mn-ea"/>
              </a:rPr>
              <a:t>。</a:t>
            </a:r>
            <a:r>
              <a:rPr lang="zh-CN" altLang="en-US" sz="1200" spc="-25" dirty="0">
                <a:effectLst/>
                <a:latin typeface="Times New Roman" panose="02020603050405020304" pitchFamily="18" charset="0"/>
                <a:ea typeface="+mn-ea"/>
              </a:rPr>
              <a:t>第二是优化，选用</a:t>
            </a:r>
            <a:r>
              <a:rPr lang="en-US" altLang="zh-CN" sz="1200" spc="-25" dirty="0">
                <a:effectLst/>
                <a:latin typeface="Times New Roman" panose="02020603050405020304" pitchFamily="18" charset="0"/>
                <a:ea typeface="+mn-ea"/>
              </a:rPr>
              <a:t>NSGA-II</a:t>
            </a:r>
            <a:r>
              <a:rPr lang="zh-CN" altLang="en-US" sz="1200" spc="-25" dirty="0">
                <a:effectLst/>
                <a:latin typeface="Times New Roman" panose="02020603050405020304" pitchFamily="18" charset="0"/>
                <a:ea typeface="+mn-ea"/>
              </a:rPr>
              <a:t>多目标遗传算法。</a:t>
            </a:r>
            <a:r>
              <a:rPr lang="zh-CN" altLang="en-US" dirty="0"/>
              <a:t>其算法通过约束和目标函数评价 </a:t>
            </a:r>
            <a:r>
              <a:rPr lang="en-US" altLang="zh-CN" dirty="0"/>
              <a:t>Aspen </a:t>
            </a:r>
            <a:r>
              <a:rPr lang="en-US" altLang="zh-CN" dirty="0" err="1"/>
              <a:t>Hysys</a:t>
            </a:r>
            <a:r>
              <a:rPr lang="en-US" altLang="zh-CN" dirty="0"/>
              <a:t> </a:t>
            </a:r>
            <a:r>
              <a:rPr lang="zh-CN" altLang="en-US" dirty="0"/>
              <a:t>灵敏度分析得出设计变量的适宜的取值范围的结果，进行优化，寻取最优解。第三是动态控制，通过寻找稳态设计和动态设计的折中平衡点，对比多种控制结构，选取最佳的控制结构。</a:t>
            </a:r>
            <a:endParaRPr lang="en-US" altLang="zh-CN" dirty="0"/>
          </a:p>
        </p:txBody>
      </p:sp>
    </p:spTree>
    <p:extLst>
      <p:ext uri="{BB962C8B-B14F-4D97-AF65-F5344CB8AC3E}">
        <p14:creationId xmlns:p14="http://schemas.microsoft.com/office/powerpoint/2010/main" val="3600358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solidFill>
                <a:srgbClr val="FF0000"/>
              </a:solidFill>
              <a:sym typeface="+mn-ea"/>
            </a:endParaRPr>
          </a:p>
        </p:txBody>
      </p:sp>
      <p:sp>
        <p:nvSpPr>
          <p:cNvPr id="4" name="灯片编号占位符 3"/>
          <p:cNvSpPr>
            <a:spLocks noGrp="1"/>
          </p:cNvSpPr>
          <p:nvPr>
            <p:ph type="sldNum" sz="quarter" idx="5"/>
          </p:nvPr>
        </p:nvSpPr>
        <p:spPr/>
        <p:txBody>
          <a:bodyPr/>
          <a:lstStyle/>
          <a:p>
            <a:fld id="{E6C4E10E-0D6E-4584-9622-8691374B2975}" type="slidenum">
              <a:rPr lang="zh-CN" altLang="en-US" smtClean="0"/>
              <a:pPr/>
              <a:t>19</a:t>
            </a:fld>
            <a:endParaRPr lang="zh-CN" altLang="en-US"/>
          </a:p>
        </p:txBody>
      </p:sp>
    </p:spTree>
    <p:extLst>
      <p:ext uri="{BB962C8B-B14F-4D97-AF65-F5344CB8AC3E}">
        <p14:creationId xmlns:p14="http://schemas.microsoft.com/office/powerpoint/2010/main" val="1126699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20</a:t>
            </a:fld>
            <a:endParaRPr lang="zh-CN" altLang="en-US"/>
          </a:p>
        </p:txBody>
      </p:sp>
    </p:spTree>
    <p:extLst>
      <p:ext uri="{BB962C8B-B14F-4D97-AF65-F5344CB8AC3E}">
        <p14:creationId xmlns:p14="http://schemas.microsoft.com/office/powerpoint/2010/main" val="41539068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21</a:t>
            </a:fld>
            <a:endParaRPr lang="zh-CN" altLang="en-US"/>
          </a:p>
        </p:txBody>
      </p:sp>
    </p:spTree>
    <p:extLst>
      <p:ext uri="{BB962C8B-B14F-4D97-AF65-F5344CB8AC3E}">
        <p14:creationId xmlns:p14="http://schemas.microsoft.com/office/powerpoint/2010/main" val="308209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spc="-25" dirty="0">
                  <a:effectLst/>
                  <a:latin typeface="Times New Roman" panose="02020603050405020304" pitchFamily="18" charset="0"/>
                  <a:ea typeface="宋体" panose="02010600030101010101" pitchFamily="2" charset="-122"/>
                </a:endParaRPr>
              </a:p>
            </p:txBody>
          </p:sp>
        </mc:Choice>
        <mc:Fallback xmlns="">
          <p:sp>
            <p:nvSpPr>
              <p:cNvPr id="3" name="备注占位符 2"/>
              <p:cNvSpPr>
                <a:spLocks noGrp="1"/>
              </p:cNvSpPr>
              <p:nvPr>
                <p:ph type="body" idx="1"/>
              </p:nvPr>
            </p:nvSpPr>
            <p:spPr/>
            <p:txBody>
              <a:bodyPr/>
              <a:lstStyle/>
              <a:p>
                <a:r>
                  <a:rPr lang="zh-CN" altLang="zh-CN" sz="1200" spc="-25" dirty="0">
                    <a:effectLst/>
                    <a:latin typeface="Times New Roman" panose="02020603050405020304" pitchFamily="18" charset="0"/>
                    <a:ea typeface="宋体" panose="02010600030101010101" pitchFamily="2" charset="-122"/>
                  </a:rPr>
                  <a:t>以萃取精馏塔回流比（</a:t>
                </a:r>
                <a:r>
                  <a:rPr lang="en-US" altLang="zh-CN" sz="1200" spc="-25" dirty="0">
                    <a:effectLst/>
                    <a:latin typeface="Times New Roman" panose="02020603050405020304" pitchFamily="18" charset="0"/>
                    <a:ea typeface="宋体" panose="02010600030101010101" pitchFamily="2" charset="-122"/>
                  </a:rPr>
                  <a:t>RR</a:t>
                </a:r>
                <a:r>
                  <a:rPr lang="en-US" altLang="zh-CN" sz="1200" spc="-25" baseline="-25000" dirty="0">
                    <a:effectLst/>
                    <a:latin typeface="Times New Roman" panose="02020603050405020304" pitchFamily="18" charset="0"/>
                    <a:ea typeface="宋体" panose="02010600030101010101" pitchFamily="2" charset="-122"/>
                  </a:rPr>
                  <a:t>1</a:t>
                </a:r>
                <a:r>
                  <a:rPr lang="zh-CN" altLang="zh-CN" sz="1200" spc="-25" dirty="0">
                    <a:effectLst/>
                    <a:latin typeface="Times New Roman" panose="02020603050405020304" pitchFamily="18" charset="0"/>
                    <a:ea typeface="宋体" panose="02010600030101010101" pitchFamily="2" charset="-122"/>
                  </a:rPr>
                  <a:t>）和</a:t>
                </a:r>
                <a:r>
                  <a:rPr lang="zh-CN" altLang="en-US" sz="1200" spc="-25" dirty="0">
                    <a:effectLst/>
                    <a:latin typeface="Times New Roman" panose="02020603050405020304" pitchFamily="18" charset="0"/>
                    <a:ea typeface="宋体" panose="02010600030101010101" pitchFamily="2" charset="-122"/>
                  </a:rPr>
                  <a:t>气相分率</a:t>
                </a:r>
                <a:r>
                  <a:rPr lang="zh-CN" altLang="zh-CN" sz="1200" spc="-25" dirty="0">
                    <a:effectLst/>
                    <a:latin typeface="Times New Roman" panose="02020603050405020304" pitchFamily="18" charset="0"/>
                    <a:ea typeface="宋体" panose="02010600030101010101" pitchFamily="2" charset="-122"/>
                  </a:rPr>
                  <a:t>（</a:t>
                </a:r>
                <a:r>
                  <a:rPr lang="en-US" altLang="zh-CN" sz="900" dirty="0"/>
                  <a:t> </a:t>
                </a:r>
                <a:r>
                  <a:rPr lang="en-US" altLang="zh-CN" sz="1200" i="0" spc="-25">
                    <a:effectLst/>
                    <a:latin typeface="Cambria Math" panose="02040503050406030204" pitchFamily="18" charset="0"/>
                    <a:ea typeface="宋体" panose="02010600030101010101" pitchFamily="2" charset="-122"/>
                  </a:rPr>
                  <a:t>𝛼</a:t>
                </a:r>
                <a:r>
                  <a:rPr lang="zh-CN" altLang="zh-CN" sz="1200" i="0" kern="100" spc="0">
                    <a:effectLst/>
                    <a:latin typeface="Cambria Math" panose="02040503050406030204" pitchFamily="18" charset="0"/>
                    <a:ea typeface="宋体" panose="02010600030101010101" pitchFamily="2" charset="-122"/>
                  </a:rPr>
                  <a:t>_</a:t>
                </a:r>
                <a:r>
                  <a:rPr lang="en-US" altLang="zh-CN" sz="1200" i="0" spc="-25">
                    <a:effectLst/>
                    <a:latin typeface="Cambria Math" panose="02040503050406030204" pitchFamily="18" charset="0"/>
                    <a:ea typeface="宋体" panose="02010600030101010101" pitchFamily="2" charset="-122"/>
                  </a:rPr>
                  <a:t>𝑉  </a:t>
                </a:r>
                <a:r>
                  <a:rPr lang="zh-CN" altLang="zh-CN" sz="1200" spc="-25" dirty="0">
                    <a:effectLst/>
                    <a:latin typeface="Times New Roman" panose="02020603050405020304" pitchFamily="18" charset="0"/>
                    <a:ea typeface="宋体" panose="02010600030101010101" pitchFamily="2" charset="-122"/>
                  </a:rPr>
                  <a:t>）的灵敏度分析为例，通过改变</a:t>
                </a:r>
                <a:r>
                  <a:rPr lang="en-US" altLang="zh-CN" sz="1200" spc="-25" dirty="0">
                    <a:effectLst/>
                    <a:latin typeface="Times New Roman" panose="02020603050405020304" pitchFamily="18" charset="0"/>
                    <a:ea typeface="宋体" panose="02010600030101010101" pitchFamily="2" charset="-122"/>
                  </a:rPr>
                  <a:t>RR</a:t>
                </a:r>
                <a:r>
                  <a:rPr lang="en-US" altLang="zh-CN" sz="1200" spc="-25" baseline="-25000" dirty="0">
                    <a:effectLst/>
                    <a:latin typeface="Times New Roman" panose="02020603050405020304" pitchFamily="18" charset="0"/>
                    <a:ea typeface="宋体" panose="02010600030101010101" pitchFamily="2" charset="-122"/>
                  </a:rPr>
                  <a:t>1</a:t>
                </a:r>
                <a:r>
                  <a:rPr lang="zh-CN" altLang="zh-CN" sz="1200" spc="-25" dirty="0">
                    <a:effectLst/>
                    <a:latin typeface="Times New Roman" panose="02020603050405020304" pitchFamily="18" charset="0"/>
                    <a:ea typeface="宋体" panose="02010600030101010101" pitchFamily="2" charset="-122"/>
                  </a:rPr>
                  <a:t>在一定范围内变化以及改变</a:t>
                </a:r>
                <a:r>
                  <a:rPr lang="en-US" altLang="zh-CN" sz="1200" i="0" spc="-25">
                    <a:latin typeface="Cambria Math" panose="02040503050406030204" pitchFamily="18" charset="0"/>
                  </a:rPr>
                  <a:t>𝛼</a:t>
                </a:r>
                <a:r>
                  <a:rPr lang="zh-CN" altLang="zh-CN" sz="1200" i="0" kern="100" spc="-25">
                    <a:latin typeface="Cambria Math" panose="02040503050406030204" pitchFamily="18" charset="0"/>
                  </a:rPr>
                  <a:t>_</a:t>
                </a:r>
                <a:r>
                  <a:rPr lang="en-US" altLang="zh-CN" sz="1200" i="0" spc="-25">
                    <a:latin typeface="Cambria Math" panose="02040503050406030204" pitchFamily="18" charset="0"/>
                  </a:rPr>
                  <a:t>𝑉</a:t>
                </a:r>
                <a:r>
                  <a:rPr lang="zh-CN" altLang="zh-CN" sz="1200" spc="-25" dirty="0">
                    <a:effectLst/>
                    <a:latin typeface="Times New Roman" panose="02020603050405020304" pitchFamily="18" charset="0"/>
                    <a:ea typeface="宋体" panose="02010600030101010101" pitchFamily="2" charset="-122"/>
                  </a:rPr>
                  <a:t>在一定范围内变化，得到</a:t>
                </a:r>
                <a:r>
                  <a:rPr lang="en-US" altLang="zh-CN" sz="1200" spc="-25" dirty="0">
                    <a:effectLst/>
                    <a:latin typeface="Times New Roman" panose="02020603050405020304" pitchFamily="18" charset="0"/>
                    <a:ea typeface="宋体" panose="02010600030101010101" pitchFamily="2" charset="-122"/>
                  </a:rPr>
                  <a:t>RR</a:t>
                </a:r>
                <a:r>
                  <a:rPr lang="en-US" altLang="zh-CN" sz="1200" spc="-25" baseline="-25000" dirty="0">
                    <a:effectLst/>
                    <a:latin typeface="Times New Roman" panose="02020603050405020304" pitchFamily="18" charset="0"/>
                    <a:ea typeface="宋体" panose="02010600030101010101" pitchFamily="2" charset="-122"/>
                  </a:rPr>
                  <a:t>1</a:t>
                </a:r>
                <a:r>
                  <a:rPr lang="zh-CN" altLang="zh-CN" sz="1200" spc="-25" dirty="0">
                    <a:effectLst/>
                    <a:latin typeface="Times New Roman" panose="02020603050405020304" pitchFamily="18" charset="0"/>
                    <a:ea typeface="宋体" panose="02010600030101010101" pitchFamily="2" charset="-122"/>
                  </a:rPr>
                  <a:t>和</a:t>
                </a:r>
                <a:r>
                  <a:rPr lang="en-US" altLang="zh-CN" sz="1200" i="0" spc="-25">
                    <a:latin typeface="Cambria Math" panose="02040503050406030204" pitchFamily="18" charset="0"/>
                  </a:rPr>
                  <a:t>𝛼</a:t>
                </a:r>
                <a:r>
                  <a:rPr lang="zh-CN" altLang="zh-CN" sz="1200" i="0" kern="100" spc="-25">
                    <a:latin typeface="Cambria Math" panose="02040503050406030204" pitchFamily="18" charset="0"/>
                  </a:rPr>
                  <a:t>_</a:t>
                </a:r>
                <a:r>
                  <a:rPr lang="en-US" altLang="zh-CN" sz="1200" i="0" spc="-25">
                    <a:latin typeface="Cambria Math" panose="02040503050406030204" pitchFamily="18" charset="0"/>
                  </a:rPr>
                  <a:t>𝑉</a:t>
                </a:r>
                <a:r>
                  <a:rPr lang="zh-CN" altLang="zh-CN" sz="1200" spc="-25" dirty="0">
                    <a:effectLst/>
                    <a:latin typeface="Times New Roman" panose="02020603050405020304" pitchFamily="18" charset="0"/>
                    <a:ea typeface="宋体" panose="02010600030101010101" pitchFamily="2" charset="-122"/>
                  </a:rPr>
                  <a:t>与</a:t>
                </a:r>
                <a:r>
                  <a:rPr lang="zh-CN" altLang="en-US" sz="1200" spc="-25" dirty="0">
                    <a:effectLst/>
                    <a:latin typeface="Times New Roman" panose="02020603050405020304" pitchFamily="18" charset="0"/>
                    <a:ea typeface="宋体" panose="02010600030101010101" pitchFamily="2" charset="-122"/>
                  </a:rPr>
                  <a:t>再沸器热负荷</a:t>
                </a:r>
                <a:r>
                  <a:rPr lang="zh-CN" altLang="zh-CN" sz="1200" spc="-25" dirty="0">
                    <a:effectLst/>
                    <a:latin typeface="Times New Roman" panose="02020603050405020304" pitchFamily="18" charset="0"/>
                    <a:ea typeface="宋体" panose="02010600030101010101" pitchFamily="2" charset="-122"/>
                  </a:rPr>
                  <a:t>之间变化情况的三维关系图，从而得到满足分离要求的最佳回流比和</a:t>
                </a:r>
                <a:r>
                  <a:rPr lang="zh-CN" altLang="en-US" sz="1200" spc="-25" dirty="0">
                    <a:effectLst/>
                    <a:latin typeface="Times New Roman" panose="02020603050405020304" pitchFamily="18" charset="0"/>
                    <a:ea typeface="宋体" panose="02010600030101010101" pitchFamily="2" charset="-122"/>
                  </a:rPr>
                  <a:t>气相分率</a:t>
                </a:r>
                <a:r>
                  <a:rPr lang="zh-CN" altLang="zh-CN" sz="1200" spc="-25" dirty="0">
                    <a:effectLst/>
                    <a:latin typeface="Times New Roman" panose="02020603050405020304" pitchFamily="18" charset="0"/>
                    <a:ea typeface="宋体" panose="02010600030101010101" pitchFamily="2" charset="-122"/>
                  </a:rPr>
                  <a:t>。另外通过灵敏度分析可以进一步得到回流比与</a:t>
                </a:r>
                <a:r>
                  <a:rPr lang="zh-CN" altLang="en-US" sz="1200" spc="-25" dirty="0">
                    <a:effectLst/>
                    <a:latin typeface="Times New Roman" panose="02020603050405020304" pitchFamily="18" charset="0"/>
                    <a:ea typeface="宋体" panose="02010600030101010101" pitchFamily="2" charset="-122"/>
                  </a:rPr>
                  <a:t>再沸器热负荷</a:t>
                </a:r>
                <a:r>
                  <a:rPr lang="zh-CN" altLang="zh-CN" sz="1200" spc="-25" dirty="0">
                    <a:effectLst/>
                    <a:latin typeface="Times New Roman" panose="02020603050405020304" pitchFamily="18" charset="0"/>
                    <a:ea typeface="宋体" panose="02010600030101010101" pitchFamily="2" charset="-122"/>
                  </a:rPr>
                  <a:t>的相互作用关系，可以提高后续筛选动态控制结构的精确度，改善添加控制方案时的盲目性。对萃取精馏塔工艺参数进行灵敏度分析，得到了萃取精馏的优化参数。</a:t>
                </a:r>
                <a:endParaRPr kumimoji="1" lang="zh-CN" altLang="en-US" dirty="0"/>
              </a:p>
            </p:txBody>
          </p:sp>
        </mc:Fallback>
      </mc:AlternateContent>
      <p:sp>
        <p:nvSpPr>
          <p:cNvPr id="4" name="幻灯片编号占位符 3"/>
          <p:cNvSpPr>
            <a:spLocks noGrp="1"/>
          </p:cNvSpPr>
          <p:nvPr>
            <p:ph type="sldNum" sz="quarter" idx="10"/>
          </p:nvPr>
        </p:nvSpPr>
        <p:spPr/>
        <p:txBody>
          <a:bodyPr/>
          <a:lstStyle/>
          <a:p>
            <a:fld id="{E6C4E10E-0D6E-4584-9622-8691374B2975}" type="slidenum">
              <a:rPr lang="zh-CN" altLang="en-US" smtClean="0"/>
              <a:pPr/>
              <a:t>22</a:t>
            </a:fld>
            <a:endParaRPr lang="zh-CN" altLang="en-US"/>
          </a:p>
        </p:txBody>
      </p:sp>
    </p:spTree>
    <p:extLst>
      <p:ext uri="{BB962C8B-B14F-4D97-AF65-F5344CB8AC3E}">
        <p14:creationId xmlns:p14="http://schemas.microsoft.com/office/powerpoint/2010/main" val="10372015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23</a:t>
            </a:fld>
            <a:endParaRPr lang="zh-CN" altLang="en-US"/>
          </a:p>
        </p:txBody>
      </p:sp>
    </p:spTree>
    <p:extLst>
      <p:ext uri="{BB962C8B-B14F-4D97-AF65-F5344CB8AC3E}">
        <p14:creationId xmlns:p14="http://schemas.microsoft.com/office/powerpoint/2010/main" val="37512833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24</a:t>
            </a:fld>
            <a:endParaRPr lang="zh-CN" altLang="en-US"/>
          </a:p>
        </p:txBody>
      </p:sp>
    </p:spTree>
    <p:extLst>
      <p:ext uri="{BB962C8B-B14F-4D97-AF65-F5344CB8AC3E}">
        <p14:creationId xmlns:p14="http://schemas.microsoft.com/office/powerpoint/2010/main" val="4782466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25</a:t>
            </a:fld>
            <a:endParaRPr lang="zh-CN" altLang="en-US"/>
          </a:p>
        </p:txBody>
      </p:sp>
    </p:spTree>
    <p:extLst>
      <p:ext uri="{BB962C8B-B14F-4D97-AF65-F5344CB8AC3E}">
        <p14:creationId xmlns:p14="http://schemas.microsoft.com/office/powerpoint/2010/main" val="269081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26</a:t>
            </a:fld>
            <a:endParaRPr lang="zh-CN" altLang="en-US"/>
          </a:p>
        </p:txBody>
      </p:sp>
    </p:spTree>
    <p:extLst>
      <p:ext uri="{BB962C8B-B14F-4D97-AF65-F5344CB8AC3E}">
        <p14:creationId xmlns:p14="http://schemas.microsoft.com/office/powerpoint/2010/main" val="18473625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C4E10E-0D6E-4584-9622-8691374B2975}" type="slidenum">
              <a:rPr lang="zh-CN" altLang="en-US" smtClean="0"/>
              <a:pPr/>
              <a:t>27</a:t>
            </a:fld>
            <a:endParaRPr lang="zh-CN" altLang="en-US"/>
          </a:p>
        </p:txBody>
      </p:sp>
    </p:spTree>
    <p:extLst>
      <p:ext uri="{BB962C8B-B14F-4D97-AF65-F5344CB8AC3E}">
        <p14:creationId xmlns:p14="http://schemas.microsoft.com/office/powerpoint/2010/main" val="20421584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28</a:t>
            </a:fld>
            <a:endParaRPr lang="zh-CN" altLang="en-US"/>
          </a:p>
        </p:txBody>
      </p:sp>
    </p:spTree>
    <p:extLst>
      <p:ext uri="{BB962C8B-B14F-4D97-AF65-F5344CB8AC3E}">
        <p14:creationId xmlns:p14="http://schemas.microsoft.com/office/powerpoint/2010/main" val="7204461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6C4E10E-0D6E-4584-9622-8691374B2975}" type="slidenum">
              <a:rPr lang="zh-CN" altLang="en-US" smtClean="0"/>
              <a:pPr/>
              <a:t>29</a:t>
            </a:fld>
            <a:endParaRPr lang="zh-CN" altLang="en-US"/>
          </a:p>
        </p:txBody>
      </p:sp>
    </p:spTree>
    <p:extLst>
      <p:ext uri="{BB962C8B-B14F-4D97-AF65-F5344CB8AC3E}">
        <p14:creationId xmlns:p14="http://schemas.microsoft.com/office/powerpoint/2010/main" val="599013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3" name="图片 2" descr="PPT模板-17.jpg"/>
          <p:cNvPicPr>
            <a:picLocks noChangeAspect="1"/>
          </p:cNvPicPr>
          <p:nvPr userDrawn="1"/>
        </p:nvPicPr>
        <p:blipFill rotWithShape="1">
          <a:blip r:embed="rId2" cstate="print">
            <a:extLst>
              <a:ext uri="{28A0092B-C50C-407E-A947-70E740481C1C}">
                <a14:useLocalDpi xmlns:a14="http://schemas.microsoft.com/office/drawing/2010/main" val="0"/>
              </a:ext>
            </a:extLst>
          </a:blip>
          <a:srcRect t="54052" b="13249"/>
          <a:stretch/>
        </p:blipFill>
        <p:spPr>
          <a:xfrm>
            <a:off x="21446" y="3706880"/>
            <a:ext cx="9122555" cy="2242470"/>
          </a:xfrm>
          <a:prstGeom prst="rect">
            <a:avLst/>
          </a:prstGeom>
        </p:spPr>
      </p:pic>
      <p:pic>
        <p:nvPicPr>
          <p:cNvPr id="6" name="图片 5">
            <a:extLst>
              <a:ext uri="{FF2B5EF4-FFF2-40B4-BE49-F238E27FC236}">
                <a16:creationId xmlns:a16="http://schemas.microsoft.com/office/drawing/2014/main" id="{340BECC2-090D-1540-83D4-72C270E0BF0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b="2978"/>
          <a:stretch/>
        </p:blipFill>
        <p:spPr>
          <a:xfrm>
            <a:off x="683461" y="3706880"/>
            <a:ext cx="6154931" cy="224247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5" name="图片 4" descr="PPT模板-16.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662" y="0"/>
            <a:ext cx="911933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3" name="图片 2" descr="PPT模板-1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122555" cy="6858000"/>
          </a:xfrm>
          <a:prstGeom prst="rect">
            <a:avLst/>
          </a:prstGeom>
        </p:spPr>
      </p:pic>
      <p:sp>
        <p:nvSpPr>
          <p:cNvPr id="4" name="日期占位符 3"/>
          <p:cNvSpPr>
            <a:spLocks noGrp="1"/>
          </p:cNvSpPr>
          <p:nvPr>
            <p:ph type="dt" sz="half" idx="10"/>
          </p:nvPr>
        </p:nvSpPr>
        <p:spPr>
          <a:xfrm>
            <a:off x="5652150" y="5877342"/>
            <a:ext cx="2133600" cy="365125"/>
          </a:xfrm>
        </p:spPr>
        <p:txBody>
          <a:bodyPr/>
          <a:lstStyle/>
          <a:p>
            <a:fld id="{D9DE98FE-917E-4DEF-80D6-9FEA7ECDC804}" type="datetime1">
              <a:rPr lang="zh-CN" altLang="en-US" smtClean="0"/>
              <a:pPr/>
              <a:t>2022/10/21</a:t>
            </a:fld>
            <a:endParaRPr lang="zh-CN" altLang="en-US"/>
          </a:p>
        </p:txBody>
      </p:sp>
      <p:sp>
        <p:nvSpPr>
          <p:cNvPr id="5" name="页脚占位符 4"/>
          <p:cNvSpPr>
            <a:spLocks noGrp="1"/>
          </p:cNvSpPr>
          <p:nvPr>
            <p:ph type="ftr" sz="quarter" idx="11"/>
          </p:nvPr>
        </p:nvSpPr>
        <p:spPr>
          <a:xfrm>
            <a:off x="3124200" y="6356352"/>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31260" y="6351981"/>
            <a:ext cx="621390" cy="365125"/>
          </a:xfrm>
        </p:spPr>
        <p:txBody>
          <a:bodyPr/>
          <a:lstStyle>
            <a:lvl1pPr>
              <a:defRPr sz="2000">
                <a:solidFill>
                  <a:srgbClr val="CD0A20"/>
                </a:solidFill>
              </a:defRPr>
            </a:lvl1pPr>
          </a:lstStyle>
          <a:p>
            <a:fld id="{4F48B3E8-95D7-4EDB-B09B-1EE74EE19A10}" type="slidenum">
              <a:rPr lang="zh-CN" altLang="en-US" smtClean="0"/>
              <a:pPr/>
              <a:t>‹#›</a:t>
            </a:fld>
            <a:endParaRPr lang="zh-CN" altLang="en-US" dirty="0"/>
          </a:p>
        </p:txBody>
      </p:sp>
      <p:sp>
        <p:nvSpPr>
          <p:cNvPr id="7" name="文本框 10"/>
          <p:cNvSpPr txBox="1"/>
          <p:nvPr userDrawn="1"/>
        </p:nvSpPr>
        <p:spPr>
          <a:xfrm>
            <a:off x="6253235" y="6309400"/>
            <a:ext cx="1800493" cy="253916"/>
          </a:xfrm>
          <a:prstGeom prst="rect">
            <a:avLst/>
          </a:prstGeom>
          <a:noFill/>
        </p:spPr>
        <p:txBody>
          <a:bodyPr wrap="none" rtlCol="0">
            <a:spAutoFit/>
          </a:bodyPr>
          <a:lstStyle/>
          <a:p>
            <a:r>
              <a:rPr kumimoji="1" lang="zh-CN" altLang="en-US" sz="1050" dirty="0">
                <a:latin typeface="方正兰亭中黑简体" panose="02000000000000000000" charset="-122"/>
                <a:ea typeface="方正兰亭中黑简体" panose="02000000000000000000" charset="-122"/>
                <a:cs typeface="HYDaSongJ"/>
              </a:rPr>
              <a:t>中国石油化工集团有限公司</a:t>
            </a:r>
          </a:p>
        </p:txBody>
      </p:sp>
      <p:sp>
        <p:nvSpPr>
          <p:cNvPr id="8" name="文本框 11"/>
          <p:cNvSpPr txBox="1"/>
          <p:nvPr userDrawn="1"/>
        </p:nvSpPr>
        <p:spPr>
          <a:xfrm>
            <a:off x="6522430" y="6470983"/>
            <a:ext cx="1263320" cy="184666"/>
          </a:xfrm>
          <a:prstGeom prst="rect">
            <a:avLst/>
          </a:prstGeom>
          <a:noFill/>
        </p:spPr>
        <p:txBody>
          <a:bodyPr wrap="square" rtlCol="0">
            <a:spAutoFit/>
          </a:bodyPr>
          <a:lstStyle/>
          <a:p>
            <a:r>
              <a:rPr kumimoji="1" lang="en-US" altLang="zh-CN" sz="600" b="1" kern="2200" spc="40" baseline="0" dirty="0">
                <a:latin typeface="Arial" panose="020B0604020202020204" pitchFamily="34" charset="0"/>
                <a:ea typeface="HYDaSongJ"/>
                <a:cs typeface="Arial" panose="020B0604020202020204" pitchFamily="34" charset="0"/>
              </a:rPr>
              <a:t>S</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I</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N</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O</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P</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E</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C</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 </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G</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R</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O</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U</a:t>
            </a:r>
            <a:r>
              <a:rPr kumimoji="1" lang="zh-CN" altLang="en-US" sz="600" b="1" kern="2200" spc="40" baseline="0" dirty="0">
                <a:latin typeface="Arial" panose="020B0604020202020204" pitchFamily="34" charset="0"/>
                <a:ea typeface="HYDaSongJ"/>
                <a:cs typeface="Arial" panose="020B0604020202020204" pitchFamily="34" charset="0"/>
              </a:rPr>
              <a:t> </a:t>
            </a:r>
            <a:r>
              <a:rPr kumimoji="1" lang="en-US" altLang="zh-CN" sz="600" b="1" kern="2200" spc="40" baseline="0" dirty="0">
                <a:latin typeface="Arial" panose="020B0604020202020204" pitchFamily="34" charset="0"/>
                <a:ea typeface="HYDaSongJ"/>
                <a:cs typeface="Arial" panose="020B0604020202020204" pitchFamily="34" charset="0"/>
              </a:rPr>
              <a:t>P</a:t>
            </a:r>
            <a:endParaRPr kumimoji="1" lang="zh-CN" altLang="en-US" sz="600" b="1" kern="2200" spc="40" baseline="0" dirty="0">
              <a:latin typeface="Arial" panose="020B0604020202020204" pitchFamily="34" charset="0"/>
              <a:ea typeface="HYDaSongJ"/>
              <a:cs typeface="Arial" panose="020B0604020202020204" pitchFamily="34" charset="0"/>
            </a:endParaRPr>
          </a:p>
        </p:txBody>
      </p:sp>
      <p:pic>
        <p:nvPicPr>
          <p:cNvPr id="11" name="Picture 2" descr="C:\Users\Administrator\Desktop\A1 品牌标识与冬奥会会徽组合-44.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13241" y="6093372"/>
            <a:ext cx="838649" cy="6845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 name="图片 1" descr="PPT模板-18.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662" y="8221"/>
            <a:ext cx="9119339"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BEF0377-DF0E-47B3-BC56-4DB1329F8C98}" type="datetime1">
              <a:rPr lang="zh-CN" altLang="en-US" smtClean="0"/>
              <a:pPr/>
              <a:t>2022/10/21</a:t>
            </a:fld>
            <a:endParaRPr lang="zh-CN" altLang="en-US"/>
          </a:p>
        </p:txBody>
      </p:sp>
      <p:sp>
        <p:nvSpPr>
          <p:cNvPr id="6" name="页脚占位符 5"/>
          <p:cNvSpPr>
            <a:spLocks noGrp="1"/>
          </p:cNvSpPr>
          <p:nvPr>
            <p:ph type="ftr" sz="quarter" idx="11"/>
          </p:nvPr>
        </p:nvSpPr>
        <p:spPr>
          <a:xfrm>
            <a:off x="3124200" y="6356352"/>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648543F-0C60-44B3-A633-5E12F1A07340}" type="datetime1">
              <a:rPr lang="zh-CN" altLang="en-US" smtClean="0"/>
              <a:pPr/>
              <a:t>2022/10/21</a:t>
            </a:fld>
            <a:endParaRPr lang="zh-CN" altLang="en-US"/>
          </a:p>
        </p:txBody>
      </p:sp>
      <p:sp>
        <p:nvSpPr>
          <p:cNvPr id="8" name="页脚占位符 7"/>
          <p:cNvSpPr>
            <a:spLocks noGrp="1"/>
          </p:cNvSpPr>
          <p:nvPr>
            <p:ph type="ftr" sz="quarter" idx="11"/>
          </p:nvPr>
        </p:nvSpPr>
        <p:spPr>
          <a:xfrm>
            <a:off x="3124200" y="6356352"/>
            <a:ext cx="2895600" cy="365125"/>
          </a:xfrm>
          <a:prstGeom prst="rect">
            <a:avLst/>
          </a:prstGeom>
        </p:spPr>
        <p:txBody>
          <a:bodyPr/>
          <a:lstStyle/>
          <a:p>
            <a:endParaRPr lang="zh-CN" altLang="en-US"/>
          </a:p>
        </p:txBody>
      </p:sp>
      <p:sp>
        <p:nvSpPr>
          <p:cNvPr id="9" name="灯片编号占位符 8"/>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F8744EB-236D-4CEC-8CCF-3647C654B7AC}" type="datetime1">
              <a:rPr lang="zh-CN" altLang="en-US" smtClean="0"/>
              <a:pPr/>
              <a:t>2022/10/21</a:t>
            </a:fld>
            <a:endParaRPr lang="zh-CN" altLang="en-US"/>
          </a:p>
        </p:txBody>
      </p:sp>
      <p:sp>
        <p:nvSpPr>
          <p:cNvPr id="4" name="页脚占位符 3"/>
          <p:cNvSpPr>
            <a:spLocks noGrp="1"/>
          </p:cNvSpPr>
          <p:nvPr>
            <p:ph type="ftr" sz="quarter" idx="11"/>
          </p:nvPr>
        </p:nvSpPr>
        <p:spPr>
          <a:xfrm>
            <a:off x="3124200" y="6356352"/>
            <a:ext cx="2895600" cy="365125"/>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1290B4D-FE33-4152-89F8-10EE53250383}" type="datetime1">
              <a:rPr lang="zh-CN" altLang="en-US" smtClean="0"/>
              <a:pPr/>
              <a:t>2022/10/21</a:t>
            </a:fld>
            <a:endParaRPr lang="zh-CN" altLang="en-US"/>
          </a:p>
        </p:txBody>
      </p:sp>
      <p:sp>
        <p:nvSpPr>
          <p:cNvPr id="3" name="页脚占位符 2"/>
          <p:cNvSpPr>
            <a:spLocks noGrp="1"/>
          </p:cNvSpPr>
          <p:nvPr>
            <p:ph type="ftr" sz="quarter" idx="11"/>
          </p:nvPr>
        </p:nvSpPr>
        <p:spPr>
          <a:xfrm>
            <a:off x="3124200" y="6356352"/>
            <a:ext cx="2895600" cy="365125"/>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9F7BB0E-5E8A-458E-9D67-07E799021852}" type="datetime1">
              <a:rPr lang="zh-CN" altLang="en-US" smtClean="0"/>
              <a:pPr/>
              <a:t>2022/10/21</a:t>
            </a:fld>
            <a:endParaRPr lang="zh-CN" altLang="en-US"/>
          </a:p>
        </p:txBody>
      </p:sp>
      <p:sp>
        <p:nvSpPr>
          <p:cNvPr id="6" name="页脚占位符 5"/>
          <p:cNvSpPr>
            <a:spLocks noGrp="1"/>
          </p:cNvSpPr>
          <p:nvPr>
            <p:ph type="ftr" sz="quarter" idx="11"/>
          </p:nvPr>
        </p:nvSpPr>
        <p:spPr>
          <a:xfrm>
            <a:off x="3124200" y="6356352"/>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BAAFE60-927C-4FBB-A527-1D5A7642DDB0}" type="datetime1">
              <a:rPr lang="zh-CN" altLang="en-US" smtClean="0"/>
              <a:pPr/>
              <a:t>2022/10/21</a:t>
            </a:fld>
            <a:endParaRPr lang="zh-CN" altLang="en-US"/>
          </a:p>
        </p:txBody>
      </p:sp>
      <p:sp>
        <p:nvSpPr>
          <p:cNvPr id="6" name="页脚占位符 5"/>
          <p:cNvSpPr>
            <a:spLocks noGrp="1"/>
          </p:cNvSpPr>
          <p:nvPr>
            <p:ph type="ftr" sz="quarter" idx="11"/>
          </p:nvPr>
        </p:nvSpPr>
        <p:spPr>
          <a:xfrm>
            <a:off x="3124200" y="6356352"/>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D5299CE-0B05-4333-902F-FD599EEBF97F}" type="datetime1">
              <a:rPr lang="zh-CN" altLang="en-US" smtClean="0"/>
              <a:pPr/>
              <a:t>2022/10/21</a:t>
            </a:fld>
            <a:endParaRPr lang="zh-CN" altLang="en-US"/>
          </a:p>
        </p:txBody>
      </p:sp>
      <p:sp>
        <p:nvSpPr>
          <p:cNvPr id="5" name="页脚占位符 4"/>
          <p:cNvSpPr>
            <a:spLocks noGrp="1"/>
          </p:cNvSpPr>
          <p:nvPr>
            <p:ph type="ftr" sz="quarter" idx="11"/>
          </p:nvPr>
        </p:nvSpPr>
        <p:spPr>
          <a:xfrm>
            <a:off x="3124200" y="6356352"/>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8D6A991-C272-49B5-9B60-CE6BEAFBD53D}" type="datetime1">
              <a:rPr lang="zh-CN" altLang="en-US" smtClean="0"/>
              <a:pPr/>
              <a:t>2022/10/21</a:t>
            </a:fld>
            <a:endParaRPr lang="zh-CN" altLang="en-US"/>
          </a:p>
        </p:txBody>
      </p:sp>
      <p:sp>
        <p:nvSpPr>
          <p:cNvPr id="5" name="页脚占位符 4"/>
          <p:cNvSpPr>
            <a:spLocks noGrp="1"/>
          </p:cNvSpPr>
          <p:nvPr>
            <p:ph type="ftr" sz="quarter" idx="11"/>
          </p:nvPr>
        </p:nvSpPr>
        <p:spPr>
          <a:xfrm>
            <a:off x="3124200" y="6356352"/>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0" y="1028733"/>
            <a:ext cx="8280000"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44913" y="107640"/>
            <a:ext cx="711547" cy="12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灯片编号占位符 5"/>
          <p:cNvSpPr>
            <a:spLocks noGrp="1"/>
          </p:cNvSpPr>
          <p:nvPr>
            <p:ph type="sldNum" sz="quarter" idx="12"/>
          </p:nvPr>
        </p:nvSpPr>
        <p:spPr>
          <a:xfrm>
            <a:off x="6457951" y="6356351"/>
            <a:ext cx="2057400" cy="365125"/>
          </a:xfrm>
          <a:prstGeom prst="rect">
            <a:avLst/>
          </a:prstGeom>
        </p:spPr>
        <p:txBody>
          <a:bodyPr lIns="68567" tIns="34284" rIns="68567" bIns="34284"/>
          <a:lstStyle>
            <a:lvl1pPr algn="r">
              <a:defRPr/>
            </a:lvl1pPr>
          </a:lstStyle>
          <a:p>
            <a:fld id="{0C913308-F349-4B6D-A68A-DD1791B4A57B}" type="slidenum">
              <a:rPr lang="zh-CN" altLang="en-US" smtClean="0"/>
              <a:t>‹#›</a:t>
            </a:fld>
            <a:endParaRPr lang="zh-CN" altLang="en-US"/>
          </a:p>
        </p:txBody>
      </p:sp>
      <p:sp>
        <p:nvSpPr>
          <p:cNvPr id="2" name="TextBox 1"/>
          <p:cNvSpPr txBox="1"/>
          <p:nvPr userDrawn="1"/>
        </p:nvSpPr>
        <p:spPr>
          <a:xfrm>
            <a:off x="611560" y="68637"/>
            <a:ext cx="320922" cy="646331"/>
          </a:xfrm>
          <a:prstGeom prst="rect">
            <a:avLst/>
          </a:prstGeom>
          <a:noFill/>
        </p:spPr>
        <p:txBody>
          <a:bodyPr wrap="none" rtlCol="0">
            <a:spAutoFit/>
          </a:bodyPr>
          <a:lstStyle/>
          <a:p>
            <a:r>
              <a:rPr lang="en-US" altLang="zh-CN" sz="3600" dirty="0">
                <a:latin typeface="微软雅黑" panose="020B0503020204020204" pitchFamily="34" charset="-122"/>
                <a:ea typeface="微软雅黑" panose="020B0503020204020204" pitchFamily="34" charset="-122"/>
              </a:rPr>
              <a:t> </a:t>
            </a:r>
            <a:endParaRPr lang="zh-CN" altLang="en-US" sz="3600" dirty="0">
              <a:latin typeface="微软雅黑" panose="020B0503020204020204" pitchFamily="34" charset="-122"/>
              <a:ea typeface="微软雅黑" panose="020B0503020204020204" pitchFamily="34" charset="-122"/>
            </a:endParaRPr>
          </a:p>
        </p:txBody>
      </p:sp>
      <p:sp>
        <p:nvSpPr>
          <p:cNvPr id="4" name="内容占位符 3"/>
          <p:cNvSpPr>
            <a:spLocks noGrp="1"/>
          </p:cNvSpPr>
          <p:nvPr>
            <p:ph sz="quarter" idx="13"/>
          </p:nvPr>
        </p:nvSpPr>
        <p:spPr>
          <a:xfrm>
            <a:off x="393301" y="1700808"/>
            <a:ext cx="7200900" cy="2784309"/>
          </a:xfrm>
          <a:prstGeom prst="rect">
            <a:avLst/>
          </a:prstGeom>
        </p:spPr>
        <p:txBody>
          <a:bodyPr/>
          <a:lstStyle>
            <a:lvl1pPr>
              <a:defRPr b="1">
                <a:solidFill>
                  <a:srgbClr val="002060"/>
                </a:solidFill>
                <a:latin typeface="微软雅黑" panose="020B0503020204020204" pitchFamily="34" charset="-122"/>
                <a:ea typeface="微软雅黑" panose="020B0503020204020204" pitchFamily="34" charset="-122"/>
              </a:defRPr>
            </a:lvl1pPr>
            <a:lvl2pPr>
              <a:defRPr b="1">
                <a:solidFill>
                  <a:srgbClr val="002060"/>
                </a:solidFill>
                <a:latin typeface="微软雅黑" panose="020B0503020204020204" pitchFamily="34" charset="-122"/>
                <a:ea typeface="微软雅黑" panose="020B0503020204020204" pitchFamily="34" charset="-122"/>
              </a:defRPr>
            </a:lvl2pPr>
            <a:lvl3pPr>
              <a:defRPr b="1">
                <a:solidFill>
                  <a:srgbClr val="002060"/>
                </a:solidFill>
                <a:latin typeface="微软雅黑" panose="020B0503020204020204" pitchFamily="34" charset="-122"/>
                <a:ea typeface="微软雅黑" panose="020B0503020204020204" pitchFamily="34" charset="-122"/>
              </a:defRPr>
            </a:lvl3pPr>
            <a:lvl4pPr>
              <a:defRPr b="1">
                <a:solidFill>
                  <a:srgbClr val="002060"/>
                </a:solidFill>
                <a:latin typeface="微软雅黑" panose="020B0503020204020204" pitchFamily="34" charset="-122"/>
                <a:ea typeface="微软雅黑" panose="020B0503020204020204" pitchFamily="34" charset="-122"/>
              </a:defRPr>
            </a:lvl4pPr>
            <a:lvl5pPr>
              <a:defRPr b="1">
                <a:solidFill>
                  <a:srgbClr val="002060"/>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标题 7"/>
          <p:cNvSpPr>
            <a:spLocks noGrp="1"/>
          </p:cNvSpPr>
          <p:nvPr>
            <p:ph type="title"/>
          </p:nvPr>
        </p:nvSpPr>
        <p:spPr>
          <a:xfrm>
            <a:off x="393301" y="307471"/>
            <a:ext cx="7886700" cy="690256"/>
          </a:xfrm>
          <a:prstGeom prst="rect">
            <a:avLst/>
          </a:prstGeom>
        </p:spPr>
        <p:txBody>
          <a:bodyPr/>
          <a:lstStyle>
            <a:lvl1pPr algn="l">
              <a:defRPr sz="3200" b="1">
                <a:solidFill>
                  <a:srgbClr val="C00000"/>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Tree>
    <p:extLst>
      <p:ext uri="{BB962C8B-B14F-4D97-AF65-F5344CB8AC3E}">
        <p14:creationId xmlns:p14="http://schemas.microsoft.com/office/powerpoint/2010/main" val="2884791951"/>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2468224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2119023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42885230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5037001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19307417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21134210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16190089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2059816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701192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39281411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9CF31EA-ABBE-4031-B9B9-88E43E651FB6}"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13091648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12480579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7299313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30153376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4516629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30640472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12850893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28671783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27866981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14769262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285600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4B16C4-E369-4C99-B117-F8536A7EC748}" type="datetimeFigureOut">
              <a:rPr lang="zh-CN" altLang="en-US" smtClean="0"/>
              <a:t>2022/10/21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1112017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5076070" y="6453422"/>
            <a:ext cx="2133600" cy="365125"/>
          </a:xfrm>
          <a:prstGeom prst="rect">
            <a:avLst/>
          </a:prstGeom>
        </p:spPr>
        <p:txBody>
          <a:bodyPr vert="horz" lIns="91440" tIns="45720" rIns="91440" bIns="45720" rtlCol="0" anchor="ctr"/>
          <a:lstStyle>
            <a:lvl1pPr algn="r">
              <a:defRPr sz="1200">
                <a:solidFill>
                  <a:schemeClr val="bg1"/>
                </a:solidFill>
              </a:defRPr>
            </a:lvl1pPr>
          </a:lstStyle>
          <a:p>
            <a:fld id="{AD46877C-BA73-4E2D-8C19-0AE6B66CA9A5}" type="datetime1">
              <a:rPr lang="zh-CN" altLang="en-US" smtClean="0"/>
              <a:pPr/>
              <a:t>2022/10/21</a:t>
            </a:fld>
            <a:endParaRPr lang="zh-CN" altLang="en-US" dirty="0"/>
          </a:p>
        </p:txBody>
      </p:sp>
      <p:sp>
        <p:nvSpPr>
          <p:cNvPr id="6" name="灯片编号占位符 5"/>
          <p:cNvSpPr>
            <a:spLocks noGrp="1"/>
          </p:cNvSpPr>
          <p:nvPr>
            <p:ph type="sldNum" sz="quarter" idx="4"/>
          </p:nvPr>
        </p:nvSpPr>
        <p:spPr>
          <a:xfrm>
            <a:off x="7911160" y="6453422"/>
            <a:ext cx="621390" cy="365125"/>
          </a:xfrm>
          <a:prstGeom prst="rect">
            <a:avLst/>
          </a:prstGeom>
        </p:spPr>
        <p:txBody>
          <a:bodyPr vert="horz" lIns="91440" tIns="45720" rIns="91440" bIns="45720" rtlCol="0" anchor="ctr"/>
          <a:lstStyle>
            <a:lvl1pPr algn="l">
              <a:defRPr sz="1200">
                <a:solidFill>
                  <a:schemeClr val="bg1"/>
                </a:solidFill>
              </a:defRPr>
            </a:lvl1pPr>
          </a:lstStyle>
          <a:p>
            <a:fld id="{4F48B3E8-95D7-4EDB-B09B-1EE74EE19A10}" type="slidenum">
              <a:rPr lang="zh-CN" altLang="en-US" smtClean="0"/>
              <a:pPr/>
              <a:t>‹#›</a:t>
            </a:fld>
            <a:r>
              <a:rPr lang="en-US" altLang="zh-CN" dirty="0"/>
              <a:t>5</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5" r:id="rId13"/>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CF31EA-ABBE-4031-B9B9-88E43E651FB6}" type="datetimeFigureOut">
              <a:rPr lang="zh-CN" altLang="en-US" smtClean="0"/>
              <a:t>2022/10/21</a:t>
            </a:fld>
            <a:endParaRPr lang="zh-CN" altLang="en-US"/>
          </a:p>
        </p:txBody>
      </p:sp>
      <p:sp>
        <p:nvSpPr>
          <p:cNvPr id="5" name="页脚占位符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5BF353-AFA2-4C35-8C1C-2889324F7DF1}" type="slidenum">
              <a:rPr lang="zh-CN" altLang="en-US" smtClean="0"/>
              <a:t>‹#›</a:t>
            </a:fld>
            <a:endParaRPr lang="zh-CN" altLang="en-US"/>
          </a:p>
        </p:txBody>
      </p:sp>
    </p:spTree>
    <p:extLst>
      <p:ext uri="{BB962C8B-B14F-4D97-AF65-F5344CB8AC3E}">
        <p14:creationId xmlns:p14="http://schemas.microsoft.com/office/powerpoint/2010/main" val="304725831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4B16C4-E369-4C99-B117-F8536A7EC748}" type="datetimeFigureOut">
              <a:rPr lang="zh-CN" altLang="en-US" smtClean="0"/>
              <a:t>2022/10/21</a:t>
            </a:fld>
            <a:endParaRPr lang="zh-CN" altLang="en-US"/>
          </a:p>
        </p:txBody>
      </p:sp>
      <p:sp>
        <p:nvSpPr>
          <p:cNvPr id="5" name="页脚占位符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4E3DCF-BEFA-481B-B0D8-DF42F2A1E303}" type="slidenum">
              <a:rPr lang="zh-CN" altLang="en-US" smtClean="0"/>
              <a:t>‹#›</a:t>
            </a:fld>
            <a:endParaRPr lang="zh-CN" altLang="en-US"/>
          </a:p>
        </p:txBody>
      </p:sp>
    </p:spTree>
    <p:extLst>
      <p:ext uri="{BB962C8B-B14F-4D97-AF65-F5344CB8AC3E}">
        <p14:creationId xmlns:p14="http://schemas.microsoft.com/office/powerpoint/2010/main" val="368516615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p:cNvSpPr txBox="1"/>
          <p:nvPr/>
        </p:nvSpPr>
        <p:spPr>
          <a:xfrm>
            <a:off x="1858032" y="1988994"/>
            <a:ext cx="3722108" cy="1323439"/>
          </a:xfrm>
          <a:prstGeom prst="rect">
            <a:avLst/>
          </a:prstGeom>
          <a:noFill/>
        </p:spPr>
        <p:txBody>
          <a:bodyPr wrap="square" rtlCol="0">
            <a:spAutoFit/>
          </a:bodyPr>
          <a:lstStyle/>
          <a:p>
            <a:pPr algn="ctr"/>
            <a:r>
              <a:rPr kumimoji="1" lang="zh-CN" altLang="en-US" sz="2000" b="1" dirty="0">
                <a:solidFill>
                  <a:srgbClr val="000000"/>
                </a:solidFill>
                <a:latin typeface="黑体" panose="02010609060101010101" pitchFamily="49" charset="-122"/>
                <a:ea typeface="黑体" panose="02010609060101010101" pitchFamily="49" charset="-122"/>
                <a:cs typeface="Heiti SC Light"/>
              </a:rPr>
              <a:t>汇报人：刘澳琦</a:t>
            </a:r>
            <a:endParaRPr kumimoji="1" lang="en-US" altLang="zh-CN" sz="2000" b="1" dirty="0">
              <a:solidFill>
                <a:srgbClr val="000000"/>
              </a:solidFill>
              <a:latin typeface="黑体" panose="02010609060101010101" pitchFamily="49" charset="-122"/>
              <a:ea typeface="黑体" panose="02010609060101010101" pitchFamily="49" charset="-122"/>
              <a:cs typeface="Heiti SC Light"/>
            </a:endParaRPr>
          </a:p>
          <a:p>
            <a:pPr algn="dist"/>
            <a:r>
              <a:rPr kumimoji="1" lang="zh-CN" altLang="en-US" sz="2000" b="1" dirty="0">
                <a:solidFill>
                  <a:srgbClr val="000000"/>
                </a:solidFill>
                <a:latin typeface="黑体" panose="02010609060101010101" pitchFamily="49" charset="-122"/>
                <a:ea typeface="黑体" panose="02010609060101010101" pitchFamily="49" charset="-122"/>
                <a:cs typeface="Heiti SC Light"/>
              </a:rPr>
              <a:t>指导教师：李强 正高级工程师</a:t>
            </a:r>
            <a:endParaRPr kumimoji="1" lang="en-US" altLang="zh-CN" sz="2000" b="1" dirty="0">
              <a:solidFill>
                <a:srgbClr val="000000"/>
              </a:solidFill>
              <a:latin typeface="黑体" panose="02010609060101010101" pitchFamily="49" charset="-122"/>
              <a:ea typeface="黑体" panose="02010609060101010101" pitchFamily="49" charset="-122"/>
              <a:cs typeface="Heiti SC Light"/>
            </a:endParaRPr>
          </a:p>
          <a:p>
            <a:pPr algn="dist"/>
            <a:r>
              <a:rPr kumimoji="1" lang="zh-CN" altLang="en-US" sz="2000" b="1" dirty="0">
                <a:solidFill>
                  <a:srgbClr val="000000"/>
                </a:solidFill>
                <a:latin typeface="黑体" panose="02010609060101010101" pitchFamily="49" charset="-122"/>
                <a:ea typeface="黑体" panose="02010609060101010101" pitchFamily="49" charset="-122"/>
                <a:cs typeface="Heiti SC Light"/>
              </a:rPr>
              <a:t>协助教师：师丽 工程师</a:t>
            </a:r>
            <a:endParaRPr kumimoji="1" lang="en-US" altLang="zh-CN" sz="2000" b="1" dirty="0">
              <a:solidFill>
                <a:srgbClr val="000000"/>
              </a:solidFill>
              <a:latin typeface="黑体" panose="02010609060101010101" pitchFamily="49" charset="-122"/>
              <a:ea typeface="黑体" panose="02010609060101010101" pitchFamily="49" charset="-122"/>
              <a:cs typeface="Heiti SC Light"/>
            </a:endParaRPr>
          </a:p>
          <a:p>
            <a:pPr algn="ctr"/>
            <a:r>
              <a:rPr kumimoji="1" lang="en-US" altLang="zh-CN" sz="2000" b="1" dirty="0">
                <a:solidFill>
                  <a:srgbClr val="000000"/>
                </a:solidFill>
                <a:latin typeface="黑体" panose="02010609060101010101" pitchFamily="49" charset="-122"/>
                <a:ea typeface="黑体" panose="02010609060101010101" pitchFamily="49" charset="-122"/>
                <a:cs typeface="Heiti SC Light"/>
              </a:rPr>
              <a:t>2022</a:t>
            </a:r>
            <a:r>
              <a:rPr kumimoji="1" lang="zh-CN" altLang="en-US" sz="2000" b="1" dirty="0">
                <a:solidFill>
                  <a:srgbClr val="000000"/>
                </a:solidFill>
                <a:latin typeface="黑体" panose="02010609060101010101" pitchFamily="49" charset="-122"/>
                <a:ea typeface="黑体" panose="02010609060101010101" pitchFamily="49" charset="-122"/>
                <a:cs typeface="Heiti SC Light"/>
              </a:rPr>
              <a:t>年</a:t>
            </a:r>
            <a:r>
              <a:rPr kumimoji="1" lang="en-US" altLang="zh-CN" sz="2000" b="1" dirty="0">
                <a:solidFill>
                  <a:srgbClr val="000000"/>
                </a:solidFill>
                <a:latin typeface="黑体" panose="02010609060101010101" pitchFamily="49" charset="-122"/>
                <a:ea typeface="黑体" panose="02010609060101010101" pitchFamily="49" charset="-122"/>
                <a:cs typeface="Heiti SC Light"/>
              </a:rPr>
              <a:t>10</a:t>
            </a:r>
            <a:r>
              <a:rPr kumimoji="1" lang="zh-CN" altLang="en-US" sz="2000" b="1" dirty="0">
                <a:solidFill>
                  <a:srgbClr val="000000"/>
                </a:solidFill>
                <a:latin typeface="黑体" panose="02010609060101010101" pitchFamily="49" charset="-122"/>
                <a:ea typeface="黑体" panose="02010609060101010101" pitchFamily="49" charset="-122"/>
                <a:cs typeface="Heiti SC Light"/>
              </a:rPr>
              <a:t>月</a:t>
            </a:r>
            <a:r>
              <a:rPr kumimoji="1" lang="en-US" altLang="zh-CN" sz="2000" b="1" dirty="0">
                <a:solidFill>
                  <a:srgbClr val="000000"/>
                </a:solidFill>
                <a:latin typeface="黑体" panose="02010609060101010101" pitchFamily="49" charset="-122"/>
                <a:ea typeface="黑体" panose="02010609060101010101" pitchFamily="49" charset="-122"/>
                <a:cs typeface="Heiti SC Light"/>
              </a:rPr>
              <a:t>21</a:t>
            </a:r>
            <a:r>
              <a:rPr kumimoji="1" lang="zh-CN" altLang="en-US" sz="2000" b="1" dirty="0">
                <a:solidFill>
                  <a:srgbClr val="000000"/>
                </a:solidFill>
                <a:latin typeface="黑体" panose="02010609060101010101" pitchFamily="49" charset="-122"/>
                <a:ea typeface="黑体" panose="02010609060101010101" pitchFamily="49" charset="-122"/>
                <a:cs typeface="Heiti SC Light"/>
              </a:rPr>
              <a:t>日</a:t>
            </a:r>
          </a:p>
        </p:txBody>
      </p:sp>
      <p:sp>
        <p:nvSpPr>
          <p:cNvPr id="28" name="文本框 27"/>
          <p:cNvSpPr txBox="1"/>
          <p:nvPr/>
        </p:nvSpPr>
        <p:spPr>
          <a:xfrm>
            <a:off x="611450" y="6092277"/>
            <a:ext cx="2339102" cy="307777"/>
          </a:xfrm>
          <a:prstGeom prst="rect">
            <a:avLst/>
          </a:prstGeom>
          <a:noFill/>
        </p:spPr>
        <p:txBody>
          <a:bodyPr wrap="none" rtlCol="0">
            <a:spAutoFit/>
          </a:bodyPr>
          <a:lstStyle/>
          <a:p>
            <a:r>
              <a:rPr kumimoji="1" lang="zh-CN" altLang="en-US" sz="1400" dirty="0">
                <a:solidFill>
                  <a:srgbClr val="0D0D0D"/>
                </a:solidFill>
                <a:latin typeface="方正兰亭中黑简体" panose="02000000000000000000" charset="-122"/>
                <a:ea typeface="方正兰亭中黑简体" panose="02000000000000000000" charset="-122"/>
                <a:cs typeface="HYDaSongJ"/>
              </a:rPr>
              <a:t>中国石油化工集团有限公司</a:t>
            </a:r>
          </a:p>
        </p:txBody>
      </p:sp>
      <p:sp>
        <p:nvSpPr>
          <p:cNvPr id="29" name="文本框 28"/>
          <p:cNvSpPr txBox="1"/>
          <p:nvPr/>
        </p:nvSpPr>
        <p:spPr>
          <a:xfrm>
            <a:off x="971500" y="6317643"/>
            <a:ext cx="1576410" cy="215444"/>
          </a:xfrm>
          <a:prstGeom prst="rect">
            <a:avLst/>
          </a:prstGeom>
          <a:noFill/>
        </p:spPr>
        <p:txBody>
          <a:bodyPr wrap="square" rtlCol="0">
            <a:spAutoFit/>
          </a:bodyPr>
          <a:lstStyle/>
          <a:p>
            <a:r>
              <a:rPr kumimoji="1" lang="en-US" altLang="zh-CN" sz="800" b="1" kern="2200" spc="40" dirty="0">
                <a:solidFill>
                  <a:schemeClr val="tx1">
                    <a:lumMod val="95000"/>
                    <a:lumOff val="5000"/>
                  </a:schemeClr>
                </a:solidFill>
                <a:latin typeface="Arial" panose="020B0604020202020204"/>
                <a:ea typeface="HYDaSongJ"/>
                <a:cs typeface="Arial" panose="020B0604020202020204"/>
              </a:rPr>
              <a:t>S</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I</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N</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O</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P</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E</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C</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 G</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R</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O</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U</a:t>
            </a:r>
            <a:r>
              <a:rPr kumimoji="1" lang="zh-CN" altLang="en-US" sz="800" b="1" kern="2200" spc="40" dirty="0">
                <a:solidFill>
                  <a:schemeClr val="tx1">
                    <a:lumMod val="95000"/>
                    <a:lumOff val="5000"/>
                  </a:schemeClr>
                </a:solidFill>
                <a:latin typeface="Arial" panose="020B0604020202020204"/>
                <a:ea typeface="HYDaSongJ"/>
                <a:cs typeface="Arial" panose="020B0604020202020204"/>
              </a:rPr>
              <a:t> </a:t>
            </a:r>
            <a:r>
              <a:rPr kumimoji="1" lang="en-US" altLang="zh-CN" sz="800" b="1" kern="2200" spc="40" dirty="0">
                <a:solidFill>
                  <a:schemeClr val="tx1">
                    <a:lumMod val="95000"/>
                    <a:lumOff val="5000"/>
                  </a:schemeClr>
                </a:solidFill>
                <a:latin typeface="Arial" panose="020B0604020202020204"/>
                <a:ea typeface="HYDaSongJ"/>
                <a:cs typeface="Arial" panose="020B0604020202020204"/>
              </a:rPr>
              <a:t>P</a:t>
            </a:r>
            <a:endParaRPr kumimoji="1" lang="zh-CN" altLang="en-US" sz="800" b="1" kern="2200" spc="40" dirty="0">
              <a:solidFill>
                <a:schemeClr val="tx1">
                  <a:lumMod val="95000"/>
                  <a:lumOff val="5000"/>
                </a:schemeClr>
              </a:solidFill>
              <a:latin typeface="Arial" panose="020B0604020202020204"/>
              <a:ea typeface="HYDaSongJ"/>
              <a:cs typeface="Arial" panose="020B0604020202020204"/>
            </a:endParaRPr>
          </a:p>
        </p:txBody>
      </p:sp>
      <p:pic>
        <p:nvPicPr>
          <p:cNvPr id="14" name="Picture 3" descr="C:\Users\Administrator\Desktop\A1 品牌标识与冬奥会会徽组合-4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1130" y="232547"/>
            <a:ext cx="2043317" cy="1673516"/>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5324C956-153E-D84C-A130-10568D971FC0}"/>
              </a:ext>
            </a:extLst>
          </p:cNvPr>
          <p:cNvSpPr txBox="1"/>
          <p:nvPr/>
        </p:nvSpPr>
        <p:spPr>
          <a:xfrm>
            <a:off x="618657" y="478788"/>
            <a:ext cx="5904820" cy="1200329"/>
          </a:xfrm>
          <a:prstGeom prst="rect">
            <a:avLst/>
          </a:prstGeom>
          <a:noFill/>
        </p:spPr>
        <p:txBody>
          <a:bodyPr wrap="square" rtlCol="0">
            <a:spAutoFit/>
          </a:bodyPr>
          <a:lstStyle/>
          <a:p>
            <a:pPr algn="ctr"/>
            <a:r>
              <a:rPr kumimoji="1" lang="zh-CN" altLang="en-US" sz="3600" b="1" dirty="0">
                <a:solidFill>
                  <a:srgbClr val="CD0A20"/>
                </a:solidFill>
                <a:latin typeface="黑体" panose="02010609060101010101" pitchFamily="49" charset="-122"/>
                <a:ea typeface="黑体" panose="02010609060101010101" pitchFamily="49" charset="-122"/>
                <a:cs typeface="思源黑体 CN Medium" panose="020B0600000000000000" charset="-122"/>
              </a:rPr>
              <a:t>芳烃抽提精馏的隔壁塔设计及控制研究</a:t>
            </a:r>
            <a:endParaRPr kumimoji="1" lang="en-US" altLang="zh-CN" sz="2500" b="1" dirty="0">
              <a:solidFill>
                <a:schemeClr val="bg1">
                  <a:lumMod val="50000"/>
                </a:schemeClr>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92352" y="1772770"/>
            <a:ext cx="1827143" cy="584776"/>
          </a:xfrm>
          <a:prstGeom prst="rect">
            <a:avLst/>
          </a:prstGeom>
        </p:spPr>
        <p:txBody>
          <a:bodyPr wrap="none">
            <a:spAutoFit/>
          </a:bodyPr>
          <a:lstStyle/>
          <a:p>
            <a:r>
              <a:rPr lang="en-US" altLang="zh-CN" sz="3200" dirty="0">
                <a:solidFill>
                  <a:schemeClr val="bg1"/>
                </a:solidFill>
                <a:latin typeface="Arial" panose="020B0604020202020204"/>
                <a:cs typeface="Arial" panose="020B0604020202020204"/>
              </a:rPr>
              <a:t>Contents</a:t>
            </a:r>
            <a:endParaRPr lang="zh-CN" altLang="en-US" sz="3200" dirty="0">
              <a:solidFill>
                <a:schemeClr val="bg1"/>
              </a:solidFill>
              <a:latin typeface="Arial" panose="020B0604020202020204"/>
              <a:cs typeface="Arial" panose="020B0604020202020204"/>
            </a:endParaRPr>
          </a:p>
        </p:txBody>
      </p:sp>
      <p:sp>
        <p:nvSpPr>
          <p:cNvPr id="3" name="矩形 2"/>
          <p:cNvSpPr/>
          <p:nvPr/>
        </p:nvSpPr>
        <p:spPr>
          <a:xfrm>
            <a:off x="7084373" y="2249460"/>
            <a:ext cx="891591" cy="461665"/>
          </a:xfrm>
          <a:prstGeom prst="rect">
            <a:avLst/>
          </a:prstGeom>
        </p:spPr>
        <p:txBody>
          <a:bodyPr wrap="none">
            <a:spAutoFit/>
          </a:bodyPr>
          <a:lstStyle/>
          <a:p>
            <a:r>
              <a:rPr lang="zh-CN" altLang="en-US" sz="2400" dirty="0">
                <a:solidFill>
                  <a:srgbClr val="FFFFFF"/>
                </a:solidFill>
                <a:latin typeface="方正兰亭中黑简体" panose="02000000000000000000" charset="-122"/>
                <a:ea typeface="方正兰亭中黑简体" panose="02000000000000000000" charset="-122"/>
              </a:rPr>
              <a:t>目 录</a:t>
            </a:r>
          </a:p>
        </p:txBody>
      </p:sp>
      <p:sp>
        <p:nvSpPr>
          <p:cNvPr id="4" name="矩形 3"/>
          <p:cNvSpPr/>
          <p:nvPr/>
        </p:nvSpPr>
        <p:spPr>
          <a:xfrm>
            <a:off x="1115520" y="1754451"/>
            <a:ext cx="5400750" cy="3592587"/>
          </a:xfrm>
          <a:prstGeom prst="rect">
            <a:avLst/>
          </a:prstGeom>
        </p:spPr>
        <p:txBody>
          <a:bodyPr wrap="square">
            <a:spAutoFit/>
          </a:bodyPr>
          <a:lstStyle/>
          <a:p>
            <a:pPr marL="257175" indent="-257175" defTabSz="685800">
              <a:lnSpc>
                <a:spcPct val="150000"/>
              </a:lnSpc>
              <a:spcBef>
                <a:spcPct val="20000"/>
              </a:spcBef>
              <a:buFont typeface="Arial" panose="020B0604020202020204" pitchFamily="34" charset="0"/>
              <a:buChar char="•"/>
            </a:pPr>
            <a:r>
              <a:rPr lang="zh-CN" altLang="en-US" sz="2800" b="1" dirty="0">
                <a:solidFill>
                  <a:srgbClr val="C00000"/>
                </a:solidFill>
                <a:latin typeface="微软雅黑" panose="020B0503020204020204" pitchFamily="34" charset="-122"/>
                <a:ea typeface="微软雅黑" panose="020B0503020204020204" pitchFamily="34" charset="-122"/>
              </a:rPr>
              <a:t>一、研究背景</a:t>
            </a:r>
            <a:endParaRPr lang="en-US" altLang="zh-CN" sz="2800" b="1" dirty="0">
              <a:solidFill>
                <a:srgbClr val="C00000"/>
              </a:solidFill>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二、文献综述</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三、研究思路</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四、研究方案</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五、研究进度</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defTabSz="685800"/>
            <a:r>
              <a:rPr lang="zh-CN" altLang="en-US" sz="2400" b="1" dirty="0">
                <a:solidFill>
                  <a:srgbClr val="C00000"/>
                </a:solidFill>
                <a:latin typeface="微软雅黑" panose="020B0503020204020204" pitchFamily="34" charset="-122"/>
                <a:ea typeface="微软雅黑" panose="020B0503020204020204" pitchFamily="34" charset="-122"/>
              </a:rPr>
              <a:t>研究背景</a:t>
            </a:r>
          </a:p>
        </p:txBody>
      </p:sp>
      <p:graphicFrame>
        <p:nvGraphicFramePr>
          <p:cNvPr id="4" name="内容占位符 3">
            <a:extLst>
              <a:ext uri="{FF2B5EF4-FFF2-40B4-BE49-F238E27FC236}">
                <a16:creationId xmlns:a16="http://schemas.microsoft.com/office/drawing/2014/main" id="{3776306A-70A2-4F60-48CD-E0B5B3431863}"/>
              </a:ext>
            </a:extLst>
          </p:cNvPr>
          <p:cNvGraphicFramePr>
            <a:graphicFrameLocks noGrp="1"/>
          </p:cNvGraphicFramePr>
          <p:nvPr>
            <p:ph idx="4294967295"/>
            <p:extLst>
              <p:ext uri="{D42A27DB-BD31-4B8C-83A1-F6EECF244321}">
                <p14:modId xmlns:p14="http://schemas.microsoft.com/office/powerpoint/2010/main" val="1463380304"/>
              </p:ext>
            </p:extLst>
          </p:nvPr>
        </p:nvGraphicFramePr>
        <p:xfrm>
          <a:off x="4535762" y="1707282"/>
          <a:ext cx="4284827" cy="34434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3</a:t>
            </a:fld>
            <a:endParaRPr lang="zh-CN" altLang="en-US" dirty="0">
              <a:solidFill>
                <a:srgbClr val="FFFFFF"/>
              </a:solidFill>
              <a:latin typeface="Arial" panose="020B0604020202020204" pitchFamily="34" charset="0"/>
              <a:cs typeface="Arial" panose="020B0604020202020204" pitchFamily="34" charset="0"/>
            </a:endParaRPr>
          </a:p>
        </p:txBody>
      </p:sp>
      <p:pic>
        <p:nvPicPr>
          <p:cNvPr id="3" name="图片 2">
            <a:extLst>
              <a:ext uri="{FF2B5EF4-FFF2-40B4-BE49-F238E27FC236}">
                <a16:creationId xmlns:a16="http://schemas.microsoft.com/office/drawing/2014/main" id="{FEC9FCA7-EF7E-8461-42BD-486167DF2E0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3410" y="1819548"/>
            <a:ext cx="3713694" cy="34434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defTabSz="685800"/>
            <a:r>
              <a:rPr lang="zh-CN" altLang="en-US" sz="2400" b="1" dirty="0">
                <a:solidFill>
                  <a:srgbClr val="C00000"/>
                </a:solidFill>
                <a:latin typeface="微软雅黑" panose="020B0503020204020204" pitchFamily="34" charset="-122"/>
                <a:ea typeface="微软雅黑" panose="020B0503020204020204" pitchFamily="34" charset="-122"/>
              </a:rPr>
              <a:t>研究背景</a:t>
            </a:r>
            <a:r>
              <a:rPr lang="en-US" altLang="zh-CN" sz="2400" b="1" dirty="0">
                <a:solidFill>
                  <a:srgbClr val="C00000"/>
                </a:solidFill>
                <a:latin typeface="微软雅黑" panose="020B0503020204020204" pitchFamily="34" charset="-122"/>
                <a:ea typeface="微软雅黑" panose="020B0503020204020204" pitchFamily="34" charset="-122"/>
              </a:rPr>
              <a:t>-DWC</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4</a:t>
            </a:fld>
            <a:endParaRPr lang="zh-CN" altLang="en-US" dirty="0">
              <a:solidFill>
                <a:srgbClr val="FFFFFF"/>
              </a:solidFill>
              <a:latin typeface="Arial" panose="020B0604020202020204" pitchFamily="34" charset="0"/>
              <a:cs typeface="Arial" panose="020B0604020202020204" pitchFamily="34" charset="0"/>
            </a:endParaRPr>
          </a:p>
        </p:txBody>
      </p:sp>
      <p:sp>
        <p:nvSpPr>
          <p:cNvPr id="3" name="矩形: 圆角 2">
            <a:extLst>
              <a:ext uri="{FF2B5EF4-FFF2-40B4-BE49-F238E27FC236}">
                <a16:creationId xmlns:a16="http://schemas.microsoft.com/office/drawing/2014/main" id="{0E29AEC0-9E98-796A-0258-2CCF0DDE58CF}"/>
              </a:ext>
            </a:extLst>
          </p:cNvPr>
          <p:cNvSpPr/>
          <p:nvPr/>
        </p:nvSpPr>
        <p:spPr>
          <a:xfrm>
            <a:off x="3788355" y="557955"/>
            <a:ext cx="4220466" cy="834226"/>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1DEB16A3-CE23-5FF9-1339-20AC3EAC285B}"/>
              </a:ext>
            </a:extLst>
          </p:cNvPr>
          <p:cNvSpPr txBox="1"/>
          <p:nvPr/>
        </p:nvSpPr>
        <p:spPr>
          <a:xfrm>
            <a:off x="3956279" y="651902"/>
            <a:ext cx="3816530" cy="646331"/>
          </a:xfrm>
          <a:prstGeom prst="rect">
            <a:avLst/>
          </a:prstGeom>
          <a:noFill/>
        </p:spPr>
        <p:txBody>
          <a:bodyPr wrap="square">
            <a:spAutoFit/>
          </a:bodyPr>
          <a:lstStyle/>
          <a:p>
            <a:pPr algn="just"/>
            <a:r>
              <a:rPr lang="zh-CN" altLang="en-US" b="1" dirty="0">
                <a:solidFill>
                  <a:schemeClr val="bg1"/>
                </a:solidFill>
              </a:rPr>
              <a:t>研究结果表明</a:t>
            </a:r>
            <a:r>
              <a:rPr lang="en-US" altLang="zh-CN" b="1" dirty="0">
                <a:solidFill>
                  <a:schemeClr val="bg1"/>
                </a:solidFill>
              </a:rPr>
              <a:t>:</a:t>
            </a:r>
            <a:r>
              <a:rPr lang="zh-CN" altLang="en-US" b="1" dirty="0">
                <a:solidFill>
                  <a:schemeClr val="bg1"/>
                </a:solidFill>
              </a:rPr>
              <a:t> 隔壁塔可节约能耗 </a:t>
            </a:r>
            <a:r>
              <a:rPr lang="en-US" altLang="zh-CN" b="1" dirty="0">
                <a:solidFill>
                  <a:schemeClr val="bg1"/>
                </a:solidFill>
              </a:rPr>
              <a:t>10%~60%</a:t>
            </a:r>
            <a:r>
              <a:rPr lang="zh-CN" altLang="en-US" b="1" dirty="0">
                <a:solidFill>
                  <a:schemeClr val="bg1"/>
                </a:solidFill>
              </a:rPr>
              <a:t>，节省设备投资 </a:t>
            </a:r>
            <a:r>
              <a:rPr lang="en-US" altLang="zh-CN" b="1" dirty="0">
                <a:solidFill>
                  <a:schemeClr val="bg1"/>
                </a:solidFill>
              </a:rPr>
              <a:t>10%~50%</a:t>
            </a:r>
            <a:endParaRPr lang="zh-CN" altLang="en-US" b="1" dirty="0">
              <a:solidFill>
                <a:schemeClr val="bg1"/>
              </a:solidFill>
            </a:endParaRPr>
          </a:p>
        </p:txBody>
      </p:sp>
      <p:pic>
        <p:nvPicPr>
          <p:cNvPr id="5" name="图片 4">
            <a:extLst>
              <a:ext uri="{FF2B5EF4-FFF2-40B4-BE49-F238E27FC236}">
                <a16:creationId xmlns:a16="http://schemas.microsoft.com/office/drawing/2014/main" id="{714BC443-DB42-5F2A-738D-3C79B4B15BE4}"/>
              </a:ext>
            </a:extLst>
          </p:cNvPr>
          <p:cNvPicPr>
            <a:picLocks noChangeAspect="1"/>
          </p:cNvPicPr>
          <p:nvPr/>
        </p:nvPicPr>
        <p:blipFill>
          <a:blip r:embed="rId3">
            <a:clrChange>
              <a:clrFrom>
                <a:srgbClr val="CBEDFF"/>
              </a:clrFrom>
              <a:clrTo>
                <a:srgbClr val="CBEDFF">
                  <a:alpha val="0"/>
                </a:srgbClr>
              </a:clrTo>
            </a:clrChange>
          </a:blip>
          <a:stretch>
            <a:fillRect/>
          </a:stretch>
        </p:blipFill>
        <p:spPr>
          <a:xfrm>
            <a:off x="971500" y="1535904"/>
            <a:ext cx="7529212" cy="4092295"/>
          </a:xfrm>
          <a:prstGeom prst="rect">
            <a:avLst/>
          </a:prstGeom>
        </p:spPr>
      </p:pic>
    </p:spTree>
    <p:extLst>
      <p:ext uri="{BB962C8B-B14F-4D97-AF65-F5344CB8AC3E}">
        <p14:creationId xmlns:p14="http://schemas.microsoft.com/office/powerpoint/2010/main" val="3162801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研究背景</a:t>
            </a:r>
            <a:r>
              <a:rPr lang="en-US" altLang="zh-CN" sz="2400" b="1" dirty="0">
                <a:solidFill>
                  <a:srgbClr val="C00000"/>
                </a:solidFill>
                <a:latin typeface="微软雅黑" panose="020B0503020204020204" pitchFamily="34" charset="-122"/>
                <a:ea typeface="微软雅黑" panose="020B0503020204020204" pitchFamily="34" charset="-122"/>
              </a:rPr>
              <a:t>-DWC</a:t>
            </a:r>
            <a:r>
              <a:rPr lang="zh-CN" altLang="en-US" sz="2400" b="1" dirty="0">
                <a:solidFill>
                  <a:srgbClr val="C00000"/>
                </a:solidFill>
                <a:latin typeface="微软雅黑" panose="020B0503020204020204" pitchFamily="34" charset="-122"/>
                <a:ea typeface="微软雅黑" panose="020B0503020204020204" pitchFamily="34" charset="-122"/>
              </a:rPr>
              <a:t>的类型</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5</a:t>
            </a:fld>
            <a:endParaRPr lang="zh-CN" altLang="en-US" dirty="0">
              <a:solidFill>
                <a:srgbClr val="FFFFFF"/>
              </a:solidFill>
              <a:latin typeface="Arial" panose="020B0604020202020204" pitchFamily="34" charset="0"/>
              <a:cs typeface="Arial" panose="020B0604020202020204" pitchFamily="34" charset="0"/>
            </a:endParaRPr>
          </a:p>
        </p:txBody>
      </p:sp>
      <p:pic>
        <p:nvPicPr>
          <p:cNvPr id="4" name="内容占位符 3">
            <a:extLst>
              <a:ext uri="{FF2B5EF4-FFF2-40B4-BE49-F238E27FC236}">
                <a16:creationId xmlns:a16="http://schemas.microsoft.com/office/drawing/2014/main" id="{A1BD8D55-525E-8F30-2578-DA9E6F6B15AF}"/>
              </a:ext>
            </a:extLst>
          </p:cNvPr>
          <p:cNvPicPr>
            <a:picLocks noGrp="1"/>
          </p:cNvPicPr>
          <p:nvPr>
            <p:ph idx="4294967295"/>
          </p:nvPr>
        </p:nvPicPr>
        <p:blipFill>
          <a:blip r:embed="rId3"/>
          <a:srcRect l="15590" t="3310" r="26652" b="4176"/>
          <a:stretch>
            <a:fillRect/>
          </a:stretch>
        </p:blipFill>
        <p:spPr>
          <a:xfrm>
            <a:off x="879506" y="1373104"/>
            <a:ext cx="2160000" cy="3544197"/>
          </a:xfrm>
          <a:prstGeom prst="rect">
            <a:avLst/>
          </a:prstGeom>
          <a:ln>
            <a:noFill/>
          </a:ln>
        </p:spPr>
      </p:pic>
      <p:pic>
        <p:nvPicPr>
          <p:cNvPr id="5" name="图片 4">
            <a:extLst>
              <a:ext uri="{FF2B5EF4-FFF2-40B4-BE49-F238E27FC236}">
                <a16:creationId xmlns:a16="http://schemas.microsoft.com/office/drawing/2014/main" id="{0B205A76-A180-A627-68CE-4B88E80520D9}"/>
              </a:ext>
            </a:extLst>
          </p:cNvPr>
          <p:cNvPicPr>
            <a:picLocks noChangeAspect="1"/>
          </p:cNvPicPr>
          <p:nvPr/>
        </p:nvPicPr>
        <p:blipFill>
          <a:blip r:embed="rId4"/>
          <a:srcRect l="8767" t="2826" r="15616" b="2576"/>
          <a:stretch>
            <a:fillRect/>
          </a:stretch>
        </p:blipFill>
        <p:spPr>
          <a:xfrm>
            <a:off x="3334911" y="1373103"/>
            <a:ext cx="2578877" cy="3544197"/>
          </a:xfrm>
          <a:prstGeom prst="rect">
            <a:avLst/>
          </a:prstGeom>
          <a:ln>
            <a:noFill/>
          </a:ln>
        </p:spPr>
      </p:pic>
      <p:pic>
        <p:nvPicPr>
          <p:cNvPr id="6" name="图片 5">
            <a:extLst>
              <a:ext uri="{FF2B5EF4-FFF2-40B4-BE49-F238E27FC236}">
                <a16:creationId xmlns:a16="http://schemas.microsoft.com/office/drawing/2014/main" id="{07DA9AAF-CC6F-38F9-0A09-705A819E9E46}"/>
              </a:ext>
            </a:extLst>
          </p:cNvPr>
          <p:cNvPicPr>
            <a:picLocks/>
          </p:cNvPicPr>
          <p:nvPr/>
        </p:nvPicPr>
        <p:blipFill>
          <a:blip r:embed="rId5"/>
          <a:srcRect l="12489" t="2711" r="14233" b="1436"/>
          <a:stretch>
            <a:fillRect/>
          </a:stretch>
        </p:blipFill>
        <p:spPr>
          <a:xfrm>
            <a:off x="6209193" y="1373104"/>
            <a:ext cx="2160000" cy="3544197"/>
          </a:xfrm>
          <a:prstGeom prst="rect">
            <a:avLst/>
          </a:prstGeom>
          <a:ln>
            <a:noFill/>
          </a:ln>
        </p:spPr>
      </p:pic>
      <p:sp>
        <p:nvSpPr>
          <p:cNvPr id="7" name="文本框 6">
            <a:extLst>
              <a:ext uri="{FF2B5EF4-FFF2-40B4-BE49-F238E27FC236}">
                <a16:creationId xmlns:a16="http://schemas.microsoft.com/office/drawing/2014/main" id="{2FB41BC6-E762-F270-6057-6384DB8B2689}"/>
              </a:ext>
            </a:extLst>
          </p:cNvPr>
          <p:cNvSpPr txBox="1"/>
          <p:nvPr/>
        </p:nvSpPr>
        <p:spPr>
          <a:xfrm>
            <a:off x="2663735" y="5229250"/>
            <a:ext cx="3816530" cy="369332"/>
          </a:xfrm>
          <a:prstGeom prst="rect">
            <a:avLst/>
          </a:prstGeom>
          <a:noFill/>
        </p:spPr>
        <p:txBody>
          <a:bodyPr wrap="square" rtlCol="0" anchor="ctr">
            <a:spAutoFit/>
          </a:bodyPr>
          <a:lstStyle/>
          <a:p>
            <a:pPr algn="ctr"/>
            <a:r>
              <a:rPr lang="zh-CN" altLang="en-US" dirty="0"/>
              <a:t>隔壁塔的三种类型</a:t>
            </a:r>
          </a:p>
        </p:txBody>
      </p:sp>
      <p:sp>
        <p:nvSpPr>
          <p:cNvPr id="8" name="文本框 7">
            <a:extLst>
              <a:ext uri="{FF2B5EF4-FFF2-40B4-BE49-F238E27FC236}">
                <a16:creationId xmlns:a16="http://schemas.microsoft.com/office/drawing/2014/main" id="{4D22A1ED-35F6-4F17-37A0-87342837B2B8}"/>
              </a:ext>
            </a:extLst>
          </p:cNvPr>
          <p:cNvSpPr txBox="1"/>
          <p:nvPr/>
        </p:nvSpPr>
        <p:spPr>
          <a:xfrm>
            <a:off x="251400" y="5771864"/>
            <a:ext cx="4536630" cy="230832"/>
          </a:xfrm>
          <a:prstGeom prst="rect">
            <a:avLst/>
          </a:prstGeom>
          <a:noFill/>
        </p:spPr>
        <p:txBody>
          <a:bodyPr wrap="square" rtlCol="0">
            <a:spAutoFit/>
          </a:bodyPr>
          <a:lstStyle/>
          <a:p>
            <a:r>
              <a:rPr lang="en-US" altLang="zh-CN" sz="900" b="1" dirty="0">
                <a:latin typeface="微软雅黑" panose="020B0503020204020204" pitchFamily="34" charset="-122"/>
                <a:ea typeface="微软雅黑" panose="020B0503020204020204" pitchFamily="34" charset="-122"/>
              </a:rPr>
              <a:t>Dividing Wall Distillation Columns: Optimization and Control Properties</a:t>
            </a:r>
            <a:endParaRPr lang="en-US" altLang="zh-CN" dirty="0"/>
          </a:p>
        </p:txBody>
      </p:sp>
    </p:spTree>
    <p:extLst>
      <p:ext uri="{BB962C8B-B14F-4D97-AF65-F5344CB8AC3E}">
        <p14:creationId xmlns:p14="http://schemas.microsoft.com/office/powerpoint/2010/main" val="1263168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defTabSz="685800"/>
            <a:r>
              <a:rPr lang="zh-CN" altLang="en-US" sz="2400" b="1" dirty="0">
                <a:solidFill>
                  <a:srgbClr val="C00000"/>
                </a:solidFill>
                <a:latin typeface="微软雅黑" panose="020B0503020204020204" pitchFamily="34" charset="-122"/>
                <a:ea typeface="微软雅黑" panose="020B0503020204020204" pitchFamily="34" charset="-122"/>
              </a:rPr>
              <a:t>研究背景</a:t>
            </a:r>
            <a:r>
              <a:rPr lang="en-US" altLang="zh-CN" sz="2400" b="1" dirty="0">
                <a:solidFill>
                  <a:srgbClr val="C00000"/>
                </a:solidFill>
                <a:latin typeface="微软雅黑" panose="020B0503020204020204" pitchFamily="34" charset="-122"/>
                <a:ea typeface="微软雅黑" panose="020B0503020204020204" pitchFamily="34" charset="-122"/>
              </a:rPr>
              <a:t>-DWC</a:t>
            </a:r>
            <a:r>
              <a:rPr lang="zh-CN" altLang="en-US" sz="2400" b="1" dirty="0">
                <a:solidFill>
                  <a:srgbClr val="C00000"/>
                </a:solidFill>
                <a:latin typeface="微软雅黑" panose="020B0503020204020204" pitchFamily="34" charset="-122"/>
                <a:ea typeface="微软雅黑" panose="020B0503020204020204" pitchFamily="34" charset="-122"/>
              </a:rPr>
              <a:t>的经济和节能性</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6</a:t>
            </a:fld>
            <a:endParaRPr lang="zh-CN" altLang="en-US" dirty="0">
              <a:solidFill>
                <a:srgbClr val="FFFFFF"/>
              </a:solidFill>
              <a:latin typeface="Arial" panose="020B0604020202020204" pitchFamily="34" charset="0"/>
              <a:cs typeface="Arial" panose="020B0604020202020204" pitchFamily="34" charset="0"/>
            </a:endParaRPr>
          </a:p>
        </p:txBody>
      </p:sp>
      <p:pic>
        <p:nvPicPr>
          <p:cNvPr id="6" name="图片 5">
            <a:extLst>
              <a:ext uri="{FF2B5EF4-FFF2-40B4-BE49-F238E27FC236}">
                <a16:creationId xmlns:a16="http://schemas.microsoft.com/office/drawing/2014/main" id="{607C8A8C-E686-1A8C-4632-74C64AE9D80D}"/>
              </a:ext>
            </a:extLst>
          </p:cNvPr>
          <p:cNvPicPr>
            <a:picLocks noChangeAspect="1"/>
          </p:cNvPicPr>
          <p:nvPr/>
        </p:nvPicPr>
        <p:blipFill>
          <a:blip r:embed="rId3"/>
          <a:stretch>
            <a:fillRect/>
          </a:stretch>
        </p:blipFill>
        <p:spPr>
          <a:xfrm>
            <a:off x="1237961" y="1005630"/>
            <a:ext cx="6668078" cy="4846740"/>
          </a:xfrm>
          <a:prstGeom prst="rect">
            <a:avLst/>
          </a:prstGeom>
        </p:spPr>
      </p:pic>
    </p:spTree>
    <p:extLst>
      <p:ext uri="{BB962C8B-B14F-4D97-AF65-F5344CB8AC3E}">
        <p14:creationId xmlns:p14="http://schemas.microsoft.com/office/powerpoint/2010/main" val="3983141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defTabSz="685800"/>
            <a:r>
              <a:rPr lang="zh-CN" altLang="en-US" sz="2400" b="1" dirty="0">
                <a:solidFill>
                  <a:srgbClr val="C00000"/>
                </a:solidFill>
                <a:latin typeface="微软雅黑" panose="020B0503020204020204" pitchFamily="34" charset="-122"/>
                <a:ea typeface="微软雅黑" panose="020B0503020204020204" pitchFamily="34" charset="-122"/>
              </a:rPr>
              <a:t>研究背景</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国内外的研究进展</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7</a:t>
            </a:fld>
            <a:endParaRPr lang="zh-CN" altLang="en-US" dirty="0">
              <a:solidFill>
                <a:srgbClr val="FFFFFF"/>
              </a:solidFill>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9DAA0ADD-5D40-7853-9F21-7169FD47E5E4}"/>
              </a:ext>
            </a:extLst>
          </p:cNvPr>
          <p:cNvSpPr txBox="1"/>
          <p:nvPr/>
        </p:nvSpPr>
        <p:spPr>
          <a:xfrm>
            <a:off x="182742" y="1052670"/>
            <a:ext cx="4248590" cy="452431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dirty="0"/>
              <a:t>1933</a:t>
            </a:r>
            <a:r>
              <a:rPr lang="zh-CN" altLang="en-US" dirty="0"/>
              <a:t>年，隔壁塔精馏概念首次被提出。 </a:t>
            </a:r>
            <a:r>
              <a:rPr lang="en-US" altLang="zh-CN" dirty="0"/>
              <a:t>1985</a:t>
            </a:r>
            <a:r>
              <a:rPr lang="zh-CN" altLang="en-US" dirty="0"/>
              <a:t>年，隔板精馏首次实现工业化（</a:t>
            </a:r>
            <a:r>
              <a:rPr lang="en-US" altLang="zh-CN" dirty="0"/>
              <a:t>BASF</a:t>
            </a:r>
            <a:r>
              <a:rPr lang="zh-CN" altLang="en-US" dirty="0"/>
              <a:t>）。 </a:t>
            </a:r>
            <a:endParaRPr lang="en-US" altLang="zh-CN" dirty="0"/>
          </a:p>
          <a:p>
            <a:pPr marL="285750" indent="-285750">
              <a:buClr>
                <a:srgbClr val="FF0000"/>
              </a:buClr>
              <a:buFont typeface="Wingdings" panose="05000000000000000000" pitchFamily="2" charset="2"/>
              <a:buChar char="Ø"/>
            </a:pPr>
            <a:r>
              <a:rPr lang="en-US" altLang="zh-CN" dirty="0"/>
              <a:t>2000</a:t>
            </a:r>
            <a:r>
              <a:rPr lang="zh-CN" altLang="en-US" dirty="0"/>
              <a:t>年，世界范围内隔板精馏塔数量仅有</a:t>
            </a:r>
            <a:r>
              <a:rPr lang="en-US" altLang="zh-CN" dirty="0"/>
              <a:t>20+</a:t>
            </a:r>
            <a:r>
              <a:rPr lang="zh-CN" altLang="en-US" dirty="0"/>
              <a:t>。</a:t>
            </a:r>
            <a:endParaRPr lang="en-US" altLang="zh-CN" dirty="0"/>
          </a:p>
          <a:p>
            <a:pPr marL="285750" indent="-285750">
              <a:buClr>
                <a:srgbClr val="FF0000"/>
              </a:buClr>
              <a:buFont typeface="Wingdings" panose="05000000000000000000" pitchFamily="2" charset="2"/>
              <a:buChar char="Ø"/>
            </a:pPr>
            <a:r>
              <a:rPr lang="zh-CN" altLang="en-US" dirty="0"/>
              <a:t> </a:t>
            </a:r>
            <a:r>
              <a:rPr lang="en-US" altLang="zh-CN" dirty="0"/>
              <a:t>2014</a:t>
            </a:r>
            <a:r>
              <a:rPr lang="zh-CN" altLang="en-US" dirty="0"/>
              <a:t>年，世界范围内隔板精馏塔数量已经飞涨到</a:t>
            </a:r>
            <a:r>
              <a:rPr lang="en-US" altLang="zh-CN" dirty="0"/>
              <a:t>200+</a:t>
            </a:r>
            <a:r>
              <a:rPr lang="zh-CN" altLang="en-US" dirty="0"/>
              <a:t>。</a:t>
            </a:r>
            <a:endParaRPr lang="en-US" altLang="zh-CN" dirty="0"/>
          </a:p>
          <a:p>
            <a:pPr marL="285750" indent="-285750">
              <a:buClr>
                <a:srgbClr val="FF0000"/>
              </a:buClr>
              <a:buFont typeface="Wingdings" panose="05000000000000000000" pitchFamily="2" charset="2"/>
              <a:buChar char="Ø"/>
            </a:pPr>
            <a:r>
              <a:rPr lang="zh-CN" altLang="en-US" dirty="0"/>
              <a:t> </a:t>
            </a:r>
            <a:r>
              <a:rPr lang="en-US" altLang="zh-CN" dirty="0"/>
              <a:t>2015</a:t>
            </a:r>
            <a:r>
              <a:rPr lang="zh-CN" altLang="en-US" dirty="0"/>
              <a:t>年，泽华公司实现了隔板精馏国产化技术上的突破，分离精度高，装置规模大，开车 非常成功！</a:t>
            </a:r>
            <a:endParaRPr lang="en-US" altLang="zh-CN" dirty="0"/>
          </a:p>
          <a:p>
            <a:pPr marL="285750" indent="-285750">
              <a:buClr>
                <a:srgbClr val="FF0000"/>
              </a:buClr>
              <a:buFont typeface="Wingdings" panose="05000000000000000000" pitchFamily="2" charset="2"/>
              <a:buChar char="Ø"/>
            </a:pPr>
            <a:r>
              <a:rPr lang="zh-CN" altLang="en-US" dirty="0"/>
              <a:t> 国外研究和工业化实施单位：</a:t>
            </a:r>
            <a:r>
              <a:rPr lang="en-US" altLang="zh-CN" dirty="0"/>
              <a:t>BASF</a:t>
            </a:r>
            <a:r>
              <a:rPr lang="zh-CN" altLang="en-US" dirty="0"/>
              <a:t>、</a:t>
            </a:r>
            <a:r>
              <a:rPr lang="en-US" altLang="zh-CN" dirty="0"/>
              <a:t>LG</a:t>
            </a:r>
            <a:r>
              <a:rPr lang="zh-CN" altLang="en-US" dirty="0"/>
              <a:t>、</a:t>
            </a:r>
            <a:r>
              <a:rPr lang="en-US" altLang="zh-CN" dirty="0"/>
              <a:t>KBR</a:t>
            </a:r>
            <a:r>
              <a:rPr lang="zh-CN" altLang="en-US" dirty="0"/>
              <a:t>、</a:t>
            </a:r>
            <a:r>
              <a:rPr lang="en-US" altLang="zh-CN" dirty="0"/>
              <a:t>UOP</a:t>
            </a:r>
            <a:r>
              <a:rPr lang="zh-CN" altLang="en-US" dirty="0"/>
              <a:t>、</a:t>
            </a:r>
            <a:r>
              <a:rPr lang="en-US" altLang="zh-CN" dirty="0"/>
              <a:t>Bayer</a:t>
            </a:r>
            <a:r>
              <a:rPr lang="zh-CN" altLang="en-US" dirty="0"/>
              <a:t>、</a:t>
            </a:r>
            <a:r>
              <a:rPr lang="en-US" altLang="zh-CN" dirty="0" err="1"/>
              <a:t>Montz</a:t>
            </a:r>
            <a:r>
              <a:rPr lang="zh-CN" altLang="en-US" dirty="0"/>
              <a:t>、</a:t>
            </a:r>
            <a:r>
              <a:rPr lang="en-US" altLang="zh-CN" dirty="0"/>
              <a:t>Sulzer</a:t>
            </a:r>
            <a:r>
              <a:rPr lang="zh-CN" altLang="en-US" dirty="0"/>
              <a:t>、</a:t>
            </a:r>
            <a:r>
              <a:rPr lang="en-US" altLang="zh-CN" dirty="0"/>
              <a:t>Koch </a:t>
            </a:r>
            <a:r>
              <a:rPr lang="en-US" altLang="zh-CN" dirty="0" err="1"/>
              <a:t>Glitsch</a:t>
            </a:r>
            <a:r>
              <a:rPr lang="zh-CN" altLang="en-US" dirty="0"/>
              <a:t>。</a:t>
            </a:r>
            <a:endParaRPr lang="en-US" altLang="zh-CN" dirty="0"/>
          </a:p>
          <a:p>
            <a:pPr marL="285750" indent="-285750">
              <a:buClr>
                <a:srgbClr val="FF0000"/>
              </a:buClr>
              <a:buFont typeface="Wingdings" panose="05000000000000000000" pitchFamily="2" charset="2"/>
              <a:buChar char="Ø"/>
            </a:pPr>
            <a:r>
              <a:rPr lang="zh-CN" altLang="en-US" dirty="0"/>
              <a:t> 国内研究单位：中石化、中科院、河北工大、石油大学（华东）、浙江大学、天津大学、 江苏工业学院</a:t>
            </a:r>
          </a:p>
        </p:txBody>
      </p:sp>
      <p:pic>
        <p:nvPicPr>
          <p:cNvPr id="5" name="图片 4">
            <a:extLst>
              <a:ext uri="{FF2B5EF4-FFF2-40B4-BE49-F238E27FC236}">
                <a16:creationId xmlns:a16="http://schemas.microsoft.com/office/drawing/2014/main" id="{A8FC7A39-A288-AF1B-342E-EA9E747F6E5A}"/>
              </a:ext>
            </a:extLst>
          </p:cNvPr>
          <p:cNvPicPr>
            <a:picLocks noChangeAspect="1"/>
          </p:cNvPicPr>
          <p:nvPr/>
        </p:nvPicPr>
        <p:blipFill>
          <a:blip r:embed="rId3"/>
          <a:stretch>
            <a:fillRect/>
          </a:stretch>
        </p:blipFill>
        <p:spPr>
          <a:xfrm>
            <a:off x="4572001" y="2008469"/>
            <a:ext cx="4389258" cy="2452555"/>
          </a:xfrm>
          <a:prstGeom prst="rect">
            <a:avLst/>
          </a:prstGeom>
        </p:spPr>
      </p:pic>
      <p:sp>
        <p:nvSpPr>
          <p:cNvPr id="7" name="文本框 6">
            <a:extLst>
              <a:ext uri="{FF2B5EF4-FFF2-40B4-BE49-F238E27FC236}">
                <a16:creationId xmlns:a16="http://schemas.microsoft.com/office/drawing/2014/main" id="{E0A18216-EEB8-F4D6-6122-6CEBBE2ADA36}"/>
              </a:ext>
            </a:extLst>
          </p:cNvPr>
          <p:cNvSpPr txBox="1"/>
          <p:nvPr/>
        </p:nvSpPr>
        <p:spPr>
          <a:xfrm>
            <a:off x="5146548" y="4718898"/>
            <a:ext cx="3193320" cy="369332"/>
          </a:xfrm>
          <a:prstGeom prst="rect">
            <a:avLst/>
          </a:prstGeom>
          <a:noFill/>
        </p:spPr>
        <p:txBody>
          <a:bodyPr wrap="square" rtlCol="0" anchor="ctr">
            <a:spAutoFit/>
          </a:bodyPr>
          <a:lstStyle/>
          <a:p>
            <a:pPr algn="ctr"/>
            <a:r>
              <a:rPr lang="zh-CN" altLang="zh-CN" sz="1800" kern="100" dirty="0">
                <a:effectLst/>
                <a:ea typeface="Times New Roman" panose="02020603050405020304" pitchFamily="18" charset="0"/>
              </a:rPr>
              <a:t> </a:t>
            </a:r>
            <a:r>
              <a:rPr lang="en-US" altLang="zh-CN" sz="1800" kern="100" dirty="0">
                <a:effectLst/>
                <a:ea typeface="Times New Roman" panose="02020603050405020304" pitchFamily="18" charset="0"/>
              </a:rPr>
              <a:t>DWC</a:t>
            </a:r>
            <a:r>
              <a:rPr lang="zh-CN" altLang="en-US" kern="100" dirty="0">
                <a:ea typeface="Times New Roman" panose="02020603050405020304" pitchFamily="18" charset="0"/>
              </a:rPr>
              <a:t>应用数量变化折线图</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2939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研究背景</a:t>
            </a:r>
            <a:r>
              <a:rPr lang="en-US" altLang="zh-CN" sz="2400" b="1" dirty="0">
                <a:solidFill>
                  <a:srgbClr val="C00000"/>
                </a:solidFill>
                <a:latin typeface="微软雅黑" panose="020B0503020204020204" pitchFamily="34" charset="-122"/>
                <a:ea typeface="微软雅黑" panose="020B0503020204020204" pitchFamily="34" charset="-122"/>
              </a:rPr>
              <a:t>-EDWC</a:t>
            </a:r>
            <a:br>
              <a:rPr lang="en-US" altLang="zh-CN" sz="2400" b="1" dirty="0">
                <a:solidFill>
                  <a:srgbClr val="C00000"/>
                </a:solidFill>
                <a:latin typeface="微软雅黑" panose="020B0503020204020204" pitchFamily="34" charset="-122"/>
                <a:ea typeface="微软雅黑" panose="020B0503020204020204" pitchFamily="34" charset="-122"/>
              </a:rPr>
            </a:b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8</a:t>
            </a:fld>
            <a:endParaRPr lang="zh-CN" altLang="en-US" dirty="0">
              <a:solidFill>
                <a:srgbClr val="FFFFFF"/>
              </a:solidFill>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59A9CFAF-C952-DBE0-98CE-8C3F4E4FC295}"/>
              </a:ext>
            </a:extLst>
          </p:cNvPr>
          <p:cNvSpPr txBox="1"/>
          <p:nvPr/>
        </p:nvSpPr>
        <p:spPr>
          <a:xfrm>
            <a:off x="727146" y="5061254"/>
            <a:ext cx="3672510" cy="369332"/>
          </a:xfrm>
          <a:prstGeom prst="rect">
            <a:avLst/>
          </a:prstGeom>
          <a:noFill/>
        </p:spPr>
        <p:txBody>
          <a:bodyPr wrap="square" rtlCol="0" anchor="ctr">
            <a:spAutoFit/>
          </a:bodyPr>
          <a:lstStyle/>
          <a:p>
            <a:pPr algn="ct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抽提蒸馏装置工艺流程示意图</a:t>
            </a:r>
          </a:p>
        </p:txBody>
      </p:sp>
      <p:sp>
        <p:nvSpPr>
          <p:cNvPr id="3" name="文本框 2">
            <a:extLst>
              <a:ext uri="{FF2B5EF4-FFF2-40B4-BE49-F238E27FC236}">
                <a16:creationId xmlns:a16="http://schemas.microsoft.com/office/drawing/2014/main" id="{AA6D6DC7-D57A-1F2C-AEFB-AB7688E54F0E}"/>
              </a:ext>
            </a:extLst>
          </p:cNvPr>
          <p:cNvSpPr txBox="1"/>
          <p:nvPr/>
        </p:nvSpPr>
        <p:spPr>
          <a:xfrm>
            <a:off x="251400" y="5771864"/>
            <a:ext cx="4752660" cy="230832"/>
          </a:xfrm>
          <a:prstGeom prst="rect">
            <a:avLst/>
          </a:prstGeom>
          <a:noFill/>
        </p:spPr>
        <p:txBody>
          <a:bodyPr wrap="square" rtlCol="0">
            <a:spAutoFit/>
          </a:bodyPr>
          <a:lstStyle/>
          <a:p>
            <a:r>
              <a:rPr lang="zh-CN" altLang="en-US" sz="900" b="1" dirty="0">
                <a:latin typeface="微软雅黑" panose="020B0503020204020204" pitchFamily="34" charset="-122"/>
                <a:ea typeface="微软雅黑" panose="020B0503020204020204" pitchFamily="34" charset="-122"/>
              </a:rPr>
              <a:t>付博</a:t>
            </a:r>
            <a:r>
              <a:rPr lang="en-US" altLang="zh-CN" sz="900" b="1" dirty="0">
                <a:latin typeface="微软雅黑" panose="020B0503020204020204" pitchFamily="34" charset="-122"/>
                <a:ea typeface="微软雅黑" panose="020B0503020204020204" pitchFamily="34" charset="-122"/>
              </a:rPr>
              <a:t>,</a:t>
            </a:r>
            <a:r>
              <a:rPr lang="zh-CN" altLang="en-US" sz="900" b="1" dirty="0">
                <a:latin typeface="微软雅黑" panose="020B0503020204020204" pitchFamily="34" charset="-122"/>
                <a:ea typeface="微软雅黑" panose="020B0503020204020204" pitchFamily="34" charset="-122"/>
              </a:rPr>
              <a:t>裴军</a:t>
            </a:r>
            <a:r>
              <a:rPr lang="en-US" altLang="zh-CN" sz="900" b="1" dirty="0">
                <a:latin typeface="微软雅黑" panose="020B0503020204020204" pitchFamily="34" charset="-122"/>
                <a:ea typeface="微软雅黑" panose="020B0503020204020204" pitchFamily="34" charset="-122"/>
              </a:rPr>
              <a:t>,</a:t>
            </a:r>
            <a:r>
              <a:rPr lang="zh-CN" altLang="en-US" sz="900" b="1" dirty="0">
                <a:latin typeface="微软雅黑" panose="020B0503020204020204" pitchFamily="34" charset="-122"/>
                <a:ea typeface="微软雅黑" panose="020B0503020204020204" pitchFamily="34" charset="-122"/>
              </a:rPr>
              <a:t>陈玉石</a:t>
            </a:r>
            <a:r>
              <a:rPr lang="en-US" altLang="zh-CN" sz="900" b="1" dirty="0">
                <a:latin typeface="微软雅黑" panose="020B0503020204020204" pitchFamily="34" charset="-122"/>
                <a:ea typeface="微软雅黑" panose="020B0503020204020204" pitchFamily="34" charset="-122"/>
              </a:rPr>
              <a:t>,</a:t>
            </a:r>
            <a:r>
              <a:rPr lang="zh-CN" altLang="en-US" sz="900" b="1" dirty="0">
                <a:latin typeface="微软雅黑" panose="020B0503020204020204" pitchFamily="34" charset="-122"/>
                <a:ea typeface="微软雅黑" panose="020B0503020204020204" pitchFamily="34" charset="-122"/>
              </a:rPr>
              <a:t>陈韶辉</a:t>
            </a:r>
            <a:r>
              <a:rPr lang="en-US" altLang="zh-CN" sz="900" b="1" dirty="0">
                <a:latin typeface="微软雅黑" panose="020B0503020204020204" pitchFamily="34" charset="-122"/>
                <a:ea typeface="微软雅黑" panose="020B0503020204020204" pitchFamily="34" charset="-122"/>
              </a:rPr>
              <a:t>.</a:t>
            </a:r>
            <a:r>
              <a:rPr lang="zh-CN" altLang="en-US" sz="900" b="1" dirty="0">
                <a:latin typeface="微软雅黑" panose="020B0503020204020204" pitchFamily="34" charset="-122"/>
                <a:ea typeface="微软雅黑" panose="020B0503020204020204" pitchFamily="34" charset="-122"/>
              </a:rPr>
              <a:t>芳烃抽提蒸馏过程模拟和优化</a:t>
            </a:r>
            <a:r>
              <a:rPr lang="en-US" altLang="zh-CN" sz="900" b="1" dirty="0">
                <a:latin typeface="微软雅黑" panose="020B0503020204020204" pitchFamily="34" charset="-122"/>
                <a:ea typeface="微软雅黑" panose="020B0503020204020204" pitchFamily="34" charset="-122"/>
              </a:rPr>
              <a:t>[J].</a:t>
            </a:r>
            <a:r>
              <a:rPr lang="zh-CN" altLang="en-US" sz="900" b="1" dirty="0">
                <a:latin typeface="微软雅黑" panose="020B0503020204020204" pitchFamily="34" charset="-122"/>
                <a:ea typeface="微软雅黑" panose="020B0503020204020204" pitchFamily="34" charset="-122"/>
              </a:rPr>
              <a:t>化工进展</a:t>
            </a:r>
            <a:r>
              <a:rPr lang="en-US" altLang="zh-CN" sz="900" b="1" dirty="0">
                <a:latin typeface="微软雅黑" panose="020B0503020204020204" pitchFamily="34" charset="-122"/>
                <a:ea typeface="微软雅黑" panose="020B0503020204020204" pitchFamily="34" charset="-122"/>
              </a:rPr>
              <a:t>,2013,32(S1):59-63.</a:t>
            </a:r>
          </a:p>
        </p:txBody>
      </p:sp>
      <p:pic>
        <p:nvPicPr>
          <p:cNvPr id="7" name="图片 6">
            <a:extLst>
              <a:ext uri="{FF2B5EF4-FFF2-40B4-BE49-F238E27FC236}">
                <a16:creationId xmlns:a16="http://schemas.microsoft.com/office/drawing/2014/main" id="{093731BF-02C4-0070-ADB6-46522643EF11}"/>
              </a:ext>
            </a:extLst>
          </p:cNvPr>
          <p:cNvPicPr>
            <a:picLocks noChangeAspect="1"/>
          </p:cNvPicPr>
          <p:nvPr/>
        </p:nvPicPr>
        <p:blipFill rotWithShape="1">
          <a:blip r:embed="rId3"/>
          <a:srcRect t="35215" b="-1"/>
          <a:stretch/>
        </p:blipFill>
        <p:spPr>
          <a:xfrm rot="16200000">
            <a:off x="718002" y="619454"/>
            <a:ext cx="3690798" cy="4752659"/>
          </a:xfrm>
          <a:prstGeom prst="rect">
            <a:avLst/>
          </a:prstGeom>
        </p:spPr>
      </p:pic>
      <p:sp>
        <p:nvSpPr>
          <p:cNvPr id="4" name="文本框 3">
            <a:extLst>
              <a:ext uri="{FF2B5EF4-FFF2-40B4-BE49-F238E27FC236}">
                <a16:creationId xmlns:a16="http://schemas.microsoft.com/office/drawing/2014/main" id="{443AADF0-E660-5C4A-B264-59185A5B7317}"/>
              </a:ext>
            </a:extLst>
          </p:cNvPr>
          <p:cNvSpPr txBox="1"/>
          <p:nvPr/>
        </p:nvSpPr>
        <p:spPr>
          <a:xfrm>
            <a:off x="5361712" y="5061254"/>
            <a:ext cx="3193320" cy="369332"/>
          </a:xfrm>
          <a:prstGeom prst="rect">
            <a:avLst/>
          </a:prstGeom>
          <a:noFill/>
        </p:spPr>
        <p:txBody>
          <a:bodyPr wrap="square" rtlCol="0" anchor="ctr">
            <a:spAutoFit/>
          </a:bodyPr>
          <a:lstStyle/>
          <a:p>
            <a:pPr algn="ctr"/>
            <a:r>
              <a:rPr lang="zh-CN" altLang="zh-CN" sz="1800" kern="100" dirty="0">
                <a:effectLst/>
                <a:ea typeface="Times New Roman" panose="02020603050405020304" pitchFamily="18" charset="0"/>
              </a:rPr>
              <a:t> </a:t>
            </a:r>
            <a:r>
              <a:rPr lang="en-US" altLang="zh-CN" sz="1800" kern="100" dirty="0">
                <a:effectLst/>
                <a:ea typeface="Times New Roman" panose="02020603050405020304" pitchFamily="18" charset="0"/>
              </a:rPr>
              <a:t>EDWC</a:t>
            </a:r>
            <a:r>
              <a:rPr lang="zh-CN" altLang="en-US" sz="1800" kern="100" dirty="0">
                <a:effectLst/>
                <a:ea typeface="Times New Roman" panose="02020603050405020304" pitchFamily="18" charset="0"/>
              </a:rPr>
              <a:t>耦合过程</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67E9C970-DA1D-0BA8-A1AA-3AA0AFBEBC24}"/>
              </a:ext>
            </a:extLst>
          </p:cNvPr>
          <p:cNvPicPr>
            <a:picLocks noChangeAspect="1"/>
          </p:cNvPicPr>
          <p:nvPr/>
        </p:nvPicPr>
        <p:blipFill rotWithShape="1">
          <a:blip r:embed="rId4">
            <a:extLst>
              <a:ext uri="{28A0092B-C50C-407E-A947-70E740481C1C}">
                <a14:useLocalDpi xmlns:a14="http://schemas.microsoft.com/office/drawing/2010/main" val="0"/>
              </a:ext>
            </a:extLst>
          </a:blip>
          <a:srcRect t="8519" b="16782"/>
          <a:stretch/>
        </p:blipFill>
        <p:spPr>
          <a:xfrm>
            <a:off x="4955487" y="1417638"/>
            <a:ext cx="4005771" cy="3404448"/>
          </a:xfrm>
          <a:prstGeom prst="rect">
            <a:avLst/>
          </a:prstGeom>
        </p:spPr>
      </p:pic>
      <p:sp>
        <p:nvSpPr>
          <p:cNvPr id="8" name="箭头: 右 7">
            <a:extLst>
              <a:ext uri="{FF2B5EF4-FFF2-40B4-BE49-F238E27FC236}">
                <a16:creationId xmlns:a16="http://schemas.microsoft.com/office/drawing/2014/main" id="{B358F1D1-D3F0-4FCC-EAF9-A9AB229CE1EA}"/>
              </a:ext>
            </a:extLst>
          </p:cNvPr>
          <p:cNvSpPr/>
          <p:nvPr/>
        </p:nvSpPr>
        <p:spPr>
          <a:xfrm>
            <a:off x="4572000" y="3188770"/>
            <a:ext cx="457305" cy="1972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63242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研究背景</a:t>
            </a:r>
          </a:p>
        </p:txBody>
      </p:sp>
      <p:sp>
        <p:nvSpPr>
          <p:cNvPr id="3" name="内容占位符 2"/>
          <p:cNvSpPr>
            <a:spLocks noGrp="1"/>
          </p:cNvSpPr>
          <p:nvPr>
            <p:ph idx="4294967295"/>
          </p:nvPr>
        </p:nvSpPr>
        <p:spPr>
          <a:xfrm>
            <a:off x="457200" y="1657079"/>
            <a:ext cx="8229600" cy="1562490"/>
          </a:xfrm>
        </p:spPr>
        <p:txBody>
          <a:bodyPr anchor="t">
            <a:normAutofit/>
          </a:bodyPr>
          <a:lstStyle/>
          <a:p>
            <a:pPr defTabSz="685800">
              <a:spcBef>
                <a:spcPts val="600"/>
              </a:spcBef>
              <a:spcAft>
                <a:spcPts val="600"/>
              </a:spcAft>
              <a:buClr>
                <a:srgbClr val="FF0000"/>
              </a:buClr>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rPr>
              <a:t>EDWC</a:t>
            </a:r>
            <a:r>
              <a:rPr lang="zh-CN" altLang="zh-CN" sz="2400" b="1" dirty="0">
                <a:latin typeface="微软雅黑" panose="020B0503020204020204" pitchFamily="34" charset="-122"/>
                <a:ea typeface="微软雅黑" panose="020B0503020204020204" pitchFamily="34" charset="-122"/>
              </a:rPr>
              <a:t>给精馏操作提高了热力学效率</a:t>
            </a:r>
            <a:r>
              <a:rPr lang="zh-CN" altLang="en-US" sz="2400" b="1" dirty="0">
                <a:latin typeface="微软雅黑" panose="020B0503020204020204" pitchFamily="34" charset="-122"/>
                <a:ea typeface="微软雅黑" panose="020B0503020204020204" pitchFamily="34" charset="-122"/>
              </a:rPr>
              <a:t>、降低了能耗</a:t>
            </a:r>
            <a:endParaRPr lang="en-US" altLang="zh-CN" sz="2400" b="1" dirty="0">
              <a:latin typeface="微软雅黑" panose="020B0503020204020204" pitchFamily="34" charset="-122"/>
              <a:ea typeface="微软雅黑" panose="020B0503020204020204" pitchFamily="34" charset="-122"/>
            </a:endParaRPr>
          </a:p>
          <a:p>
            <a:pPr defTabSz="685800">
              <a:spcBef>
                <a:spcPts val="600"/>
              </a:spcBef>
              <a:spcAft>
                <a:spcPts val="600"/>
              </a:spcAft>
              <a:buClr>
                <a:srgbClr val="FF000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两塔集成到一塔可以</a:t>
            </a:r>
            <a:r>
              <a:rPr lang="zh-CN" altLang="zh-CN" sz="2400" b="1" dirty="0">
                <a:latin typeface="微软雅黑" panose="020B0503020204020204" pitchFamily="34" charset="-122"/>
                <a:ea typeface="微软雅黑" panose="020B0503020204020204" pitchFamily="34" charset="-122"/>
              </a:rPr>
              <a:t>节省了设备费用</a:t>
            </a:r>
            <a:r>
              <a:rPr lang="zh-CN" altLang="en-US" sz="2400" b="1" dirty="0">
                <a:latin typeface="微软雅黑" panose="020B0503020204020204" pitchFamily="34" charset="-122"/>
                <a:ea typeface="微软雅黑" panose="020B0503020204020204" pitchFamily="34" charset="-122"/>
              </a:rPr>
              <a:t>和占地面积</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9</a:t>
            </a:fld>
            <a:endParaRPr lang="zh-CN" altLang="en-US" dirty="0">
              <a:solidFill>
                <a:srgbClr val="FFFFFF"/>
              </a:solidFill>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7B73FC1-36CF-93C1-9C97-31123858B445}"/>
              </a:ext>
            </a:extLst>
          </p:cNvPr>
          <p:cNvSpPr txBox="1"/>
          <p:nvPr/>
        </p:nvSpPr>
        <p:spPr>
          <a:xfrm>
            <a:off x="611450" y="3404642"/>
            <a:ext cx="590482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难点</a:t>
            </a:r>
          </a:p>
        </p:txBody>
      </p:sp>
      <p:sp>
        <p:nvSpPr>
          <p:cNvPr id="8" name="文本框 7">
            <a:extLst>
              <a:ext uri="{FF2B5EF4-FFF2-40B4-BE49-F238E27FC236}">
                <a16:creationId xmlns:a16="http://schemas.microsoft.com/office/drawing/2014/main" id="{ABA3ECAA-406D-FCBB-E885-2FDD8C6ACE71}"/>
              </a:ext>
            </a:extLst>
          </p:cNvPr>
          <p:cNvSpPr txBox="1"/>
          <p:nvPr/>
        </p:nvSpPr>
        <p:spPr>
          <a:xfrm>
            <a:off x="457200" y="4069989"/>
            <a:ext cx="8229600" cy="984885"/>
          </a:xfrm>
          <a:prstGeom prst="rect">
            <a:avLst/>
          </a:prstGeom>
          <a:noFill/>
        </p:spPr>
        <p:txBody>
          <a:bodyPr wrap="square" rtlCol="0">
            <a:spAutoFit/>
          </a:bodyPr>
          <a:lstStyle/>
          <a:p>
            <a:pPr marL="342900" indent="-342900">
              <a:spcBef>
                <a:spcPts val="600"/>
              </a:spcBef>
              <a:spcAft>
                <a:spcPts val="600"/>
              </a:spcAft>
              <a:buClr>
                <a:srgbClr val="FF000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预分离塔和主塔的压力不同</a:t>
            </a:r>
            <a:endParaRPr lang="en-US" altLang="zh-CN" sz="2400" b="1" dirty="0">
              <a:latin typeface="微软雅黑" panose="020B0503020204020204" pitchFamily="34" charset="-122"/>
              <a:ea typeface="微软雅黑" panose="020B0503020204020204" pitchFamily="34" charset="-122"/>
            </a:endParaRPr>
          </a:p>
          <a:p>
            <a:pPr marL="342900" indent="-342900">
              <a:spcBef>
                <a:spcPts val="600"/>
              </a:spcBef>
              <a:spcAft>
                <a:spcPts val="600"/>
              </a:spcAft>
              <a:buClr>
                <a:srgbClr val="FF000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其中间组分含量低，隔壁塔的节能效果有待核算</a:t>
            </a:r>
          </a:p>
        </p:txBody>
      </p:sp>
      <p:sp>
        <p:nvSpPr>
          <p:cNvPr id="10" name="文本框 9">
            <a:extLst>
              <a:ext uri="{FF2B5EF4-FFF2-40B4-BE49-F238E27FC236}">
                <a16:creationId xmlns:a16="http://schemas.microsoft.com/office/drawing/2014/main" id="{423E7371-A299-108A-9C3F-62D93A6CDB01}"/>
              </a:ext>
            </a:extLst>
          </p:cNvPr>
          <p:cNvSpPr txBox="1"/>
          <p:nvPr/>
        </p:nvSpPr>
        <p:spPr>
          <a:xfrm>
            <a:off x="611450" y="991732"/>
            <a:ext cx="590482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意义</a:t>
            </a:r>
          </a:p>
        </p:txBody>
      </p:sp>
    </p:spTree>
    <p:extLst>
      <p:ext uri="{BB962C8B-B14F-4D97-AF65-F5344CB8AC3E}">
        <p14:creationId xmlns:p14="http://schemas.microsoft.com/office/powerpoint/2010/main" val="3916434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92352" y="1772770"/>
            <a:ext cx="1827143" cy="584776"/>
          </a:xfrm>
          <a:prstGeom prst="rect">
            <a:avLst/>
          </a:prstGeom>
        </p:spPr>
        <p:txBody>
          <a:bodyPr wrap="none">
            <a:spAutoFit/>
          </a:bodyPr>
          <a:lstStyle/>
          <a:p>
            <a:r>
              <a:rPr lang="en-US" altLang="zh-CN" sz="3200" dirty="0">
                <a:solidFill>
                  <a:schemeClr val="bg1"/>
                </a:solidFill>
                <a:latin typeface="Arial" panose="020B0604020202020204"/>
                <a:cs typeface="Arial" panose="020B0604020202020204"/>
              </a:rPr>
              <a:t>Contents</a:t>
            </a:r>
            <a:endParaRPr lang="zh-CN" altLang="en-US" sz="3200" dirty="0">
              <a:solidFill>
                <a:schemeClr val="bg1"/>
              </a:solidFill>
              <a:latin typeface="Arial" panose="020B0604020202020204"/>
              <a:cs typeface="Arial" panose="020B0604020202020204"/>
            </a:endParaRPr>
          </a:p>
        </p:txBody>
      </p:sp>
      <p:sp>
        <p:nvSpPr>
          <p:cNvPr id="3" name="矩形 2"/>
          <p:cNvSpPr/>
          <p:nvPr/>
        </p:nvSpPr>
        <p:spPr>
          <a:xfrm>
            <a:off x="7084373" y="2249460"/>
            <a:ext cx="891591" cy="461665"/>
          </a:xfrm>
          <a:prstGeom prst="rect">
            <a:avLst/>
          </a:prstGeom>
        </p:spPr>
        <p:txBody>
          <a:bodyPr wrap="none">
            <a:spAutoFit/>
          </a:bodyPr>
          <a:lstStyle/>
          <a:p>
            <a:r>
              <a:rPr lang="zh-CN" altLang="en-US" sz="2400" dirty="0">
                <a:solidFill>
                  <a:srgbClr val="FFFFFF"/>
                </a:solidFill>
                <a:latin typeface="方正兰亭中黑简体" panose="02000000000000000000" charset="-122"/>
                <a:ea typeface="方正兰亭中黑简体" panose="02000000000000000000" charset="-122"/>
              </a:rPr>
              <a:t>目 录</a:t>
            </a:r>
          </a:p>
        </p:txBody>
      </p:sp>
      <p:sp>
        <p:nvSpPr>
          <p:cNvPr id="4" name="矩形 3"/>
          <p:cNvSpPr/>
          <p:nvPr/>
        </p:nvSpPr>
        <p:spPr>
          <a:xfrm>
            <a:off x="1115520" y="1754451"/>
            <a:ext cx="5400750" cy="3592587"/>
          </a:xfrm>
          <a:prstGeom prst="rect">
            <a:avLst/>
          </a:prstGeom>
        </p:spPr>
        <p:txBody>
          <a:bodyPr wrap="square">
            <a:spAutoFit/>
          </a:bodyPr>
          <a:lstStyle/>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一、研究背景</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solidFill>
                  <a:srgbClr val="C00000"/>
                </a:solidFill>
                <a:latin typeface="微软雅黑" panose="020B0503020204020204" pitchFamily="34" charset="-122"/>
                <a:ea typeface="微软雅黑" panose="020B0503020204020204" pitchFamily="34" charset="-122"/>
              </a:rPr>
              <a:t>二、文献综述</a:t>
            </a:r>
            <a:endParaRPr lang="en-US" altLang="zh-CN" sz="2800" b="1" dirty="0">
              <a:solidFill>
                <a:srgbClr val="C00000"/>
              </a:solidFill>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三、研究思路</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四、研究方案</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五、研究进度</a:t>
            </a:r>
          </a:p>
        </p:txBody>
      </p:sp>
    </p:spTree>
    <p:extLst>
      <p:ext uri="{BB962C8B-B14F-4D97-AF65-F5344CB8AC3E}">
        <p14:creationId xmlns:p14="http://schemas.microsoft.com/office/powerpoint/2010/main" val="694715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422744"/>
          </a:xfrm>
          <a:prstGeom prst="rect">
            <a:avLst/>
          </a:prstGeom>
        </p:spPr>
        <p:txBody>
          <a:bodyPr>
            <a:normAutofit fontScale="90000"/>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文献调研</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不同分离体系应用隔壁塔的节能效果</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11</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5CCCE172-5201-6C14-422D-60C48AAF2287}"/>
              </a:ext>
            </a:extLst>
          </p:cNvPr>
          <p:cNvSpPr txBox="1"/>
          <p:nvPr/>
        </p:nvSpPr>
        <p:spPr>
          <a:xfrm>
            <a:off x="251400" y="5771864"/>
            <a:ext cx="8435400" cy="248145"/>
          </a:xfrm>
          <a:prstGeom prst="rect">
            <a:avLst/>
          </a:prstGeom>
          <a:noFill/>
        </p:spPr>
        <p:txBody>
          <a:bodyPr wrap="square" rtlCol="0">
            <a:spAutoFit/>
          </a:bodyPr>
          <a:lstStyle/>
          <a:p>
            <a:pPr marL="254000" indent="-254000">
              <a:lnSpc>
                <a:spcPct val="125000"/>
              </a:lnSpc>
            </a:pPr>
            <a:r>
              <a:rPr lang="zh-CN" altLang="en-US" sz="900" b="0" i="0" dirty="0">
                <a:solidFill>
                  <a:srgbClr val="333333"/>
                </a:solidFill>
                <a:effectLst/>
                <a:latin typeface="Arial" panose="020B0604020202020204" pitchFamily="34" charset="0"/>
              </a:rPr>
              <a:t>高思亮</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田龙胜</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唐文成</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赵明</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吴巍</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分隔壁萃取精馏塔分离</a:t>
            </a:r>
            <a:r>
              <a:rPr lang="en-US" altLang="zh-CN" sz="900" b="0" i="0" dirty="0">
                <a:solidFill>
                  <a:srgbClr val="333333"/>
                </a:solidFill>
                <a:effectLst/>
                <a:latin typeface="Arial" panose="020B0604020202020204" pitchFamily="34" charset="0"/>
              </a:rPr>
              <a:t>C_4</a:t>
            </a:r>
            <a:r>
              <a:rPr lang="zh-CN" altLang="en-US" sz="900" b="0" i="0" dirty="0">
                <a:solidFill>
                  <a:srgbClr val="333333"/>
                </a:solidFill>
                <a:effectLst/>
                <a:latin typeface="Arial" panose="020B0604020202020204" pitchFamily="34" charset="0"/>
              </a:rPr>
              <a:t>烯烃与烷烃的模拟</a:t>
            </a:r>
            <a:r>
              <a:rPr lang="en-US" altLang="zh-CN" sz="900" b="0" i="0" dirty="0">
                <a:solidFill>
                  <a:srgbClr val="333333"/>
                </a:solidFill>
                <a:effectLst/>
                <a:latin typeface="Arial" panose="020B0604020202020204" pitchFamily="34" charset="0"/>
              </a:rPr>
              <a:t>[J].</a:t>
            </a:r>
            <a:r>
              <a:rPr lang="zh-CN" altLang="en-US" sz="900" b="0" i="0" dirty="0">
                <a:solidFill>
                  <a:srgbClr val="333333"/>
                </a:solidFill>
                <a:effectLst/>
                <a:latin typeface="Arial" panose="020B0604020202020204" pitchFamily="34" charset="0"/>
              </a:rPr>
              <a:t>石油化工</a:t>
            </a:r>
            <a:r>
              <a:rPr lang="en-US" altLang="zh-CN" sz="900" b="0" i="0" dirty="0">
                <a:solidFill>
                  <a:srgbClr val="333333"/>
                </a:solidFill>
                <a:effectLst/>
                <a:latin typeface="Arial" panose="020B0604020202020204" pitchFamily="34" charset="0"/>
              </a:rPr>
              <a:t>,2013,42(06):641-645.</a:t>
            </a:r>
            <a:endParaRPr lang="zh-CN" altLang="zh-CN" sz="900" b="1" dirty="0">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FA7D8FF5-CCF3-1AA6-0AD4-CDB742E8EBBD}"/>
              </a:ext>
            </a:extLst>
          </p:cNvPr>
          <p:cNvPicPr>
            <a:picLocks noChangeAspect="1"/>
          </p:cNvPicPr>
          <p:nvPr/>
        </p:nvPicPr>
        <p:blipFill rotWithShape="1">
          <a:blip r:embed="rId3"/>
          <a:srcRect b="10777"/>
          <a:stretch/>
        </p:blipFill>
        <p:spPr>
          <a:xfrm>
            <a:off x="206142" y="2303193"/>
            <a:ext cx="2857600" cy="1936574"/>
          </a:xfrm>
          <a:prstGeom prst="rect">
            <a:avLst/>
          </a:prstGeom>
        </p:spPr>
      </p:pic>
      <p:pic>
        <p:nvPicPr>
          <p:cNvPr id="20" name="图片 19">
            <a:extLst>
              <a:ext uri="{FF2B5EF4-FFF2-40B4-BE49-F238E27FC236}">
                <a16:creationId xmlns:a16="http://schemas.microsoft.com/office/drawing/2014/main" id="{4F821924-3249-3AB3-6C3F-34F1128AF9C4}"/>
              </a:ext>
            </a:extLst>
          </p:cNvPr>
          <p:cNvPicPr>
            <a:picLocks noChangeAspect="1"/>
          </p:cNvPicPr>
          <p:nvPr/>
        </p:nvPicPr>
        <p:blipFill>
          <a:blip r:embed="rId4"/>
          <a:stretch>
            <a:fillRect/>
          </a:stretch>
        </p:blipFill>
        <p:spPr>
          <a:xfrm>
            <a:off x="0" y="4880699"/>
            <a:ext cx="3497883" cy="434378"/>
          </a:xfrm>
          <a:prstGeom prst="rect">
            <a:avLst/>
          </a:prstGeom>
        </p:spPr>
      </p:pic>
      <p:sp>
        <p:nvSpPr>
          <p:cNvPr id="3" name="矩形 2">
            <a:extLst>
              <a:ext uri="{FF2B5EF4-FFF2-40B4-BE49-F238E27FC236}">
                <a16:creationId xmlns:a16="http://schemas.microsoft.com/office/drawing/2014/main" id="{089D0F3A-51DC-A853-22E5-C4C5E5DB845D}"/>
              </a:ext>
            </a:extLst>
          </p:cNvPr>
          <p:cNvSpPr/>
          <p:nvPr/>
        </p:nvSpPr>
        <p:spPr>
          <a:xfrm>
            <a:off x="5880778" y="3275286"/>
            <a:ext cx="2459090" cy="5137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A39F4334-DDFC-5A7D-01F8-20414A26CA06}"/>
              </a:ext>
            </a:extLst>
          </p:cNvPr>
          <p:cNvSpPr txBox="1"/>
          <p:nvPr/>
        </p:nvSpPr>
        <p:spPr>
          <a:xfrm>
            <a:off x="170921" y="4364888"/>
            <a:ext cx="3066434" cy="523220"/>
          </a:xfrm>
          <a:prstGeom prst="rect">
            <a:avLst/>
          </a:prstGeom>
          <a:noFill/>
        </p:spPr>
        <p:txBody>
          <a:bodyPr wrap="square" rtlCol="0" anchor="ctr">
            <a:spAutoFit/>
          </a:bodyPr>
          <a:lstStyle/>
          <a:p>
            <a:pPr algn="ctr"/>
            <a:r>
              <a:rPr lang="zh-CN" altLang="en-US" sz="1400" dirty="0"/>
              <a:t>图</a:t>
            </a:r>
            <a:r>
              <a:rPr lang="en-US" altLang="zh-CN" sz="1400" dirty="0"/>
              <a:t>1 </a:t>
            </a:r>
            <a:r>
              <a:rPr lang="zh-CN" altLang="en-US" sz="1400" dirty="0"/>
              <a:t>主塔汽相组成和副塔反</a:t>
            </a:r>
            <a:r>
              <a:rPr lang="en-US" altLang="zh-CN" sz="1400" dirty="0"/>
              <a:t>-2-</a:t>
            </a:r>
            <a:r>
              <a:rPr lang="zh-CN" altLang="en-US" sz="1400" dirty="0"/>
              <a:t>丁烯汽相浓度沿塔高的分布</a:t>
            </a:r>
          </a:p>
        </p:txBody>
      </p:sp>
      <p:sp>
        <p:nvSpPr>
          <p:cNvPr id="10" name="文本框 9">
            <a:extLst>
              <a:ext uri="{FF2B5EF4-FFF2-40B4-BE49-F238E27FC236}">
                <a16:creationId xmlns:a16="http://schemas.microsoft.com/office/drawing/2014/main" id="{7606DD19-8E0D-8206-3728-DF14EFC2748A}"/>
              </a:ext>
            </a:extLst>
          </p:cNvPr>
          <p:cNvSpPr txBox="1"/>
          <p:nvPr/>
        </p:nvSpPr>
        <p:spPr>
          <a:xfrm>
            <a:off x="3825893" y="1338067"/>
            <a:ext cx="4824670" cy="307777"/>
          </a:xfrm>
          <a:prstGeom prst="rect">
            <a:avLst/>
          </a:prstGeom>
          <a:noFill/>
        </p:spPr>
        <p:txBody>
          <a:bodyPr wrap="square" rtlCol="0" anchor="ctr">
            <a:spAutoFit/>
          </a:bodyPr>
          <a:lstStyle/>
          <a:p>
            <a:pPr algn="ctr"/>
            <a:r>
              <a:rPr lang="zh-CN" altLang="en-US" sz="1400" dirty="0"/>
              <a:t>表</a:t>
            </a:r>
            <a:r>
              <a:rPr lang="en-US" altLang="zh-CN" sz="1400" dirty="0"/>
              <a:t>1 </a:t>
            </a:r>
            <a:r>
              <a:rPr lang="zh-CN" altLang="en-US" sz="1400" dirty="0"/>
              <a:t>分隔壁萃取精馏工艺与常规萃取精馏工艺参数的比较</a:t>
            </a:r>
          </a:p>
        </p:txBody>
      </p:sp>
      <p:sp>
        <p:nvSpPr>
          <p:cNvPr id="11" name="Rectangle 13">
            <a:extLst>
              <a:ext uri="{FF2B5EF4-FFF2-40B4-BE49-F238E27FC236}">
                <a16:creationId xmlns:a16="http://schemas.microsoft.com/office/drawing/2014/main" id="{400366B4-DD53-53A4-BADA-662A1B1AD566}"/>
              </a:ext>
            </a:extLst>
          </p:cNvPr>
          <p:cNvSpPr>
            <a:spLocks noChangeArrowheads="1"/>
          </p:cNvSpPr>
          <p:nvPr/>
        </p:nvSpPr>
        <p:spPr bwMode="gray">
          <a:xfrm>
            <a:off x="3698353" y="4676158"/>
            <a:ext cx="5099060" cy="886012"/>
          </a:xfrm>
          <a:prstGeom prst="rect">
            <a:avLst/>
          </a:prstGeom>
          <a:noFill/>
          <a:ln w="38100" cap="rnd" algn="ctr">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ct val="20000"/>
              </a:spcBef>
              <a:buClr>
                <a:schemeClr val="bg2"/>
              </a:buClr>
              <a:buFont typeface="Wingdings" panose="05000000000000000000" pitchFamily="2" charset="2"/>
              <a:buChar char="l"/>
              <a:defRPr sz="3200">
                <a:solidFill>
                  <a:schemeClr val="bg2"/>
                </a:solidFill>
                <a:latin typeface="Arial" panose="020B0604020202020204" pitchFamily="34" charset="0"/>
                <a:ea typeface="黑体" panose="02010609060101010101" pitchFamily="49" charset="-122"/>
              </a:defRPr>
            </a:lvl1pPr>
            <a:lvl2pPr marL="742950" indent="-285750">
              <a:lnSpc>
                <a:spcPct val="115000"/>
              </a:lnSpc>
              <a:spcBef>
                <a:spcPct val="20000"/>
              </a:spcBef>
              <a:buClr>
                <a:schemeClr val="bg2"/>
              </a:buClr>
              <a:buFont typeface="Wingdings" panose="05000000000000000000" pitchFamily="2" charset="2"/>
              <a:buChar char="Ø"/>
              <a:defRPr sz="2800">
                <a:solidFill>
                  <a:schemeClr val="bg2"/>
                </a:solidFill>
                <a:latin typeface="Arial" panose="020B0604020202020204" pitchFamily="34" charset="0"/>
                <a:ea typeface="黑体" panose="02010609060101010101" pitchFamily="49" charset="-122"/>
              </a:defRPr>
            </a:lvl2pPr>
            <a:lvl3pPr marL="1143000" indent="-228600">
              <a:lnSpc>
                <a:spcPct val="115000"/>
              </a:lnSpc>
              <a:spcBef>
                <a:spcPct val="20000"/>
              </a:spcBef>
              <a:buClr>
                <a:schemeClr val="bg2"/>
              </a:buClr>
              <a:buFont typeface="Wingdings" panose="05000000000000000000" pitchFamily="2" charset="2"/>
              <a:buChar char="u"/>
              <a:defRPr sz="2400">
                <a:solidFill>
                  <a:schemeClr val="bg2"/>
                </a:solidFill>
                <a:latin typeface="Arial" panose="020B0604020202020204" pitchFamily="34" charset="0"/>
                <a:ea typeface="黑体" panose="02010609060101010101" pitchFamily="49" charset="-122"/>
              </a:defRPr>
            </a:lvl3pPr>
            <a:lvl4pPr marL="1600200" indent="-228600">
              <a:lnSpc>
                <a:spcPct val="115000"/>
              </a:lnSpc>
              <a:spcBef>
                <a:spcPct val="20000"/>
              </a:spcBef>
              <a:buClr>
                <a:schemeClr val="bg2"/>
              </a:buClr>
              <a:buChar char="–"/>
              <a:defRPr sz="2000" b="1">
                <a:solidFill>
                  <a:schemeClr val="bg2"/>
                </a:solidFill>
                <a:latin typeface="Arial" panose="020B0604020202020204" pitchFamily="34" charset="0"/>
                <a:ea typeface="宋体" panose="02010600030101010101" pitchFamily="2" charset="-122"/>
              </a:defRPr>
            </a:lvl4pPr>
            <a:lvl5pPr marL="2057400" indent="-228600">
              <a:lnSpc>
                <a:spcPct val="115000"/>
              </a:lnSpc>
              <a:spcBef>
                <a:spcPct val="20000"/>
              </a:spcBef>
              <a:buClr>
                <a:schemeClr val="bg2"/>
              </a:buClr>
              <a:buChar char="•"/>
              <a:defRPr sz="2000" b="1">
                <a:solidFill>
                  <a:schemeClr val="bg2"/>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9pPr>
          </a:lstStyle>
          <a:p>
            <a:pPr marL="342900" indent="-342900">
              <a:lnSpc>
                <a:spcPct val="100000"/>
              </a:lnSpc>
              <a:spcBef>
                <a:spcPct val="0"/>
              </a:spcBef>
              <a:buClr>
                <a:srgbClr val="FF0000"/>
              </a:buClr>
              <a:buFont typeface="Wingdings" panose="05000000000000000000" pitchFamily="2" charset="2"/>
              <a:buChar char="Ø"/>
              <a:defRPr/>
            </a:pPr>
            <a:r>
              <a:rPr lang="zh-CN" altLang="en-US" sz="1600" b="1" dirty="0">
                <a:solidFill>
                  <a:srgbClr val="000079"/>
                </a:solidFill>
                <a:latin typeface="Times New Roman" pitchFamily="18" charset="0"/>
                <a:cs typeface="Times New Roman" pitchFamily="18" charset="0"/>
              </a:rPr>
              <a:t>由上表可知，与常规萃取精馏工艺相比，分隔壁萃取精馏塔塔釜再沸器可节能</a:t>
            </a:r>
            <a:r>
              <a:rPr lang="en-US" altLang="zh-CN" sz="1600" b="1" dirty="0">
                <a:solidFill>
                  <a:srgbClr val="000079"/>
                </a:solidFill>
                <a:latin typeface="Times New Roman" pitchFamily="18" charset="0"/>
                <a:cs typeface="Times New Roman" pitchFamily="18" charset="0"/>
              </a:rPr>
              <a:t>17.31%</a:t>
            </a:r>
            <a:r>
              <a:rPr lang="zh-CN" altLang="en-US" sz="1600" b="1" dirty="0">
                <a:solidFill>
                  <a:srgbClr val="000079"/>
                </a:solidFill>
                <a:latin typeface="Times New Roman" pitchFamily="18" charset="0"/>
                <a:cs typeface="Times New Roman" pitchFamily="18" charset="0"/>
              </a:rPr>
              <a:t>，塔顶冷凝器可节能</a:t>
            </a:r>
            <a:r>
              <a:rPr lang="en-US" altLang="zh-CN" sz="1600" b="1" dirty="0">
                <a:solidFill>
                  <a:srgbClr val="000079"/>
                </a:solidFill>
                <a:latin typeface="Times New Roman" pitchFamily="18" charset="0"/>
                <a:cs typeface="Times New Roman" pitchFamily="18" charset="0"/>
              </a:rPr>
              <a:t>25.81%</a:t>
            </a:r>
            <a:r>
              <a:rPr lang="zh-CN" altLang="en-US" sz="1600" b="1" dirty="0">
                <a:solidFill>
                  <a:srgbClr val="000079"/>
                </a:solidFill>
                <a:latin typeface="Times New Roman" pitchFamily="18" charset="0"/>
                <a:cs typeface="Times New Roman" pitchFamily="18" charset="0"/>
              </a:rPr>
              <a:t>，存在明显的节能优势。</a:t>
            </a:r>
            <a:endParaRPr lang="en-US" altLang="zh-CN" sz="1600" b="1" dirty="0">
              <a:solidFill>
                <a:srgbClr val="000079"/>
              </a:solidFill>
              <a:latin typeface="Times New Roman" pitchFamily="18" charset="0"/>
              <a:cs typeface="Times New Roman" pitchFamily="18" charset="0"/>
            </a:endParaRPr>
          </a:p>
        </p:txBody>
      </p:sp>
      <p:sp>
        <p:nvSpPr>
          <p:cNvPr id="12" name="矩形 11">
            <a:extLst>
              <a:ext uri="{FF2B5EF4-FFF2-40B4-BE49-F238E27FC236}">
                <a16:creationId xmlns:a16="http://schemas.microsoft.com/office/drawing/2014/main" id="{ECEB50FB-0EE3-A407-3B9A-F455AE8C4996}"/>
              </a:ext>
            </a:extLst>
          </p:cNvPr>
          <p:cNvSpPr/>
          <p:nvPr/>
        </p:nvSpPr>
        <p:spPr>
          <a:xfrm>
            <a:off x="272763" y="926941"/>
            <a:ext cx="6851180" cy="369332"/>
          </a:xfrm>
          <a:prstGeom prst="rect">
            <a:avLst/>
          </a:prstGeom>
        </p:spPr>
        <p:txBody>
          <a:bodyPr wrap="square">
            <a:spAutoFit/>
          </a:bodyPr>
          <a:lstStyle/>
          <a:p>
            <a:pPr marL="342900" indent="-342900">
              <a:lnSpc>
                <a:spcPct val="90000"/>
              </a:lnSpc>
              <a:spcBef>
                <a:spcPct val="20000"/>
              </a:spcBef>
              <a:buClr>
                <a:srgbClr val="00B050"/>
              </a:buClr>
              <a:buFont typeface="Wingdings" pitchFamily="2" charset="2"/>
              <a:buChar char="v"/>
              <a:defRPr/>
            </a:pPr>
            <a:r>
              <a:rPr lang="zh-CN" altLang="en-US" sz="2000" b="1" dirty="0">
                <a:solidFill>
                  <a:srgbClr val="E3E3FF">
                    <a:lumMod val="25000"/>
                  </a:srgbClr>
                </a:solidFill>
                <a:latin typeface="Times New Roman" panose="02020603050405020304" pitchFamily="18" charset="0"/>
                <a:ea typeface="黑体" panose="02010609060101010101" pitchFamily="49" charset="-122"/>
                <a:cs typeface="Times New Roman" panose="02020603050405020304" pitchFamily="18" charset="0"/>
              </a:rPr>
              <a:t>分隔壁萃取精馏塔分离</a:t>
            </a:r>
            <a:r>
              <a:rPr lang="en-US" altLang="zh-CN" sz="2000" b="1" dirty="0">
                <a:solidFill>
                  <a:srgbClr val="E3E3FF">
                    <a:lumMod val="25000"/>
                  </a:srgbClr>
                </a:solidFill>
                <a:latin typeface="Times New Roman" panose="02020603050405020304" pitchFamily="18" charset="0"/>
                <a:ea typeface="黑体" panose="02010609060101010101" pitchFamily="49" charset="-122"/>
                <a:cs typeface="Times New Roman" panose="02020603050405020304" pitchFamily="18" charset="0"/>
              </a:rPr>
              <a:t>C</a:t>
            </a:r>
            <a:r>
              <a:rPr lang="en-US" altLang="zh-CN" sz="2000" b="1" baseline="-25000" dirty="0">
                <a:solidFill>
                  <a:srgbClr val="E3E3FF">
                    <a:lumMod val="25000"/>
                  </a:srgbClr>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000" b="1" dirty="0">
                <a:solidFill>
                  <a:srgbClr val="E3E3FF">
                    <a:lumMod val="25000"/>
                  </a:srgbClr>
                </a:solidFill>
                <a:latin typeface="Times New Roman" panose="02020603050405020304" pitchFamily="18" charset="0"/>
                <a:ea typeface="黑体" panose="02010609060101010101" pitchFamily="49" charset="-122"/>
                <a:cs typeface="Times New Roman" panose="02020603050405020304" pitchFamily="18" charset="0"/>
              </a:rPr>
              <a:t>烯烃与烷烃的模拟</a:t>
            </a:r>
          </a:p>
        </p:txBody>
      </p:sp>
      <p:sp>
        <p:nvSpPr>
          <p:cNvPr id="13" name="文本框 12">
            <a:extLst>
              <a:ext uri="{FF2B5EF4-FFF2-40B4-BE49-F238E27FC236}">
                <a16:creationId xmlns:a16="http://schemas.microsoft.com/office/drawing/2014/main" id="{21BC3870-70CE-5BDC-F8E7-83C2B8A43323}"/>
              </a:ext>
            </a:extLst>
          </p:cNvPr>
          <p:cNvSpPr txBox="1"/>
          <p:nvPr/>
        </p:nvSpPr>
        <p:spPr>
          <a:xfrm>
            <a:off x="383242" y="1520247"/>
            <a:ext cx="2659774" cy="830997"/>
          </a:xfrm>
          <a:prstGeom prst="rect">
            <a:avLst/>
          </a:prstGeom>
          <a:noFill/>
        </p:spPr>
        <p:txBody>
          <a:bodyPr wrap="square" rtlCol="0">
            <a:spAutoFit/>
          </a:bodyPr>
          <a:lstStyle/>
          <a:p>
            <a:r>
              <a:rPr lang="zh-CN" altLang="en-US" sz="1200" b="1" dirty="0">
                <a:solidFill>
                  <a:srgbClr val="00B050"/>
                </a:solidFill>
                <a:latin typeface="Arial"/>
                <a:ea typeface="黑体"/>
              </a:rPr>
              <a:t>图</a:t>
            </a:r>
            <a:r>
              <a:rPr lang="en-US" altLang="zh-CN" sz="1200" b="1" dirty="0">
                <a:solidFill>
                  <a:srgbClr val="00B050"/>
                </a:solidFill>
                <a:latin typeface="Arial"/>
                <a:ea typeface="黑体"/>
              </a:rPr>
              <a:t>1</a:t>
            </a:r>
            <a:r>
              <a:rPr lang="zh-CN" altLang="en-US" sz="1200" b="1" dirty="0">
                <a:solidFill>
                  <a:srgbClr val="00B050"/>
                </a:solidFill>
                <a:latin typeface="Arial"/>
                <a:ea typeface="黑体"/>
              </a:rPr>
              <a:t>看出隔壁塔的应用避免了返混，但没有完全避免，分隔壁精馏塔虽不能完全避免能量的损耗，但其节能效果与常规萃取精馏塔相比仍然明显。</a:t>
            </a:r>
            <a:endParaRPr lang="en-US" altLang="zh-CN" sz="1200" b="1" dirty="0">
              <a:solidFill>
                <a:srgbClr val="00B050"/>
              </a:solidFill>
              <a:latin typeface="Arial"/>
              <a:ea typeface="黑体"/>
            </a:endParaRPr>
          </a:p>
        </p:txBody>
      </p:sp>
      <p:sp>
        <p:nvSpPr>
          <p:cNvPr id="15" name="矩形 14">
            <a:extLst>
              <a:ext uri="{FF2B5EF4-FFF2-40B4-BE49-F238E27FC236}">
                <a16:creationId xmlns:a16="http://schemas.microsoft.com/office/drawing/2014/main" id="{368619CE-971F-3C25-90A1-D83EEA56C87F}"/>
              </a:ext>
            </a:extLst>
          </p:cNvPr>
          <p:cNvSpPr/>
          <p:nvPr/>
        </p:nvSpPr>
        <p:spPr>
          <a:xfrm>
            <a:off x="2510735" y="2417761"/>
            <a:ext cx="360050" cy="165794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表格 18">
            <a:extLst>
              <a:ext uri="{FF2B5EF4-FFF2-40B4-BE49-F238E27FC236}">
                <a16:creationId xmlns:a16="http://schemas.microsoft.com/office/drawing/2014/main" id="{F29181F1-51DF-9D42-49F0-01E114C05808}"/>
              </a:ext>
            </a:extLst>
          </p:cNvPr>
          <p:cNvGraphicFramePr>
            <a:graphicFrameLocks noGrp="1"/>
          </p:cNvGraphicFramePr>
          <p:nvPr>
            <p:extLst>
              <p:ext uri="{D42A27DB-BD31-4B8C-83A1-F6EECF244321}">
                <p14:modId xmlns:p14="http://schemas.microsoft.com/office/powerpoint/2010/main" val="1201863646"/>
              </p:ext>
            </p:extLst>
          </p:nvPr>
        </p:nvGraphicFramePr>
        <p:xfrm>
          <a:off x="3488450" y="1750270"/>
          <a:ext cx="5193416" cy="2693529"/>
        </p:xfrm>
        <a:graphic>
          <a:graphicData uri="http://schemas.openxmlformats.org/drawingml/2006/table">
            <a:tbl>
              <a:tblPr>
                <a:tableStyleId>{5C22544A-7EE6-4342-B048-85BDC9FD1C3A}</a:tableStyleId>
              </a:tblPr>
              <a:tblGrid>
                <a:gridCol w="1964231">
                  <a:extLst>
                    <a:ext uri="{9D8B030D-6E8A-4147-A177-3AD203B41FA5}">
                      <a16:colId xmlns:a16="http://schemas.microsoft.com/office/drawing/2014/main" val="3079056653"/>
                    </a:ext>
                  </a:extLst>
                </a:gridCol>
                <a:gridCol w="736177">
                  <a:extLst>
                    <a:ext uri="{9D8B030D-6E8A-4147-A177-3AD203B41FA5}">
                      <a16:colId xmlns:a16="http://schemas.microsoft.com/office/drawing/2014/main" val="3514732775"/>
                    </a:ext>
                  </a:extLst>
                </a:gridCol>
                <a:gridCol w="1042918">
                  <a:extLst>
                    <a:ext uri="{9D8B030D-6E8A-4147-A177-3AD203B41FA5}">
                      <a16:colId xmlns:a16="http://schemas.microsoft.com/office/drawing/2014/main" val="4194059730"/>
                    </a:ext>
                  </a:extLst>
                </a:gridCol>
                <a:gridCol w="797525">
                  <a:extLst>
                    <a:ext uri="{9D8B030D-6E8A-4147-A177-3AD203B41FA5}">
                      <a16:colId xmlns:a16="http://schemas.microsoft.com/office/drawing/2014/main" val="3447173008"/>
                    </a:ext>
                  </a:extLst>
                </a:gridCol>
                <a:gridCol w="652565">
                  <a:extLst>
                    <a:ext uri="{9D8B030D-6E8A-4147-A177-3AD203B41FA5}">
                      <a16:colId xmlns:a16="http://schemas.microsoft.com/office/drawing/2014/main" val="803145544"/>
                    </a:ext>
                  </a:extLst>
                </a:gridCol>
              </a:tblGrid>
              <a:tr h="299281">
                <a:tc rowSpan="2">
                  <a:txBody>
                    <a:bodyPr/>
                    <a:lstStyle/>
                    <a:p>
                      <a:pPr algn="ctr"/>
                      <a:r>
                        <a:rPr lang="zh-CN" altLang="en-US" sz="1200" dirty="0"/>
                        <a:t>项目</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zh-CN" altLang="en-US" sz="1200" dirty="0"/>
                        <a:t>常规萃取精馏</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tc gridSpan="2">
                  <a:txBody>
                    <a:bodyPr/>
                    <a:lstStyle/>
                    <a:p>
                      <a:pPr algn="ctr"/>
                      <a:r>
                        <a:rPr lang="zh-CN" altLang="en-US" sz="1200" dirty="0"/>
                        <a:t>分隔壁萃取精馏</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extLst>
                  <a:ext uri="{0D108BD9-81ED-4DB2-BD59-A6C34878D82A}">
                    <a16:rowId xmlns:a16="http://schemas.microsoft.com/office/drawing/2014/main" val="179216014"/>
                  </a:ext>
                </a:extLst>
              </a:tr>
              <a:tr h="299281">
                <a:tc vMerge="1">
                  <a:txBody>
                    <a:bodyPr/>
                    <a:lstStyle/>
                    <a:p>
                      <a:endParaRPr lang="zh-CN" altLang="en-US" dirty="0"/>
                    </a:p>
                  </a:txBody>
                  <a:tcPr/>
                </a:tc>
                <a:tc>
                  <a:txBody>
                    <a:bodyPr/>
                    <a:lstStyle/>
                    <a:p>
                      <a:pPr algn="ctr"/>
                      <a:r>
                        <a:rPr lang="zh-CN" altLang="en-US" sz="1200" dirty="0"/>
                        <a:t>精馏塔</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t>萃取回收塔</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t>主塔</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t>侧塔</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073981"/>
                  </a:ext>
                </a:extLst>
              </a:tr>
              <a:tr h="299281">
                <a:tc>
                  <a:txBody>
                    <a:bodyPr/>
                    <a:lstStyle/>
                    <a:p>
                      <a:pPr algn="ctr"/>
                      <a:r>
                        <a:rPr lang="zh-CN" altLang="en-US" sz="1200" dirty="0"/>
                        <a:t>塔板数</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CN" sz="1200" dirty="0"/>
                        <a:t>35</a:t>
                      </a:r>
                      <a:endParaRPr lang="zh-CN" altLang="en-US" sz="12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CN" sz="1200" dirty="0"/>
                        <a:t>20</a:t>
                      </a:r>
                      <a:endParaRPr lang="zh-CN" altLang="en-US" sz="12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CN" sz="1200" dirty="0"/>
                        <a:t>40</a:t>
                      </a:r>
                      <a:endParaRPr lang="zh-CN" altLang="en-US" sz="1200" dirty="0"/>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CN" sz="1200" dirty="0"/>
                        <a:t>10</a:t>
                      </a:r>
                      <a:endParaRPr lang="zh-CN" altLang="en-US" sz="1200" dirty="0"/>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13450292"/>
                  </a:ext>
                </a:extLst>
              </a:tr>
              <a:tr h="299281">
                <a:tc>
                  <a:txBody>
                    <a:bodyPr/>
                    <a:lstStyle/>
                    <a:p>
                      <a:pPr algn="ctr"/>
                      <a:r>
                        <a:rPr lang="zh-CN" altLang="en-US" sz="1200" dirty="0"/>
                        <a:t>回流比</a:t>
                      </a:r>
                    </a:p>
                  </a:txBody>
                  <a:tcPr anchor="ctr">
                    <a:noFill/>
                  </a:tcPr>
                </a:tc>
                <a:tc>
                  <a:txBody>
                    <a:bodyPr/>
                    <a:lstStyle/>
                    <a:p>
                      <a:pPr algn="ctr"/>
                      <a:r>
                        <a:rPr lang="en-US" altLang="zh-CN" sz="1200" dirty="0"/>
                        <a:t>4</a:t>
                      </a:r>
                      <a:endParaRPr lang="zh-CN" altLang="en-US" sz="1200" dirty="0"/>
                    </a:p>
                  </a:txBody>
                  <a:tcPr anchor="ctr">
                    <a:noFill/>
                  </a:tcPr>
                </a:tc>
                <a:tc>
                  <a:txBody>
                    <a:bodyPr/>
                    <a:lstStyle/>
                    <a:p>
                      <a:pPr algn="ctr"/>
                      <a:r>
                        <a:rPr lang="en-US" altLang="zh-CN" sz="1200" dirty="0"/>
                        <a:t>2</a:t>
                      </a:r>
                      <a:endParaRPr lang="zh-CN" altLang="en-US" sz="1200" dirty="0"/>
                    </a:p>
                  </a:txBody>
                  <a:tcPr anchor="ctr">
                    <a:noFill/>
                  </a:tcPr>
                </a:tc>
                <a:tc>
                  <a:txBody>
                    <a:bodyPr/>
                    <a:lstStyle/>
                    <a:p>
                      <a:pPr algn="ctr"/>
                      <a:r>
                        <a:rPr lang="en-US" altLang="zh-CN" sz="1200" dirty="0"/>
                        <a:t>3.5</a:t>
                      </a:r>
                      <a:endParaRPr lang="zh-CN" altLang="en-US" sz="1200" dirty="0"/>
                    </a:p>
                  </a:txBody>
                  <a:tcPr anchor="ctr">
                    <a:noFill/>
                  </a:tcPr>
                </a:tc>
                <a:tc>
                  <a:txBody>
                    <a:bodyPr/>
                    <a:lstStyle/>
                    <a:p>
                      <a:pPr algn="ctr"/>
                      <a:endParaRPr lang="zh-CN" altLang="en-US" sz="1200" dirty="0"/>
                    </a:p>
                  </a:txBody>
                  <a:tcPr anchor="ctr">
                    <a:noFill/>
                  </a:tcPr>
                </a:tc>
                <a:extLst>
                  <a:ext uri="{0D108BD9-81ED-4DB2-BD59-A6C34878D82A}">
                    <a16:rowId xmlns:a16="http://schemas.microsoft.com/office/drawing/2014/main" val="376893123"/>
                  </a:ext>
                </a:extLst>
              </a:tr>
              <a:tr h="299281">
                <a:tc>
                  <a:txBody>
                    <a:bodyPr/>
                    <a:lstStyle/>
                    <a:p>
                      <a:pPr algn="ctr"/>
                      <a:r>
                        <a:rPr lang="zh-CN" altLang="en-US" sz="1200" dirty="0"/>
                        <a:t>溶剂比</a:t>
                      </a:r>
                    </a:p>
                  </a:txBody>
                  <a:tcPr anchor="ctr">
                    <a:noFill/>
                  </a:tcPr>
                </a:tc>
                <a:tc>
                  <a:txBody>
                    <a:bodyPr/>
                    <a:lstStyle/>
                    <a:p>
                      <a:pPr algn="ctr"/>
                      <a:r>
                        <a:rPr lang="en-US" altLang="zh-CN" sz="1200" dirty="0"/>
                        <a:t>2.5</a:t>
                      </a:r>
                      <a:endParaRPr lang="zh-CN" altLang="en-US" sz="1200" dirty="0"/>
                    </a:p>
                  </a:txBody>
                  <a:tcPr anchor="ctr">
                    <a:noFill/>
                  </a:tcPr>
                </a:tc>
                <a:tc>
                  <a:txBody>
                    <a:bodyPr/>
                    <a:lstStyle/>
                    <a:p>
                      <a:pPr algn="ctr"/>
                      <a:endParaRPr lang="zh-CN" altLang="en-US" sz="1200" dirty="0"/>
                    </a:p>
                  </a:txBody>
                  <a:tcPr anchor="ctr">
                    <a:noFill/>
                  </a:tcPr>
                </a:tc>
                <a:tc>
                  <a:txBody>
                    <a:bodyPr/>
                    <a:lstStyle/>
                    <a:p>
                      <a:pPr algn="ctr"/>
                      <a:r>
                        <a:rPr lang="en-US" altLang="zh-CN" sz="1200" dirty="0"/>
                        <a:t>2.5</a:t>
                      </a:r>
                      <a:endParaRPr lang="zh-CN" altLang="en-US" sz="1200" dirty="0"/>
                    </a:p>
                  </a:txBody>
                  <a:tcPr anchor="ctr">
                    <a:noFill/>
                  </a:tcPr>
                </a:tc>
                <a:tc>
                  <a:txBody>
                    <a:bodyPr/>
                    <a:lstStyle/>
                    <a:p>
                      <a:pPr algn="ctr"/>
                      <a:endParaRPr lang="zh-CN" altLang="en-US" sz="1200" dirty="0"/>
                    </a:p>
                  </a:txBody>
                  <a:tcPr anchor="ctr">
                    <a:noFill/>
                  </a:tcPr>
                </a:tc>
                <a:extLst>
                  <a:ext uri="{0D108BD9-81ED-4DB2-BD59-A6C34878D82A}">
                    <a16:rowId xmlns:a16="http://schemas.microsoft.com/office/drawing/2014/main" val="2442956032"/>
                  </a:ext>
                </a:extLst>
              </a:tr>
              <a:tr h="299281">
                <a:tc>
                  <a:txBody>
                    <a:bodyPr/>
                    <a:lstStyle/>
                    <a:p>
                      <a:pPr algn="ctr"/>
                      <a:r>
                        <a:rPr lang="zh-CN" altLang="en-US" sz="1200" dirty="0"/>
                        <a:t>再沸器热负荷</a:t>
                      </a:r>
                      <a:r>
                        <a:rPr lang="en-US" altLang="zh-CN" sz="1200" dirty="0"/>
                        <a:t>/MW</a:t>
                      </a:r>
                      <a:endParaRPr lang="zh-CN" altLang="en-US" sz="1200" dirty="0"/>
                    </a:p>
                  </a:txBody>
                  <a:tcPr anchor="ctr">
                    <a:noFill/>
                  </a:tcPr>
                </a:tc>
                <a:tc gridSpan="2">
                  <a:txBody>
                    <a:bodyPr/>
                    <a:lstStyle/>
                    <a:p>
                      <a:pPr algn="ctr"/>
                      <a:r>
                        <a:rPr lang="en-US" altLang="zh-CN" sz="1200" dirty="0"/>
                        <a:t>0.52</a:t>
                      </a:r>
                      <a:endParaRPr lang="zh-CN" altLang="en-US" sz="1200" dirty="0"/>
                    </a:p>
                  </a:txBody>
                  <a:tcPr anchor="ctr">
                    <a:noFill/>
                  </a:tcPr>
                </a:tc>
                <a:tc hMerge="1">
                  <a:txBody>
                    <a:bodyPr/>
                    <a:lstStyle/>
                    <a:p>
                      <a:endParaRPr lang="zh-CN" altLang="en-US" dirty="0"/>
                    </a:p>
                  </a:txBody>
                  <a:tcPr/>
                </a:tc>
                <a:tc gridSpan="2">
                  <a:txBody>
                    <a:bodyPr/>
                    <a:lstStyle/>
                    <a:p>
                      <a:pPr algn="ctr"/>
                      <a:r>
                        <a:rPr lang="en-US" altLang="zh-CN" sz="1200" dirty="0"/>
                        <a:t>0.43</a:t>
                      </a:r>
                      <a:endParaRPr lang="zh-CN" altLang="en-US" sz="1200" dirty="0"/>
                    </a:p>
                  </a:txBody>
                  <a:tcPr anchor="ctr">
                    <a:noFill/>
                  </a:tcPr>
                </a:tc>
                <a:tc hMerge="1">
                  <a:txBody>
                    <a:bodyPr/>
                    <a:lstStyle/>
                    <a:p>
                      <a:endParaRPr lang="zh-CN" altLang="en-US" dirty="0"/>
                    </a:p>
                  </a:txBody>
                  <a:tcPr/>
                </a:tc>
                <a:extLst>
                  <a:ext uri="{0D108BD9-81ED-4DB2-BD59-A6C34878D82A}">
                    <a16:rowId xmlns:a16="http://schemas.microsoft.com/office/drawing/2014/main" val="3403733032"/>
                  </a:ext>
                </a:extLst>
              </a:tr>
              <a:tr h="299281">
                <a:tc>
                  <a:txBody>
                    <a:bodyPr/>
                    <a:lstStyle/>
                    <a:p>
                      <a:pPr algn="ctr"/>
                      <a:r>
                        <a:rPr lang="zh-CN" altLang="en-US" sz="1200" dirty="0"/>
                        <a:t>冷凝器热负荷</a:t>
                      </a:r>
                      <a:r>
                        <a:rPr lang="en-US" altLang="zh-CN" sz="1200" dirty="0"/>
                        <a:t>/MW</a:t>
                      </a:r>
                      <a:endParaRPr lang="zh-CN" altLang="en-US" sz="1200" dirty="0"/>
                    </a:p>
                  </a:txBody>
                  <a:tcPr anchor="ctr">
                    <a:noFill/>
                  </a:tcPr>
                </a:tc>
                <a:tc gridSpan="2">
                  <a:txBody>
                    <a:bodyPr/>
                    <a:lstStyle/>
                    <a:p>
                      <a:pPr algn="ctr"/>
                      <a:r>
                        <a:rPr lang="en-US" altLang="zh-CN" sz="1200" dirty="0"/>
                        <a:t>0.31</a:t>
                      </a:r>
                      <a:endParaRPr lang="zh-CN" altLang="en-US" sz="1200" dirty="0"/>
                    </a:p>
                  </a:txBody>
                  <a:tcPr anchor="ctr">
                    <a:noFill/>
                  </a:tcPr>
                </a:tc>
                <a:tc hMerge="1">
                  <a:txBody>
                    <a:bodyPr/>
                    <a:lstStyle/>
                    <a:p>
                      <a:endParaRPr lang="zh-CN" altLang="en-US" dirty="0"/>
                    </a:p>
                  </a:txBody>
                  <a:tcPr/>
                </a:tc>
                <a:tc gridSpan="2">
                  <a:txBody>
                    <a:bodyPr/>
                    <a:lstStyle/>
                    <a:p>
                      <a:pPr algn="ctr"/>
                      <a:r>
                        <a:rPr lang="en-US" altLang="zh-CN" sz="1200" dirty="0"/>
                        <a:t>0.23</a:t>
                      </a:r>
                      <a:endParaRPr lang="zh-CN" altLang="en-US" sz="1200" dirty="0"/>
                    </a:p>
                  </a:txBody>
                  <a:tcPr anchor="ctr">
                    <a:noFill/>
                  </a:tcPr>
                </a:tc>
                <a:tc hMerge="1">
                  <a:txBody>
                    <a:bodyPr/>
                    <a:lstStyle/>
                    <a:p>
                      <a:endParaRPr lang="zh-CN" altLang="en-US" dirty="0"/>
                    </a:p>
                  </a:txBody>
                  <a:tcPr/>
                </a:tc>
                <a:extLst>
                  <a:ext uri="{0D108BD9-81ED-4DB2-BD59-A6C34878D82A}">
                    <a16:rowId xmlns:a16="http://schemas.microsoft.com/office/drawing/2014/main" val="105760406"/>
                  </a:ext>
                </a:extLst>
              </a:tr>
              <a:tr h="299281">
                <a:tc>
                  <a:txBody>
                    <a:bodyPr/>
                    <a:lstStyle/>
                    <a:p>
                      <a:pPr algn="ctr"/>
                      <a:r>
                        <a:rPr lang="zh-CN" altLang="en-US" sz="1200" dirty="0"/>
                        <a:t>反</a:t>
                      </a:r>
                      <a:r>
                        <a:rPr lang="en-US" altLang="zh-CN" sz="1200" dirty="0"/>
                        <a:t>-2-</a:t>
                      </a:r>
                      <a:r>
                        <a:rPr lang="zh-CN" altLang="en-US" sz="1200" dirty="0"/>
                        <a:t>丁烯纯度（</a:t>
                      </a:r>
                      <a:r>
                        <a:rPr lang="en-US" altLang="zh-CN" sz="1200" dirty="0"/>
                        <a:t>w</a:t>
                      </a:r>
                      <a:r>
                        <a:rPr lang="zh-CN" altLang="en-US" sz="1200" dirty="0"/>
                        <a:t>）</a:t>
                      </a:r>
                      <a:r>
                        <a:rPr lang="en-US" altLang="zh-CN" sz="1200" dirty="0"/>
                        <a:t>/%</a:t>
                      </a:r>
                      <a:endParaRPr lang="zh-CN" altLang="en-US" sz="1200" dirty="0"/>
                    </a:p>
                  </a:txBody>
                  <a:tcPr anchor="ctr">
                    <a:noFill/>
                  </a:tcPr>
                </a:tc>
                <a:tc gridSpan="2">
                  <a:txBody>
                    <a:bodyPr/>
                    <a:lstStyle/>
                    <a:p>
                      <a:pPr algn="ctr"/>
                      <a:r>
                        <a:rPr lang="en-US" altLang="zh-CN" sz="1200" dirty="0"/>
                        <a:t>99.9</a:t>
                      </a:r>
                      <a:endParaRPr lang="zh-CN" altLang="en-US" sz="1200" dirty="0"/>
                    </a:p>
                  </a:txBody>
                  <a:tcPr anchor="ctr">
                    <a:noFill/>
                  </a:tcPr>
                </a:tc>
                <a:tc hMerge="1">
                  <a:txBody>
                    <a:bodyPr/>
                    <a:lstStyle/>
                    <a:p>
                      <a:endParaRPr lang="zh-CN" altLang="en-US" dirty="0"/>
                    </a:p>
                  </a:txBody>
                  <a:tcPr/>
                </a:tc>
                <a:tc gridSpan="2">
                  <a:txBody>
                    <a:bodyPr/>
                    <a:lstStyle/>
                    <a:p>
                      <a:pPr algn="ctr"/>
                      <a:r>
                        <a:rPr lang="en-US" altLang="zh-CN" sz="1200" dirty="0"/>
                        <a:t>99.9</a:t>
                      </a:r>
                      <a:endParaRPr lang="zh-CN" altLang="en-US" sz="1200" dirty="0"/>
                    </a:p>
                  </a:txBody>
                  <a:tcPr anchor="ctr">
                    <a:noFill/>
                  </a:tcPr>
                </a:tc>
                <a:tc hMerge="1">
                  <a:txBody>
                    <a:bodyPr/>
                    <a:lstStyle/>
                    <a:p>
                      <a:endParaRPr lang="zh-CN" altLang="en-US" dirty="0"/>
                    </a:p>
                  </a:txBody>
                  <a:tcPr/>
                </a:tc>
                <a:extLst>
                  <a:ext uri="{0D108BD9-81ED-4DB2-BD59-A6C34878D82A}">
                    <a16:rowId xmlns:a16="http://schemas.microsoft.com/office/drawing/2014/main" val="3494932670"/>
                  </a:ext>
                </a:extLst>
              </a:tr>
              <a:tr h="299281">
                <a:tc>
                  <a:txBody>
                    <a:bodyPr/>
                    <a:lstStyle/>
                    <a:p>
                      <a:pPr algn="ctr"/>
                      <a:r>
                        <a:rPr lang="zh-CN" altLang="en-US" sz="1200" dirty="0"/>
                        <a:t>正丁烷纯度（</a:t>
                      </a:r>
                      <a:r>
                        <a:rPr lang="en-US" altLang="zh-CN" sz="1200" dirty="0"/>
                        <a:t>w</a:t>
                      </a:r>
                      <a:r>
                        <a:rPr lang="zh-CN" altLang="en-US" sz="1200" dirty="0"/>
                        <a:t>）</a:t>
                      </a:r>
                      <a:r>
                        <a:rPr lang="en-US" altLang="zh-CN" sz="1200" dirty="0"/>
                        <a:t>/%</a:t>
                      </a:r>
                      <a:endParaRPr lang="zh-CN" altLang="en-US" sz="1200" dirty="0"/>
                    </a:p>
                  </a:txBody>
                  <a:tcPr anchor="ctr">
                    <a:lnB w="12700" cap="flat" cmpd="sng" algn="ctr">
                      <a:solidFill>
                        <a:schemeClr val="tx1"/>
                      </a:solidFill>
                      <a:prstDash val="solid"/>
                      <a:round/>
                      <a:headEnd type="none" w="med" len="med"/>
                      <a:tailEnd type="none" w="med" len="med"/>
                    </a:lnB>
                    <a:noFill/>
                  </a:tcPr>
                </a:tc>
                <a:tc gridSpan="2">
                  <a:txBody>
                    <a:bodyPr/>
                    <a:lstStyle/>
                    <a:p>
                      <a:pPr algn="ctr"/>
                      <a:r>
                        <a:rPr lang="en-US" altLang="zh-CN" sz="1200" dirty="0"/>
                        <a:t>99.0</a:t>
                      </a:r>
                      <a:endParaRPr lang="zh-CN" altLang="en-US" sz="1200" dirty="0"/>
                    </a:p>
                  </a:txBody>
                  <a:tcPr anchor="ctr">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tc gridSpan="2">
                  <a:txBody>
                    <a:bodyPr/>
                    <a:lstStyle/>
                    <a:p>
                      <a:pPr algn="ctr"/>
                      <a:r>
                        <a:rPr lang="en-US" altLang="zh-CN" sz="1200" dirty="0"/>
                        <a:t>99.5</a:t>
                      </a:r>
                      <a:endParaRPr lang="zh-CN" altLang="en-US" sz="1200" dirty="0"/>
                    </a:p>
                  </a:txBody>
                  <a:tcPr anchor="ctr">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extLst>
                  <a:ext uri="{0D108BD9-81ED-4DB2-BD59-A6C34878D82A}">
                    <a16:rowId xmlns:a16="http://schemas.microsoft.com/office/drawing/2014/main" val="2574929118"/>
                  </a:ext>
                </a:extLst>
              </a:tr>
            </a:tbl>
          </a:graphicData>
        </a:graphic>
      </p:graphicFrame>
    </p:spTree>
    <p:extLst>
      <p:ext uri="{BB962C8B-B14F-4D97-AF65-F5344CB8AC3E}">
        <p14:creationId xmlns:p14="http://schemas.microsoft.com/office/powerpoint/2010/main" val="4226841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文献调研</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不同分离体系应用隔壁塔的节能效果</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12</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449684D9-B457-AE76-B5D1-0A406F29BEED}"/>
              </a:ext>
            </a:extLst>
          </p:cNvPr>
          <p:cNvSpPr txBox="1"/>
          <p:nvPr/>
        </p:nvSpPr>
        <p:spPr>
          <a:xfrm>
            <a:off x="61029" y="5422625"/>
            <a:ext cx="8843648" cy="507831"/>
          </a:xfrm>
          <a:prstGeom prst="rect">
            <a:avLst/>
          </a:prstGeom>
          <a:noFill/>
        </p:spPr>
        <p:txBody>
          <a:bodyPr wrap="square" rtlCol="0">
            <a:spAutoFit/>
          </a:bodyPr>
          <a:lstStyle/>
          <a:p>
            <a:r>
              <a:rPr lang="en-US" altLang="zh-CN" sz="900" b="0" i="0" dirty="0">
                <a:solidFill>
                  <a:srgbClr val="333333"/>
                </a:solidFill>
                <a:effectLst/>
                <a:latin typeface="Arial" panose="020B0604020202020204" pitchFamily="34" charset="0"/>
              </a:rPr>
              <a:t>[1]</a:t>
            </a:r>
            <a:r>
              <a:rPr lang="zh-CN" altLang="en-US" sz="900" b="0" i="0" dirty="0">
                <a:solidFill>
                  <a:srgbClr val="333333"/>
                </a:solidFill>
                <a:effectLst/>
                <a:latin typeface="Arial" panose="020B0604020202020204" pitchFamily="34" charset="0"/>
              </a:rPr>
              <a:t>张伟静</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张雷</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隔壁塔萃取精馏分离丙酸甲酯</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甲醇的模拟与优化</a:t>
            </a:r>
            <a:r>
              <a:rPr lang="en-US" altLang="zh-CN" sz="900" b="0" i="0" dirty="0">
                <a:solidFill>
                  <a:srgbClr val="333333"/>
                </a:solidFill>
                <a:effectLst/>
                <a:latin typeface="Arial" panose="020B0604020202020204" pitchFamily="34" charset="0"/>
              </a:rPr>
              <a:t>[J].</a:t>
            </a:r>
            <a:r>
              <a:rPr lang="zh-CN" altLang="en-US" sz="900" b="0" i="0" dirty="0">
                <a:solidFill>
                  <a:srgbClr val="333333"/>
                </a:solidFill>
                <a:effectLst/>
                <a:latin typeface="Arial" panose="020B0604020202020204" pitchFamily="34" charset="0"/>
              </a:rPr>
              <a:t>现代化工</a:t>
            </a:r>
            <a:r>
              <a:rPr lang="en-US" altLang="zh-CN" sz="900" b="0" i="0" dirty="0">
                <a:solidFill>
                  <a:srgbClr val="333333"/>
                </a:solidFill>
                <a:effectLst/>
                <a:latin typeface="Arial" panose="020B0604020202020204" pitchFamily="34" charset="0"/>
              </a:rPr>
              <a:t>,2021,41(S1):315-318.DOI:10.16606/j.cnki.issn0253-4320.2021.S.065.</a:t>
            </a:r>
          </a:p>
          <a:p>
            <a:r>
              <a:rPr lang="en-US" altLang="zh-CN" sz="900" b="0" i="0" dirty="0">
                <a:solidFill>
                  <a:srgbClr val="333333"/>
                </a:solidFill>
                <a:effectLst/>
                <a:latin typeface="Arial" panose="020B0604020202020204" pitchFamily="34" charset="0"/>
              </a:rPr>
              <a:t>[2]</a:t>
            </a:r>
            <a:r>
              <a:rPr lang="zh-CN" altLang="en-US" sz="900" b="0" i="0" dirty="0">
                <a:solidFill>
                  <a:srgbClr val="333333"/>
                </a:solidFill>
                <a:effectLst/>
                <a:latin typeface="Arial" panose="020B0604020202020204" pitchFamily="34" charset="0"/>
              </a:rPr>
              <a:t>韩文韬</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韩振为</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李洪</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高鑫</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李鑫钢</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乙酰丙酸乙酯的反应精馏模型及隔壁塔节能优化设计</a:t>
            </a:r>
            <a:r>
              <a:rPr lang="en-US" altLang="zh-CN" sz="900" b="0" i="0" dirty="0">
                <a:solidFill>
                  <a:srgbClr val="333333"/>
                </a:solidFill>
                <a:effectLst/>
                <a:latin typeface="Arial" panose="020B0604020202020204" pitchFamily="34" charset="0"/>
              </a:rPr>
              <a:t>[J].</a:t>
            </a:r>
            <a:r>
              <a:rPr lang="zh-CN" altLang="en-US" sz="900" b="0" i="0" dirty="0">
                <a:solidFill>
                  <a:srgbClr val="333333"/>
                </a:solidFill>
                <a:effectLst/>
                <a:latin typeface="Arial" panose="020B0604020202020204" pitchFamily="34" charset="0"/>
              </a:rPr>
              <a:t>化工进展</a:t>
            </a:r>
            <a:r>
              <a:rPr lang="en-US" altLang="zh-CN" sz="900" b="0" i="0" dirty="0">
                <a:solidFill>
                  <a:srgbClr val="333333"/>
                </a:solidFill>
                <a:effectLst/>
                <a:latin typeface="Arial" panose="020B0604020202020204" pitchFamily="34" charset="0"/>
              </a:rPr>
              <a:t>,2022,41(04):1759-1769.DOI:10.16085/j.issn.1000-6613.2021-0919.</a:t>
            </a:r>
          </a:p>
          <a:p>
            <a:r>
              <a:rPr lang="en-US" altLang="zh-CN" sz="900" dirty="0">
                <a:solidFill>
                  <a:srgbClr val="333333"/>
                </a:solidFill>
                <a:latin typeface="Arial" panose="020B0604020202020204" pitchFamily="34" charset="0"/>
                <a:ea typeface="微软雅黑" panose="020B0503020204020204" pitchFamily="34" charset="-122"/>
              </a:rPr>
              <a:t>[3]</a:t>
            </a:r>
            <a:r>
              <a:rPr lang="zh-CN" altLang="en-US" sz="900" b="0" i="0" dirty="0">
                <a:solidFill>
                  <a:srgbClr val="333333"/>
                </a:solidFill>
                <a:effectLst/>
                <a:latin typeface="Arial" panose="020B0604020202020204" pitchFamily="34" charset="0"/>
              </a:rPr>
              <a:t>李军</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孙兰义</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胡有元</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李青松</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用共沸精馏隔壁塔生产无水乙醇的研究</a:t>
            </a:r>
            <a:r>
              <a:rPr lang="en-US" altLang="zh-CN" sz="900" b="0" i="0" dirty="0">
                <a:solidFill>
                  <a:srgbClr val="333333"/>
                </a:solidFill>
                <a:effectLst/>
                <a:latin typeface="Arial" panose="020B0604020202020204" pitchFamily="34" charset="0"/>
              </a:rPr>
              <a:t>[J].</a:t>
            </a:r>
            <a:r>
              <a:rPr lang="zh-CN" altLang="en-US" sz="900" b="0" i="0" dirty="0">
                <a:solidFill>
                  <a:srgbClr val="333333"/>
                </a:solidFill>
                <a:effectLst/>
                <a:latin typeface="Arial" panose="020B0604020202020204" pitchFamily="34" charset="0"/>
              </a:rPr>
              <a:t>现代化工</a:t>
            </a:r>
            <a:r>
              <a:rPr lang="en-US" altLang="zh-CN" sz="900" b="0" i="0" dirty="0">
                <a:solidFill>
                  <a:srgbClr val="333333"/>
                </a:solidFill>
                <a:effectLst/>
                <a:latin typeface="Arial" panose="020B0604020202020204" pitchFamily="34" charset="0"/>
              </a:rPr>
              <a:t>,2008(S1):93-95+97.DOI:10.16606/j.cnki.issn0253-4320.2008.s1.015.</a:t>
            </a:r>
            <a:endParaRPr lang="en-US" altLang="zh-CN" sz="900" dirty="0">
              <a:solidFill>
                <a:srgbClr val="333333"/>
              </a:solidFill>
              <a:latin typeface="Arial" panose="020B0604020202020204" pitchFamily="34" charset="0"/>
              <a:ea typeface="微软雅黑" panose="020B0503020204020204" pitchFamily="34" charset="-122"/>
            </a:endParaRPr>
          </a:p>
        </p:txBody>
      </p:sp>
      <p:graphicFrame>
        <p:nvGraphicFramePr>
          <p:cNvPr id="5" name="表格 5">
            <a:extLst>
              <a:ext uri="{FF2B5EF4-FFF2-40B4-BE49-F238E27FC236}">
                <a16:creationId xmlns:a16="http://schemas.microsoft.com/office/drawing/2014/main" id="{40926E26-D41E-EDA7-0D6A-CD26531E7F09}"/>
              </a:ext>
            </a:extLst>
          </p:cNvPr>
          <p:cNvGraphicFramePr>
            <a:graphicFrameLocks noGrp="1"/>
          </p:cNvGraphicFramePr>
          <p:nvPr>
            <p:extLst>
              <p:ext uri="{D42A27DB-BD31-4B8C-83A1-F6EECF244321}">
                <p14:modId xmlns:p14="http://schemas.microsoft.com/office/powerpoint/2010/main" val="1479497453"/>
              </p:ext>
            </p:extLst>
          </p:nvPr>
        </p:nvGraphicFramePr>
        <p:xfrm>
          <a:off x="241170" y="1508615"/>
          <a:ext cx="8661660" cy="3559040"/>
        </p:xfrm>
        <a:graphic>
          <a:graphicData uri="http://schemas.openxmlformats.org/drawingml/2006/table">
            <a:tbl>
              <a:tblPr>
                <a:tableStyleId>{5C22544A-7EE6-4342-B048-85BDC9FD1C3A}</a:tableStyleId>
              </a:tblPr>
              <a:tblGrid>
                <a:gridCol w="1302862">
                  <a:extLst>
                    <a:ext uri="{9D8B030D-6E8A-4147-A177-3AD203B41FA5}">
                      <a16:colId xmlns:a16="http://schemas.microsoft.com/office/drawing/2014/main" val="593606096"/>
                    </a:ext>
                  </a:extLst>
                </a:gridCol>
                <a:gridCol w="3953868">
                  <a:extLst>
                    <a:ext uri="{9D8B030D-6E8A-4147-A177-3AD203B41FA5}">
                      <a16:colId xmlns:a16="http://schemas.microsoft.com/office/drawing/2014/main" val="2991754446"/>
                    </a:ext>
                  </a:extLst>
                </a:gridCol>
                <a:gridCol w="3404930">
                  <a:extLst>
                    <a:ext uri="{9D8B030D-6E8A-4147-A177-3AD203B41FA5}">
                      <a16:colId xmlns:a16="http://schemas.microsoft.com/office/drawing/2014/main" val="1778926378"/>
                    </a:ext>
                  </a:extLst>
                </a:gridCol>
              </a:tblGrid>
              <a:tr h="409828">
                <a:tc>
                  <a:txBody>
                    <a:bodyPr/>
                    <a:lstStyle/>
                    <a:p>
                      <a:pPr algn="ctr"/>
                      <a:r>
                        <a:rPr lang="zh-CN" altLang="en-US" dirty="0"/>
                        <a:t>作者</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a:t>研究体系</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a:t>结果</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4870751"/>
                  </a:ext>
                </a:extLst>
              </a:tr>
              <a:tr h="1046092">
                <a:tc>
                  <a:txBody>
                    <a:bodyPr/>
                    <a:lstStyle/>
                    <a:p>
                      <a:r>
                        <a:rPr lang="zh-CN" altLang="en-US" sz="1800" dirty="0"/>
                        <a:t>张伟静等</a:t>
                      </a:r>
                      <a:r>
                        <a:rPr lang="en-US" altLang="zh-CN" sz="1800" baseline="30000" dirty="0"/>
                        <a:t>[1]</a:t>
                      </a:r>
                      <a:endParaRPr lang="zh-CN" altLang="en-US" baseline="30000" dirty="0"/>
                    </a:p>
                  </a:txBody>
                  <a:tcPr anchor="ctr">
                    <a:lnT w="12700" cap="flat" cmpd="sng" algn="ctr">
                      <a:solidFill>
                        <a:schemeClr val="tx1"/>
                      </a:solidFill>
                      <a:prstDash val="solid"/>
                      <a:round/>
                      <a:headEnd type="none" w="med" len="med"/>
                      <a:tailEnd type="none" w="med" len="med"/>
                    </a:lnT>
                    <a:noFill/>
                  </a:tcPr>
                </a:tc>
                <a:tc>
                  <a:txBody>
                    <a:bodyPr/>
                    <a:lstStyle/>
                    <a:p>
                      <a:r>
                        <a:rPr lang="zh-CN" altLang="en-US" sz="1800" dirty="0"/>
                        <a:t>乙二醇作为萃取剂，对隔壁塔萃取精馏工艺分离丙酸甲酯－甲醇共沸物进行了研究</a:t>
                      </a:r>
                      <a:endParaRPr lang="zh-CN" altLang="en-US" dirty="0"/>
                    </a:p>
                  </a:txBody>
                  <a:tcPr anchor="ctr">
                    <a:lnT w="12700" cap="flat" cmpd="sng" algn="ctr">
                      <a:solidFill>
                        <a:schemeClr val="tx1"/>
                      </a:solidFill>
                      <a:prstDash val="solid"/>
                      <a:round/>
                      <a:headEnd type="none" w="med" len="med"/>
                      <a:tailEnd type="none" w="med" len="med"/>
                    </a:lnT>
                    <a:noFill/>
                  </a:tcPr>
                </a:tc>
                <a:tc>
                  <a:txBody>
                    <a:bodyPr/>
                    <a:lstStyle/>
                    <a:p>
                      <a:r>
                        <a:rPr lang="zh-CN" altLang="en-US" sz="1800" dirty="0"/>
                        <a:t>发现与常规双塔流程相比，隔壁塔萃取精馏可以节约 </a:t>
                      </a:r>
                      <a:r>
                        <a:rPr lang="en-US" altLang="zh-CN" sz="1800" dirty="0"/>
                        <a:t>7. 48%</a:t>
                      </a:r>
                      <a:r>
                        <a:rPr lang="zh-CN" altLang="en-US" sz="1800" dirty="0"/>
                        <a:t>的总能耗，并且年总费用下降了 </a:t>
                      </a:r>
                      <a:r>
                        <a:rPr lang="en-US" altLang="zh-CN" sz="1800" dirty="0"/>
                        <a:t>2%</a:t>
                      </a:r>
                      <a:r>
                        <a:rPr lang="zh-CN" altLang="en-US" sz="1800" dirty="0"/>
                        <a:t>。</a:t>
                      </a:r>
                      <a:endParaRPr lang="zh-CN" altLang="en-US" dirty="0"/>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6633196"/>
                  </a:ext>
                </a:extLst>
              </a:tr>
              <a:tr h="409828">
                <a:tc>
                  <a:txBody>
                    <a:bodyPr/>
                    <a:lstStyle/>
                    <a:p>
                      <a:r>
                        <a:rPr lang="zh-CN" altLang="en-US" sz="1800" dirty="0"/>
                        <a:t>韩文韬等</a:t>
                      </a:r>
                      <a:r>
                        <a:rPr lang="en-US" altLang="zh-CN" sz="1800" baseline="30000" dirty="0"/>
                        <a:t>[2]</a:t>
                      </a:r>
                      <a:endParaRPr lang="zh-CN" altLang="en-US" baseline="30000" dirty="0"/>
                    </a:p>
                  </a:txBody>
                  <a:tcPr anchor="ctr">
                    <a:noFill/>
                  </a:tcPr>
                </a:tc>
                <a:tc>
                  <a:txBody>
                    <a:bodyPr/>
                    <a:lstStyle/>
                    <a:p>
                      <a:r>
                        <a:rPr lang="zh-CN" altLang="en-US" sz="1800" dirty="0"/>
                        <a:t>反应精馏隔壁塔工艺生产乙酰丙酸乙酯</a:t>
                      </a:r>
                      <a:endParaRPr lang="zh-CN" altLang="en-US" dirty="0"/>
                    </a:p>
                  </a:txBody>
                  <a:tcPr anchor="ctr">
                    <a:noFill/>
                  </a:tcPr>
                </a:tc>
                <a:tc>
                  <a:txBody>
                    <a:bodyPr/>
                    <a:lstStyle/>
                    <a:p>
                      <a:r>
                        <a:rPr lang="zh-CN" altLang="en-US" sz="1800" dirty="0"/>
                        <a:t>发现了反应精馏隔壁塔工艺生产乙酰丙酸乙酯的纯度提高，而且对比常规反应精馏塔可进一步节能。</a:t>
                      </a:r>
                      <a:endParaRPr lang="zh-CN" altLang="en-US" dirty="0"/>
                    </a:p>
                  </a:txBody>
                  <a:tcPr anchor="ctr">
                    <a:noFill/>
                  </a:tcPr>
                </a:tc>
                <a:extLst>
                  <a:ext uri="{0D108BD9-81ED-4DB2-BD59-A6C34878D82A}">
                    <a16:rowId xmlns:a16="http://schemas.microsoft.com/office/drawing/2014/main" val="3677579547"/>
                  </a:ext>
                </a:extLst>
              </a:tr>
              <a:tr h="409828">
                <a:tc>
                  <a:txBody>
                    <a:bodyPr/>
                    <a:lstStyle/>
                    <a:p>
                      <a:r>
                        <a:rPr lang="zh-CN" altLang="en-US" dirty="0"/>
                        <a:t>李军等人</a:t>
                      </a:r>
                      <a:r>
                        <a:rPr lang="en-US" altLang="zh-CN" baseline="30000" dirty="0"/>
                        <a:t>[3]</a:t>
                      </a:r>
                      <a:endParaRPr lang="zh-CN" altLang="en-US" baseline="30000" dirty="0"/>
                    </a:p>
                  </a:txBody>
                  <a:tcPr anchor="ctr">
                    <a:lnB w="12700" cap="flat" cmpd="sng" algn="ctr">
                      <a:solidFill>
                        <a:schemeClr val="tx1"/>
                      </a:solidFill>
                      <a:prstDash val="solid"/>
                      <a:round/>
                      <a:headEnd type="none" w="med" len="med"/>
                      <a:tailEnd type="none" w="med" len="med"/>
                    </a:lnB>
                    <a:noFill/>
                  </a:tcPr>
                </a:tc>
                <a:tc>
                  <a:txBody>
                    <a:bodyPr/>
                    <a:lstStyle/>
                    <a:p>
                      <a:r>
                        <a:rPr lang="zh-CN" altLang="en-US" dirty="0"/>
                        <a:t>用共沸精馏隔壁塔生产无水乙醇的研究 </a:t>
                      </a:r>
                    </a:p>
                  </a:txBody>
                  <a:tcPr anchor="ctr">
                    <a:lnB w="12700" cap="flat" cmpd="sng" algn="ctr">
                      <a:solidFill>
                        <a:schemeClr val="tx1"/>
                      </a:solidFill>
                      <a:prstDash val="solid"/>
                      <a:round/>
                      <a:headEnd type="none" w="med" len="med"/>
                      <a:tailEnd type="none" w="med" len="med"/>
                    </a:lnB>
                    <a:noFill/>
                  </a:tcPr>
                </a:tc>
                <a:tc>
                  <a:txBody>
                    <a:bodyPr/>
                    <a:lstStyle/>
                    <a:p>
                      <a:r>
                        <a:rPr lang="zh-CN" altLang="en-US" dirty="0"/>
                        <a:t>结果显示新工艺流程可以节省能耗</a:t>
                      </a:r>
                      <a:r>
                        <a:rPr lang="en-US" altLang="zh-CN" dirty="0"/>
                        <a:t>28.2</a:t>
                      </a:r>
                      <a:r>
                        <a:rPr lang="zh-CN" altLang="en-US" dirty="0"/>
                        <a:t>％并能降低设备投资费用和操作费用。</a:t>
                      </a: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6446179"/>
                  </a:ext>
                </a:extLst>
              </a:tr>
            </a:tbl>
          </a:graphicData>
        </a:graphic>
      </p:graphicFrame>
      <p:sp>
        <p:nvSpPr>
          <p:cNvPr id="6" name="矩形 5">
            <a:extLst>
              <a:ext uri="{FF2B5EF4-FFF2-40B4-BE49-F238E27FC236}">
                <a16:creationId xmlns:a16="http://schemas.microsoft.com/office/drawing/2014/main" id="{81B68E1B-4EEC-A604-E570-C6DED32169D7}"/>
              </a:ext>
            </a:extLst>
          </p:cNvPr>
          <p:cNvSpPr/>
          <p:nvPr/>
        </p:nvSpPr>
        <p:spPr>
          <a:xfrm>
            <a:off x="272763" y="926941"/>
            <a:ext cx="6851180" cy="369332"/>
          </a:xfrm>
          <a:prstGeom prst="rect">
            <a:avLst/>
          </a:prstGeom>
        </p:spPr>
        <p:txBody>
          <a:bodyPr wrap="square">
            <a:spAutoFit/>
          </a:bodyPr>
          <a:lstStyle/>
          <a:p>
            <a:pPr marL="342900" indent="-342900">
              <a:lnSpc>
                <a:spcPct val="90000"/>
              </a:lnSpc>
              <a:spcBef>
                <a:spcPct val="20000"/>
              </a:spcBef>
              <a:buClr>
                <a:srgbClr val="00B050"/>
              </a:buClr>
              <a:buFont typeface="Wingdings" pitchFamily="2" charset="2"/>
              <a:buChar char="v"/>
              <a:defRPr/>
            </a:pPr>
            <a:r>
              <a:rPr lang="zh-CN" altLang="en-US" sz="2000" b="1" dirty="0">
                <a:solidFill>
                  <a:srgbClr val="E3E3FF">
                    <a:lumMod val="25000"/>
                  </a:srgbClr>
                </a:solidFill>
                <a:latin typeface="Times New Roman" panose="02020603050405020304" pitchFamily="18" charset="0"/>
                <a:ea typeface="黑体" panose="02010609060101010101" pitchFamily="49" charset="-122"/>
                <a:cs typeface="Times New Roman" panose="02020603050405020304" pitchFamily="18" charset="0"/>
              </a:rPr>
              <a:t>分隔壁塔对不同体系的应用</a:t>
            </a:r>
          </a:p>
        </p:txBody>
      </p:sp>
    </p:spTree>
    <p:extLst>
      <p:ext uri="{BB962C8B-B14F-4D97-AF65-F5344CB8AC3E}">
        <p14:creationId xmlns:p14="http://schemas.microsoft.com/office/powerpoint/2010/main" val="2598154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文献调研</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隔壁塔的稳态模拟方法</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13</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4A2EE092-5EC1-90C1-E0DD-E7619BCBA7F8}"/>
              </a:ext>
            </a:extLst>
          </p:cNvPr>
          <p:cNvSpPr txBox="1"/>
          <p:nvPr/>
        </p:nvSpPr>
        <p:spPr>
          <a:xfrm>
            <a:off x="251400" y="5771864"/>
            <a:ext cx="6984970" cy="230832"/>
          </a:xfrm>
          <a:prstGeom prst="rect">
            <a:avLst/>
          </a:prstGeom>
          <a:noFill/>
        </p:spPr>
        <p:txBody>
          <a:bodyPr wrap="square" rtlCol="0">
            <a:spAutoFit/>
          </a:bodyPr>
          <a:lstStyle/>
          <a:p>
            <a:r>
              <a:rPr lang="zh-CN" altLang="en-US" sz="900" dirty="0">
                <a:solidFill>
                  <a:srgbClr val="333333"/>
                </a:solidFill>
                <a:latin typeface="Arial" panose="020B0604020202020204" pitchFamily="34" charset="0"/>
              </a:rPr>
              <a:t>张龙</a:t>
            </a:r>
            <a:r>
              <a:rPr lang="en-US" altLang="zh-CN" sz="900" dirty="0">
                <a:solidFill>
                  <a:srgbClr val="333333"/>
                </a:solidFill>
                <a:latin typeface="Arial" panose="020B0604020202020204" pitchFamily="34" charset="0"/>
              </a:rPr>
              <a:t>,</a:t>
            </a:r>
            <a:r>
              <a:rPr lang="zh-CN" altLang="en-US" sz="900" dirty="0">
                <a:solidFill>
                  <a:srgbClr val="333333"/>
                </a:solidFill>
                <a:latin typeface="Arial" panose="020B0604020202020204" pitchFamily="34" charset="0"/>
              </a:rPr>
              <a:t>阮奇</a:t>
            </a:r>
            <a:r>
              <a:rPr lang="en-US" altLang="zh-CN" sz="900" dirty="0">
                <a:solidFill>
                  <a:srgbClr val="333333"/>
                </a:solidFill>
                <a:latin typeface="Arial" panose="020B0604020202020204" pitchFamily="34" charset="0"/>
              </a:rPr>
              <a:t>,</a:t>
            </a:r>
            <a:r>
              <a:rPr lang="zh-CN" altLang="en-US" sz="900" dirty="0">
                <a:solidFill>
                  <a:srgbClr val="333333"/>
                </a:solidFill>
                <a:latin typeface="Arial" panose="020B0604020202020204" pitchFamily="34" charset="0"/>
              </a:rPr>
              <a:t>吴开金</a:t>
            </a:r>
            <a:r>
              <a:rPr lang="en-US" altLang="zh-CN" sz="900" dirty="0">
                <a:solidFill>
                  <a:srgbClr val="333333"/>
                </a:solidFill>
                <a:latin typeface="Arial" panose="020B0604020202020204" pitchFamily="34" charset="0"/>
              </a:rPr>
              <a:t>,</a:t>
            </a:r>
            <a:r>
              <a:rPr lang="zh-CN" altLang="en-US" sz="900" dirty="0">
                <a:solidFill>
                  <a:srgbClr val="333333"/>
                </a:solidFill>
                <a:latin typeface="Arial" panose="020B0604020202020204" pitchFamily="34" charset="0"/>
              </a:rPr>
              <a:t>严佐毅</a:t>
            </a:r>
            <a:r>
              <a:rPr lang="en-US" altLang="zh-CN" sz="900" dirty="0">
                <a:solidFill>
                  <a:srgbClr val="333333"/>
                </a:solidFill>
                <a:latin typeface="Arial" panose="020B0604020202020204" pitchFamily="34" charset="0"/>
              </a:rPr>
              <a:t>,</a:t>
            </a:r>
            <a:r>
              <a:rPr lang="zh-CN" altLang="en-US" sz="900" dirty="0">
                <a:solidFill>
                  <a:srgbClr val="333333"/>
                </a:solidFill>
                <a:latin typeface="Arial" panose="020B0604020202020204" pitchFamily="34" charset="0"/>
              </a:rPr>
              <a:t>许芦杭</a:t>
            </a:r>
            <a:r>
              <a:rPr lang="en-US" altLang="zh-CN" sz="900" dirty="0">
                <a:solidFill>
                  <a:srgbClr val="333333"/>
                </a:solidFill>
                <a:latin typeface="Arial" panose="020B0604020202020204" pitchFamily="34" charset="0"/>
              </a:rPr>
              <a:t>,</a:t>
            </a:r>
            <a:r>
              <a:rPr lang="zh-CN" altLang="en-US" sz="900" dirty="0">
                <a:solidFill>
                  <a:srgbClr val="333333"/>
                </a:solidFill>
                <a:latin typeface="Arial" panose="020B0604020202020204" pitchFamily="34" charset="0"/>
              </a:rPr>
              <a:t>李峰</a:t>
            </a:r>
            <a:r>
              <a:rPr lang="en-US" altLang="zh-CN" sz="900" dirty="0">
                <a:solidFill>
                  <a:srgbClr val="333333"/>
                </a:solidFill>
                <a:latin typeface="Arial" panose="020B0604020202020204" pitchFamily="34" charset="0"/>
              </a:rPr>
              <a:t>.</a:t>
            </a:r>
            <a:r>
              <a:rPr lang="zh-CN" altLang="en-US" sz="900" dirty="0">
                <a:solidFill>
                  <a:srgbClr val="333333"/>
                </a:solidFill>
                <a:latin typeface="Arial" panose="020B0604020202020204" pitchFamily="34" charset="0"/>
              </a:rPr>
              <a:t>分隔壁精馏塔分离松节油中蒎烯的多目标优化</a:t>
            </a:r>
            <a:r>
              <a:rPr lang="en-US" altLang="zh-CN" sz="900" dirty="0">
                <a:solidFill>
                  <a:srgbClr val="333333"/>
                </a:solidFill>
                <a:latin typeface="Arial" panose="020B0604020202020204" pitchFamily="34" charset="0"/>
              </a:rPr>
              <a:t>[J].</a:t>
            </a:r>
            <a:r>
              <a:rPr lang="zh-CN" altLang="en-US" sz="900" dirty="0">
                <a:solidFill>
                  <a:srgbClr val="333333"/>
                </a:solidFill>
                <a:latin typeface="Arial" panose="020B0604020202020204" pitchFamily="34" charset="0"/>
              </a:rPr>
              <a:t>计算机与应用化学</a:t>
            </a:r>
            <a:r>
              <a:rPr lang="en-US" altLang="zh-CN" sz="900" dirty="0">
                <a:solidFill>
                  <a:srgbClr val="333333"/>
                </a:solidFill>
                <a:latin typeface="Arial" panose="020B0604020202020204" pitchFamily="34" charset="0"/>
              </a:rPr>
              <a:t>,2014,31(08):902-908..</a:t>
            </a:r>
          </a:p>
        </p:txBody>
      </p:sp>
      <p:sp>
        <p:nvSpPr>
          <p:cNvPr id="6" name="矩形 5">
            <a:extLst>
              <a:ext uri="{FF2B5EF4-FFF2-40B4-BE49-F238E27FC236}">
                <a16:creationId xmlns:a16="http://schemas.microsoft.com/office/drawing/2014/main" id="{998183DA-E057-D396-1D71-AF6F9EEFFD24}"/>
              </a:ext>
            </a:extLst>
          </p:cNvPr>
          <p:cNvSpPr/>
          <p:nvPr/>
        </p:nvSpPr>
        <p:spPr>
          <a:xfrm>
            <a:off x="1043510" y="2940868"/>
            <a:ext cx="3456480" cy="9963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多目标优化模型可用约束 </a:t>
            </a:r>
            <a:endParaRPr lang="en-US" altLang="zh-CN" dirty="0">
              <a:solidFill>
                <a:schemeClr val="tx1"/>
              </a:solidFill>
            </a:endParaRPr>
          </a:p>
          <a:p>
            <a:pPr algn="ctr"/>
            <a:r>
              <a:rPr lang="zh-CN" altLang="en-US" dirty="0">
                <a:solidFill>
                  <a:schemeClr val="tx1"/>
                </a:solidFill>
              </a:rPr>
              <a:t>多目标微粒群优化算法（</a:t>
            </a:r>
            <a:r>
              <a:rPr lang="en-US" altLang="zh-CN" dirty="0">
                <a:solidFill>
                  <a:schemeClr val="tx1"/>
                </a:solidFill>
              </a:rPr>
              <a:t>CMOPSO)</a:t>
            </a:r>
            <a:endParaRPr lang="zh-CN" altLang="en-US" dirty="0">
              <a:solidFill>
                <a:schemeClr val="tx1"/>
              </a:solidFill>
            </a:endParaRPr>
          </a:p>
        </p:txBody>
      </p:sp>
      <p:sp>
        <p:nvSpPr>
          <p:cNvPr id="7" name="矩形 6">
            <a:extLst>
              <a:ext uri="{FF2B5EF4-FFF2-40B4-BE49-F238E27FC236}">
                <a16:creationId xmlns:a16="http://schemas.microsoft.com/office/drawing/2014/main" id="{A5E57D67-F6FD-CFE0-190F-E978C768A618}"/>
              </a:ext>
            </a:extLst>
          </p:cNvPr>
          <p:cNvSpPr/>
          <p:nvPr/>
        </p:nvSpPr>
        <p:spPr>
          <a:xfrm>
            <a:off x="1043511" y="1957136"/>
            <a:ext cx="3456480" cy="4369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隔壁塔四塔等效模拟流程</a:t>
            </a:r>
          </a:p>
        </p:txBody>
      </p:sp>
      <p:sp>
        <p:nvSpPr>
          <p:cNvPr id="8" name="矩形 7">
            <a:extLst>
              <a:ext uri="{FF2B5EF4-FFF2-40B4-BE49-F238E27FC236}">
                <a16:creationId xmlns:a16="http://schemas.microsoft.com/office/drawing/2014/main" id="{29022B36-4B1C-149A-BB93-6BD015519AAF}"/>
              </a:ext>
            </a:extLst>
          </p:cNvPr>
          <p:cNvSpPr/>
          <p:nvPr/>
        </p:nvSpPr>
        <p:spPr>
          <a:xfrm>
            <a:off x="1043510" y="4649957"/>
            <a:ext cx="3528490" cy="6664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多目标优化结果寻找最佳操作变量 </a:t>
            </a:r>
          </a:p>
        </p:txBody>
      </p:sp>
      <p:sp>
        <p:nvSpPr>
          <p:cNvPr id="11" name="箭头: 下 10">
            <a:extLst>
              <a:ext uri="{FF2B5EF4-FFF2-40B4-BE49-F238E27FC236}">
                <a16:creationId xmlns:a16="http://schemas.microsoft.com/office/drawing/2014/main" id="{6ED98B5F-D595-3FB0-46EF-206CA5FD30C0}"/>
              </a:ext>
            </a:extLst>
          </p:cNvPr>
          <p:cNvSpPr/>
          <p:nvPr/>
        </p:nvSpPr>
        <p:spPr>
          <a:xfrm>
            <a:off x="2462069" y="2502688"/>
            <a:ext cx="360050" cy="3825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8ADFC850-9546-5E36-F117-A446FF8A8F64}"/>
              </a:ext>
            </a:extLst>
          </p:cNvPr>
          <p:cNvSpPr/>
          <p:nvPr/>
        </p:nvSpPr>
        <p:spPr>
          <a:xfrm>
            <a:off x="2483667" y="4105285"/>
            <a:ext cx="360050" cy="3825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781291BD-A5D9-066E-D8FE-E71EAFAC34AC}"/>
              </a:ext>
            </a:extLst>
          </p:cNvPr>
          <p:cNvPicPr>
            <a:picLocks noChangeAspect="1"/>
          </p:cNvPicPr>
          <p:nvPr/>
        </p:nvPicPr>
        <p:blipFill>
          <a:blip r:embed="rId3"/>
          <a:stretch>
            <a:fillRect/>
          </a:stretch>
        </p:blipFill>
        <p:spPr>
          <a:xfrm>
            <a:off x="5041229" y="3251295"/>
            <a:ext cx="3148533" cy="1993224"/>
          </a:xfrm>
          <a:prstGeom prst="rect">
            <a:avLst/>
          </a:prstGeom>
        </p:spPr>
      </p:pic>
      <p:sp>
        <p:nvSpPr>
          <p:cNvPr id="16" name="文本框 15">
            <a:extLst>
              <a:ext uri="{FF2B5EF4-FFF2-40B4-BE49-F238E27FC236}">
                <a16:creationId xmlns:a16="http://schemas.microsoft.com/office/drawing/2014/main" id="{AB60775D-5EF0-2596-A7F9-7A8EFBF54D06}"/>
              </a:ext>
            </a:extLst>
          </p:cNvPr>
          <p:cNvSpPr txBox="1"/>
          <p:nvPr/>
        </p:nvSpPr>
        <p:spPr>
          <a:xfrm>
            <a:off x="4118427" y="5301953"/>
            <a:ext cx="4717817" cy="307777"/>
          </a:xfrm>
          <a:prstGeom prst="rect">
            <a:avLst/>
          </a:prstGeom>
          <a:noFill/>
        </p:spPr>
        <p:txBody>
          <a:bodyPr wrap="square" rtlCol="0" anchor="ctr">
            <a:spAutoFit/>
          </a:bodyPr>
          <a:lstStyle/>
          <a:p>
            <a:pPr algn="ctr"/>
            <a:r>
              <a:rPr lang="zh-CN" altLang="en-US" sz="1400" dirty="0"/>
              <a:t>分隔壁精馏塔分离松节油中蒎烯的</a:t>
            </a:r>
            <a:r>
              <a:rPr lang="en-US" altLang="zh-CN" sz="1400" dirty="0"/>
              <a:t>Pareto</a:t>
            </a:r>
            <a:r>
              <a:rPr lang="zh-CN" altLang="en-US" sz="1400" dirty="0"/>
              <a:t>前沿</a:t>
            </a:r>
          </a:p>
        </p:txBody>
      </p:sp>
      <p:sp>
        <p:nvSpPr>
          <p:cNvPr id="17" name="矩形 16">
            <a:extLst>
              <a:ext uri="{FF2B5EF4-FFF2-40B4-BE49-F238E27FC236}">
                <a16:creationId xmlns:a16="http://schemas.microsoft.com/office/drawing/2014/main" id="{D96269F5-A4D1-A529-DAEB-0CA09F414C4E}"/>
              </a:ext>
            </a:extLst>
          </p:cNvPr>
          <p:cNvSpPr/>
          <p:nvPr/>
        </p:nvSpPr>
        <p:spPr>
          <a:xfrm>
            <a:off x="7128355" y="4638308"/>
            <a:ext cx="360050" cy="3116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747EFFC7-3CA1-3C14-EBB2-80FE395E374A}"/>
              </a:ext>
            </a:extLst>
          </p:cNvPr>
          <p:cNvPicPr>
            <a:picLocks noChangeAspect="1"/>
          </p:cNvPicPr>
          <p:nvPr/>
        </p:nvPicPr>
        <p:blipFill>
          <a:blip r:embed="rId4"/>
          <a:stretch>
            <a:fillRect/>
          </a:stretch>
        </p:blipFill>
        <p:spPr>
          <a:xfrm>
            <a:off x="5041229" y="299879"/>
            <a:ext cx="2889030" cy="2856331"/>
          </a:xfrm>
          <a:prstGeom prst="rect">
            <a:avLst/>
          </a:prstGeom>
        </p:spPr>
      </p:pic>
      <p:sp>
        <p:nvSpPr>
          <p:cNvPr id="18" name="文本框 17">
            <a:extLst>
              <a:ext uri="{FF2B5EF4-FFF2-40B4-BE49-F238E27FC236}">
                <a16:creationId xmlns:a16="http://schemas.microsoft.com/office/drawing/2014/main" id="{6A3F854B-A0A8-790B-ACAA-DAFC991579E3}"/>
              </a:ext>
            </a:extLst>
          </p:cNvPr>
          <p:cNvSpPr txBox="1"/>
          <p:nvPr/>
        </p:nvSpPr>
        <p:spPr>
          <a:xfrm>
            <a:off x="4256586" y="3027562"/>
            <a:ext cx="4717817" cy="307777"/>
          </a:xfrm>
          <a:prstGeom prst="rect">
            <a:avLst/>
          </a:prstGeom>
          <a:noFill/>
        </p:spPr>
        <p:txBody>
          <a:bodyPr wrap="square" rtlCol="0" anchor="ctr">
            <a:spAutoFit/>
          </a:bodyPr>
          <a:lstStyle/>
          <a:p>
            <a:pPr algn="ctr"/>
            <a:r>
              <a:rPr lang="zh-CN" altLang="en-US" sz="1400" dirty="0"/>
              <a:t>分隔壁精馏塔四塔等效模拟流程 </a:t>
            </a:r>
          </a:p>
        </p:txBody>
      </p:sp>
      <p:sp>
        <p:nvSpPr>
          <p:cNvPr id="3" name="矩形 2">
            <a:extLst>
              <a:ext uri="{FF2B5EF4-FFF2-40B4-BE49-F238E27FC236}">
                <a16:creationId xmlns:a16="http://schemas.microsoft.com/office/drawing/2014/main" id="{0565A890-E651-2621-2B8C-41F5996A4A36}"/>
              </a:ext>
            </a:extLst>
          </p:cNvPr>
          <p:cNvSpPr/>
          <p:nvPr/>
        </p:nvSpPr>
        <p:spPr>
          <a:xfrm>
            <a:off x="272763" y="926941"/>
            <a:ext cx="6851180" cy="369332"/>
          </a:xfrm>
          <a:prstGeom prst="rect">
            <a:avLst/>
          </a:prstGeom>
        </p:spPr>
        <p:txBody>
          <a:bodyPr wrap="square">
            <a:spAutoFit/>
          </a:bodyPr>
          <a:lstStyle/>
          <a:p>
            <a:pPr marL="342900" indent="-342900">
              <a:lnSpc>
                <a:spcPct val="90000"/>
              </a:lnSpc>
              <a:spcBef>
                <a:spcPct val="20000"/>
              </a:spcBef>
              <a:buClr>
                <a:srgbClr val="00B050"/>
              </a:buClr>
              <a:buFont typeface="Wingdings" pitchFamily="2" charset="2"/>
              <a:buChar char="v"/>
              <a:defRPr/>
            </a:pPr>
            <a:r>
              <a:rPr lang="zh-CN" altLang="en-US" sz="2000" b="1" dirty="0">
                <a:solidFill>
                  <a:srgbClr val="E3E3FF">
                    <a:lumMod val="25000"/>
                  </a:srgbClr>
                </a:solidFill>
                <a:latin typeface="Times New Roman" panose="02020603050405020304" pitchFamily="18" charset="0"/>
                <a:ea typeface="黑体" panose="02010609060101010101" pitchFamily="49" charset="-122"/>
                <a:cs typeface="Times New Roman" panose="02020603050405020304" pitchFamily="18" charset="0"/>
              </a:rPr>
              <a:t>分隔壁精馏塔分离松节油中蒎烯的多目标优化</a:t>
            </a:r>
          </a:p>
        </p:txBody>
      </p:sp>
    </p:spTree>
    <p:extLst>
      <p:ext uri="{BB962C8B-B14F-4D97-AF65-F5344CB8AC3E}">
        <p14:creationId xmlns:p14="http://schemas.microsoft.com/office/powerpoint/2010/main" val="1295839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文献调研</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隔壁塔的稳态模拟方法</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14</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449684D9-B457-AE76-B5D1-0A406F29BEED}"/>
              </a:ext>
            </a:extLst>
          </p:cNvPr>
          <p:cNvSpPr txBox="1"/>
          <p:nvPr/>
        </p:nvSpPr>
        <p:spPr>
          <a:xfrm>
            <a:off x="266600" y="5561727"/>
            <a:ext cx="8843648" cy="369332"/>
          </a:xfrm>
          <a:prstGeom prst="rect">
            <a:avLst/>
          </a:prstGeom>
          <a:noFill/>
        </p:spPr>
        <p:txBody>
          <a:bodyPr wrap="square" rtlCol="0">
            <a:spAutoFit/>
          </a:bodyPr>
          <a:lstStyle/>
          <a:p>
            <a:r>
              <a:rPr lang="en-US" altLang="zh-CN" sz="900" b="0" i="0" dirty="0">
                <a:solidFill>
                  <a:srgbClr val="333333"/>
                </a:solidFill>
                <a:effectLst/>
                <a:latin typeface="Arial" panose="020B0604020202020204" pitchFamily="34" charset="0"/>
              </a:rPr>
              <a:t>[1</a:t>
            </a:r>
            <a:r>
              <a:rPr lang="en-US" altLang="zh-CN" sz="900" dirty="0">
                <a:solidFill>
                  <a:srgbClr val="333333"/>
                </a:solidFill>
                <a:latin typeface="Arial" panose="020B0604020202020204" pitchFamily="34" charset="0"/>
              </a:rPr>
              <a:t>]</a:t>
            </a:r>
            <a:r>
              <a:rPr lang="zh-CN" altLang="zh-CN" sz="900" dirty="0">
                <a:solidFill>
                  <a:srgbClr val="333333"/>
                </a:solidFill>
                <a:latin typeface="Arial" panose="020B0604020202020204" pitchFamily="34" charset="0"/>
              </a:rPr>
              <a:t>李军</a:t>
            </a:r>
            <a:r>
              <a:rPr lang="en-US" altLang="zh-CN" sz="900" dirty="0">
                <a:solidFill>
                  <a:srgbClr val="333333"/>
                </a:solidFill>
                <a:latin typeface="Arial" panose="020B0604020202020204" pitchFamily="34" charset="0"/>
              </a:rPr>
              <a:t>, </a:t>
            </a:r>
            <a:r>
              <a:rPr lang="zh-CN" altLang="zh-CN" sz="900" dirty="0">
                <a:solidFill>
                  <a:srgbClr val="333333"/>
                </a:solidFill>
                <a:latin typeface="Arial" panose="020B0604020202020204" pitchFamily="34" charset="0"/>
              </a:rPr>
              <a:t>王纯正</a:t>
            </a:r>
            <a:r>
              <a:rPr lang="en-US" altLang="zh-CN" sz="900" dirty="0">
                <a:solidFill>
                  <a:srgbClr val="333333"/>
                </a:solidFill>
                <a:latin typeface="Arial" panose="020B0604020202020204" pitchFamily="34" charset="0"/>
              </a:rPr>
              <a:t>, </a:t>
            </a:r>
            <a:r>
              <a:rPr lang="zh-CN" altLang="zh-CN" sz="900" dirty="0">
                <a:solidFill>
                  <a:srgbClr val="333333"/>
                </a:solidFill>
                <a:latin typeface="Arial" panose="020B0604020202020204" pitchFamily="34" charset="0"/>
              </a:rPr>
              <a:t>马占华</a:t>
            </a:r>
            <a:r>
              <a:rPr lang="en-US" altLang="zh-CN" sz="900" dirty="0">
                <a:solidFill>
                  <a:srgbClr val="333333"/>
                </a:solidFill>
                <a:latin typeface="Arial" panose="020B0604020202020204" pitchFamily="34" charset="0"/>
              </a:rPr>
              <a:t>, </a:t>
            </a:r>
            <a:r>
              <a:rPr lang="zh-CN" altLang="zh-CN" sz="900" dirty="0">
                <a:solidFill>
                  <a:srgbClr val="333333"/>
                </a:solidFill>
                <a:latin typeface="Arial" panose="020B0604020202020204" pitchFamily="34" charset="0"/>
              </a:rPr>
              <a:t>等</a:t>
            </a:r>
            <a:r>
              <a:rPr lang="en-US" altLang="zh-CN" sz="900" dirty="0">
                <a:solidFill>
                  <a:srgbClr val="333333"/>
                </a:solidFill>
                <a:latin typeface="Arial" panose="020B0604020202020204" pitchFamily="34" charset="0"/>
              </a:rPr>
              <a:t>. </a:t>
            </a:r>
            <a:r>
              <a:rPr lang="zh-CN" altLang="zh-CN" sz="900" dirty="0">
                <a:solidFill>
                  <a:srgbClr val="333333"/>
                </a:solidFill>
                <a:latin typeface="Arial" panose="020B0604020202020204" pitchFamily="34" charset="0"/>
              </a:rPr>
              <a:t>基于</a:t>
            </a:r>
            <a:r>
              <a:rPr lang="en-US" altLang="zh-CN" sz="900" dirty="0">
                <a:solidFill>
                  <a:srgbClr val="333333"/>
                </a:solidFill>
                <a:latin typeface="Arial" panose="020B0604020202020204" pitchFamily="34" charset="0"/>
              </a:rPr>
              <a:t>Aspen Plus</a:t>
            </a:r>
            <a:r>
              <a:rPr lang="zh-CN" altLang="zh-CN" sz="900" dirty="0">
                <a:solidFill>
                  <a:srgbClr val="333333"/>
                </a:solidFill>
                <a:latin typeface="Arial" panose="020B0604020202020204" pitchFamily="34" charset="0"/>
              </a:rPr>
              <a:t>和</a:t>
            </a:r>
            <a:r>
              <a:rPr lang="en-US" altLang="zh-CN" sz="900" dirty="0">
                <a:solidFill>
                  <a:srgbClr val="333333"/>
                </a:solidFill>
                <a:latin typeface="Arial" panose="020B0604020202020204" pitchFamily="34" charset="0"/>
              </a:rPr>
              <a:t>NSGA-Ⅱ</a:t>
            </a:r>
            <a:r>
              <a:rPr lang="zh-CN" altLang="zh-CN" sz="900" dirty="0">
                <a:solidFill>
                  <a:srgbClr val="333333"/>
                </a:solidFill>
                <a:latin typeface="Arial" panose="020B0604020202020204" pitchFamily="34" charset="0"/>
              </a:rPr>
              <a:t>的隔壁塔多目标优化研究</a:t>
            </a:r>
            <a:r>
              <a:rPr lang="en-US" altLang="zh-CN" sz="900" dirty="0">
                <a:solidFill>
                  <a:srgbClr val="333333"/>
                </a:solidFill>
                <a:latin typeface="Arial" panose="020B0604020202020204" pitchFamily="34" charset="0"/>
              </a:rPr>
              <a:t>[J]. </a:t>
            </a:r>
            <a:r>
              <a:rPr lang="zh-CN" altLang="zh-CN" sz="900" dirty="0">
                <a:solidFill>
                  <a:srgbClr val="333333"/>
                </a:solidFill>
                <a:latin typeface="Arial" panose="020B0604020202020204" pitchFamily="34" charset="0"/>
              </a:rPr>
              <a:t>高校化学工程学报</a:t>
            </a:r>
            <a:r>
              <a:rPr lang="en-US" altLang="zh-CN" sz="900" dirty="0">
                <a:solidFill>
                  <a:srgbClr val="333333"/>
                </a:solidFill>
                <a:latin typeface="Arial" panose="020B0604020202020204" pitchFamily="34" charset="0"/>
              </a:rPr>
              <a:t>, 2015, 29(2): 400-406.</a:t>
            </a:r>
          </a:p>
          <a:p>
            <a:r>
              <a:rPr lang="en-US" altLang="zh-CN" sz="900" dirty="0">
                <a:solidFill>
                  <a:srgbClr val="333333"/>
                </a:solidFill>
                <a:latin typeface="Arial" panose="020B0604020202020204" pitchFamily="34" charset="0"/>
              </a:rPr>
              <a:t>[2]</a:t>
            </a:r>
            <a:r>
              <a:rPr lang="zh-CN" altLang="en-US" sz="900" dirty="0">
                <a:solidFill>
                  <a:srgbClr val="333333"/>
                </a:solidFill>
                <a:latin typeface="Arial" panose="020B0604020202020204" pitchFamily="34" charset="0"/>
              </a:rPr>
              <a:t>赵其辰</a:t>
            </a:r>
            <a:r>
              <a:rPr lang="en-US" altLang="zh-CN" sz="900" dirty="0">
                <a:solidFill>
                  <a:srgbClr val="333333"/>
                </a:solidFill>
                <a:latin typeface="Arial" panose="020B0604020202020204" pitchFamily="34" charset="0"/>
              </a:rPr>
              <a:t>,</a:t>
            </a:r>
            <a:r>
              <a:rPr lang="zh-CN" altLang="en-US" sz="900" dirty="0">
                <a:solidFill>
                  <a:srgbClr val="333333"/>
                </a:solidFill>
                <a:latin typeface="Arial" panose="020B0604020202020204" pitchFamily="34" charset="0"/>
              </a:rPr>
              <a:t>张鹏</a:t>
            </a:r>
            <a:r>
              <a:rPr lang="en-US" altLang="zh-CN" sz="900" dirty="0">
                <a:solidFill>
                  <a:srgbClr val="333333"/>
                </a:solidFill>
                <a:latin typeface="Arial" panose="020B0604020202020204" pitchFamily="34" charset="0"/>
              </a:rPr>
              <a:t>,</a:t>
            </a:r>
            <a:r>
              <a:rPr lang="zh-CN" altLang="en-US" sz="900" dirty="0">
                <a:solidFill>
                  <a:srgbClr val="333333"/>
                </a:solidFill>
                <a:latin typeface="Arial" panose="020B0604020202020204" pitchFamily="34" charset="0"/>
              </a:rPr>
              <a:t>杨伯伦</a:t>
            </a:r>
            <a:r>
              <a:rPr lang="en-US" altLang="zh-CN" sz="900" dirty="0">
                <a:solidFill>
                  <a:srgbClr val="333333"/>
                </a:solidFill>
                <a:latin typeface="Arial" panose="020B0604020202020204" pitchFamily="34" charset="0"/>
              </a:rPr>
              <a:t>.</a:t>
            </a:r>
            <a:r>
              <a:rPr lang="zh-CN" altLang="en-US" sz="900" dirty="0">
                <a:solidFill>
                  <a:srgbClr val="333333"/>
                </a:solidFill>
                <a:latin typeface="Arial" panose="020B0604020202020204" pitchFamily="34" charset="0"/>
              </a:rPr>
              <a:t>油品烷基化催化精馏脱硫过程的多目标优化</a:t>
            </a:r>
            <a:r>
              <a:rPr lang="en-US" altLang="zh-CN" sz="900" dirty="0">
                <a:solidFill>
                  <a:srgbClr val="333333"/>
                </a:solidFill>
                <a:latin typeface="Arial" panose="020B0604020202020204" pitchFamily="34" charset="0"/>
              </a:rPr>
              <a:t>[J].</a:t>
            </a:r>
            <a:r>
              <a:rPr lang="zh-CN" altLang="en-US" sz="900" dirty="0">
                <a:solidFill>
                  <a:srgbClr val="333333"/>
                </a:solidFill>
                <a:latin typeface="Arial" panose="020B0604020202020204" pitchFamily="34" charset="0"/>
              </a:rPr>
              <a:t>高校化学工程学报</a:t>
            </a:r>
            <a:r>
              <a:rPr lang="en-US" altLang="zh-CN" sz="900" dirty="0">
                <a:solidFill>
                  <a:srgbClr val="333333"/>
                </a:solidFill>
                <a:latin typeface="Arial" panose="020B0604020202020204" pitchFamily="34" charset="0"/>
              </a:rPr>
              <a:t>,2020,34(05):1258-1264.</a:t>
            </a:r>
          </a:p>
        </p:txBody>
      </p:sp>
      <p:graphicFrame>
        <p:nvGraphicFramePr>
          <p:cNvPr id="5" name="表格 5">
            <a:extLst>
              <a:ext uri="{FF2B5EF4-FFF2-40B4-BE49-F238E27FC236}">
                <a16:creationId xmlns:a16="http://schemas.microsoft.com/office/drawing/2014/main" id="{40926E26-D41E-EDA7-0D6A-CD26531E7F09}"/>
              </a:ext>
            </a:extLst>
          </p:cNvPr>
          <p:cNvGraphicFramePr>
            <a:graphicFrameLocks noGrp="1"/>
          </p:cNvGraphicFramePr>
          <p:nvPr>
            <p:extLst>
              <p:ext uri="{D42A27DB-BD31-4B8C-83A1-F6EECF244321}">
                <p14:modId xmlns:p14="http://schemas.microsoft.com/office/powerpoint/2010/main" val="45414831"/>
              </p:ext>
            </p:extLst>
          </p:nvPr>
        </p:nvGraphicFramePr>
        <p:xfrm>
          <a:off x="152023" y="1615273"/>
          <a:ext cx="8661660" cy="3335908"/>
        </p:xfrm>
        <a:graphic>
          <a:graphicData uri="http://schemas.openxmlformats.org/drawingml/2006/table">
            <a:tbl>
              <a:tblPr>
                <a:tableStyleId>{5C22544A-7EE6-4342-B048-85BDC9FD1C3A}</a:tableStyleId>
              </a:tblPr>
              <a:tblGrid>
                <a:gridCol w="1302862">
                  <a:extLst>
                    <a:ext uri="{9D8B030D-6E8A-4147-A177-3AD203B41FA5}">
                      <a16:colId xmlns:a16="http://schemas.microsoft.com/office/drawing/2014/main" val="593606096"/>
                    </a:ext>
                  </a:extLst>
                </a:gridCol>
                <a:gridCol w="3953868">
                  <a:extLst>
                    <a:ext uri="{9D8B030D-6E8A-4147-A177-3AD203B41FA5}">
                      <a16:colId xmlns:a16="http://schemas.microsoft.com/office/drawing/2014/main" val="2991754446"/>
                    </a:ext>
                  </a:extLst>
                </a:gridCol>
                <a:gridCol w="3404930">
                  <a:extLst>
                    <a:ext uri="{9D8B030D-6E8A-4147-A177-3AD203B41FA5}">
                      <a16:colId xmlns:a16="http://schemas.microsoft.com/office/drawing/2014/main" val="1778926378"/>
                    </a:ext>
                  </a:extLst>
                </a:gridCol>
              </a:tblGrid>
              <a:tr h="409828">
                <a:tc>
                  <a:txBody>
                    <a:bodyPr/>
                    <a:lstStyle/>
                    <a:p>
                      <a:pPr algn="ctr"/>
                      <a:r>
                        <a:rPr lang="zh-CN" altLang="en-US" dirty="0"/>
                        <a:t>作者</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a:t>研究方向</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a:t>结果</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4870751"/>
                  </a:ext>
                </a:extLst>
              </a:tr>
              <a:tr h="1046092">
                <a:tc>
                  <a:txBody>
                    <a:bodyPr/>
                    <a:lstStyle/>
                    <a:p>
                      <a:r>
                        <a:rPr lang="zh-CN" altLang="en-US" sz="1800" dirty="0"/>
                        <a:t>李军等</a:t>
                      </a:r>
                      <a:r>
                        <a:rPr lang="en-US" altLang="zh-CN" sz="1800" baseline="30000" dirty="0"/>
                        <a:t>[1]</a:t>
                      </a:r>
                      <a:endParaRPr lang="zh-CN" altLang="en-US" baseline="30000" dirty="0"/>
                    </a:p>
                  </a:txBody>
                  <a:tcPr anchor="ctr">
                    <a:lnT w="12700" cap="flat" cmpd="sng" algn="ctr">
                      <a:solidFill>
                        <a:schemeClr val="tx1"/>
                      </a:solidFill>
                      <a:prstDash val="solid"/>
                      <a:round/>
                      <a:headEnd type="none" w="med" len="med"/>
                      <a:tailEnd type="none" w="med" len="med"/>
                    </a:lnT>
                    <a:noFill/>
                  </a:tcPr>
                </a:tc>
                <a:tc>
                  <a:txBody>
                    <a:bodyPr/>
                    <a:lstStyle/>
                    <a:p>
                      <a:r>
                        <a:rPr lang="zh-CN" altLang="en-US" dirty="0"/>
                        <a:t>以年总操作费用</a:t>
                      </a:r>
                      <a:r>
                        <a:rPr lang="en-US" altLang="zh-CN" dirty="0"/>
                        <a:t>(TAC)</a:t>
                      </a:r>
                      <a:r>
                        <a:rPr lang="zh-CN" altLang="en-US" dirty="0"/>
                        <a:t>和再沸器负荷为目标，提出了基于遗传算法 </a:t>
                      </a:r>
                      <a:r>
                        <a:rPr lang="en-US" altLang="zh-CN" dirty="0"/>
                        <a:t>NSGA-II</a:t>
                      </a:r>
                      <a:r>
                        <a:rPr lang="zh-CN" altLang="en-US" dirty="0"/>
                        <a:t>的优化方法，并将该方法应用于 </a:t>
                      </a:r>
                      <a:r>
                        <a:rPr lang="en-US" altLang="zh-CN" dirty="0"/>
                        <a:t>BTX </a:t>
                      </a:r>
                      <a:r>
                        <a:rPr lang="zh-CN" altLang="en-US" dirty="0"/>
                        <a:t>分离隔壁塔的优化设计。</a:t>
                      </a:r>
                    </a:p>
                  </a:txBody>
                  <a:tcPr anchor="ctr">
                    <a:lnT w="12700" cap="flat" cmpd="sng" algn="ctr">
                      <a:solidFill>
                        <a:schemeClr val="tx1"/>
                      </a:solidFill>
                      <a:prstDash val="solid"/>
                      <a:round/>
                      <a:headEnd type="none" w="med" len="med"/>
                      <a:tailEnd type="none" w="med" len="med"/>
                    </a:lnT>
                    <a:noFill/>
                  </a:tcPr>
                </a:tc>
                <a:tc>
                  <a:txBody>
                    <a:bodyPr/>
                    <a:lstStyle/>
                    <a:p>
                      <a:r>
                        <a:rPr lang="zh-CN" altLang="en-US" dirty="0"/>
                        <a:t>研究表明，对于 </a:t>
                      </a:r>
                      <a:r>
                        <a:rPr lang="en-US" altLang="zh-CN" dirty="0"/>
                        <a:t>Pareto </a:t>
                      </a:r>
                      <a:r>
                        <a:rPr lang="zh-CN" altLang="en-US" dirty="0"/>
                        <a:t>解分布，气相分配量 </a:t>
                      </a:r>
                      <a:r>
                        <a:rPr lang="en-US" altLang="zh-CN" dirty="0"/>
                        <a:t>β</a:t>
                      </a:r>
                      <a:r>
                        <a:rPr lang="en-US" altLang="zh-CN" baseline="-25000" dirty="0"/>
                        <a:t>g</a:t>
                      </a:r>
                      <a:r>
                        <a:rPr lang="zh-CN" altLang="en-US" dirty="0"/>
                        <a:t>、 液相分配量 </a:t>
                      </a:r>
                      <a:r>
                        <a:rPr lang="en-US" altLang="zh-CN" dirty="0"/>
                        <a:t>β</a:t>
                      </a:r>
                      <a:r>
                        <a:rPr lang="en-US" altLang="zh-CN" baseline="-25000" dirty="0"/>
                        <a:t>L</a:t>
                      </a:r>
                      <a:r>
                        <a:rPr lang="zh-CN" altLang="en-US" dirty="0"/>
                        <a:t>、侧线抽出位置 </a:t>
                      </a:r>
                      <a:r>
                        <a:rPr lang="en-US" altLang="zh-CN" dirty="0"/>
                        <a:t>N</a:t>
                      </a:r>
                      <a:r>
                        <a:rPr lang="en-US" altLang="zh-CN" baseline="-25000" dirty="0"/>
                        <a:t>S</a:t>
                      </a:r>
                      <a:r>
                        <a:rPr lang="en-US" altLang="zh-CN" dirty="0"/>
                        <a:t> </a:t>
                      </a:r>
                      <a:r>
                        <a:rPr lang="zh-CN" altLang="en-US" dirty="0"/>
                        <a:t>和液相分配位置 </a:t>
                      </a:r>
                      <a:r>
                        <a:rPr lang="en-US" altLang="zh-CN" dirty="0"/>
                        <a:t>N</a:t>
                      </a:r>
                      <a:r>
                        <a:rPr lang="en-US" altLang="zh-CN" baseline="-25000" dirty="0"/>
                        <a:t>L</a:t>
                      </a:r>
                      <a:r>
                        <a:rPr lang="zh-CN" altLang="en-US" dirty="0"/>
                        <a:t>基本不变，进料位置 </a:t>
                      </a:r>
                      <a:r>
                        <a:rPr lang="en-US" altLang="zh-CN" dirty="0"/>
                        <a:t>N</a:t>
                      </a:r>
                      <a:r>
                        <a:rPr lang="en-US" altLang="zh-CN" baseline="-25000" dirty="0"/>
                        <a:t>F</a:t>
                      </a:r>
                      <a:r>
                        <a:rPr lang="zh-CN" altLang="en-US" dirty="0"/>
                        <a:t>、预分馏塔板 </a:t>
                      </a:r>
                      <a:r>
                        <a:rPr lang="en-US" altLang="zh-CN" dirty="0"/>
                        <a:t>N</a:t>
                      </a:r>
                      <a:r>
                        <a:rPr lang="en-US" altLang="zh-CN" baseline="-25000" dirty="0"/>
                        <a:t>j</a:t>
                      </a:r>
                      <a:r>
                        <a:rPr lang="zh-CN" altLang="en-US" dirty="0"/>
                        <a:t>和主塔板数 </a:t>
                      </a:r>
                      <a:r>
                        <a:rPr lang="en-US" altLang="zh-CN" dirty="0"/>
                        <a:t>N</a:t>
                      </a:r>
                      <a:r>
                        <a:rPr lang="en-US" altLang="zh-CN" baseline="-25000" dirty="0"/>
                        <a:t>i</a:t>
                      </a:r>
                      <a:r>
                        <a:rPr lang="zh-CN" altLang="en-US" dirty="0"/>
                        <a:t>存在一定的线性关系。</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6633196"/>
                  </a:ext>
                </a:extLst>
              </a:tr>
              <a:tr h="409828">
                <a:tc>
                  <a:txBody>
                    <a:bodyPr/>
                    <a:lstStyle/>
                    <a:p>
                      <a:r>
                        <a:rPr lang="zh-CN" altLang="en-US" sz="1800" dirty="0"/>
                        <a:t>赵其辰等</a:t>
                      </a:r>
                      <a:r>
                        <a:rPr lang="en-US" altLang="zh-CN" sz="1800" baseline="30000" dirty="0"/>
                        <a:t>[2]</a:t>
                      </a:r>
                      <a:endParaRPr lang="zh-CN" altLang="en-US" baseline="30000" dirty="0"/>
                    </a:p>
                  </a:txBody>
                  <a:tcPr anchor="ctr">
                    <a:lnB w="12700" cap="flat" cmpd="sng" algn="ctr">
                      <a:solidFill>
                        <a:schemeClr val="tx1"/>
                      </a:solidFill>
                      <a:prstDash val="solid"/>
                      <a:round/>
                      <a:headEnd type="none" w="med" len="med"/>
                      <a:tailEnd type="none" w="med" len="med"/>
                    </a:lnB>
                    <a:noFill/>
                  </a:tcPr>
                </a:tc>
                <a:tc>
                  <a:txBody>
                    <a:bodyPr/>
                    <a:lstStyle/>
                    <a:p>
                      <a:r>
                        <a:rPr lang="zh-CN" altLang="en-US" dirty="0"/>
                        <a:t>针对促进油品烷基化脱硫目标反应的催化精馏过程，采用</a:t>
                      </a:r>
                      <a:r>
                        <a:rPr lang="en-US" altLang="zh-CN" dirty="0"/>
                        <a:t>NSGA-II</a:t>
                      </a:r>
                      <a:r>
                        <a:rPr lang="zh-CN" altLang="en-US" dirty="0"/>
                        <a:t>多目标优化方法对该过程进行建模和分析。</a:t>
                      </a:r>
                    </a:p>
                  </a:txBody>
                  <a:tcPr anchor="ctr">
                    <a:lnB w="12700" cap="flat" cmpd="sng" algn="ctr">
                      <a:solidFill>
                        <a:schemeClr val="tx1"/>
                      </a:solidFill>
                      <a:prstDash val="solid"/>
                      <a:round/>
                      <a:headEnd type="none" w="med" len="med"/>
                      <a:tailEnd type="none" w="med" len="med"/>
                    </a:lnB>
                    <a:noFill/>
                  </a:tcPr>
                </a:tc>
                <a:tc>
                  <a:txBody>
                    <a:bodyPr/>
                    <a:lstStyle/>
                    <a:p>
                      <a:r>
                        <a:rPr lang="zh-CN" altLang="en-US" dirty="0"/>
                        <a:t>发现采用多目标优化方法提高了烷基化反应的转化率和选择性，降低了馏分中的硫含量，降低了操作费用。</a:t>
                      </a: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7579547"/>
                  </a:ext>
                </a:extLst>
              </a:tr>
            </a:tbl>
          </a:graphicData>
        </a:graphic>
      </p:graphicFrame>
      <p:sp>
        <p:nvSpPr>
          <p:cNvPr id="6" name="矩形 5">
            <a:extLst>
              <a:ext uri="{FF2B5EF4-FFF2-40B4-BE49-F238E27FC236}">
                <a16:creationId xmlns:a16="http://schemas.microsoft.com/office/drawing/2014/main" id="{81B68E1B-4EEC-A604-E570-C6DED32169D7}"/>
              </a:ext>
            </a:extLst>
          </p:cNvPr>
          <p:cNvSpPr/>
          <p:nvPr/>
        </p:nvSpPr>
        <p:spPr>
          <a:xfrm>
            <a:off x="272763" y="926941"/>
            <a:ext cx="6851180" cy="369332"/>
          </a:xfrm>
          <a:prstGeom prst="rect">
            <a:avLst/>
          </a:prstGeom>
        </p:spPr>
        <p:txBody>
          <a:bodyPr wrap="square">
            <a:spAutoFit/>
          </a:bodyPr>
          <a:lstStyle/>
          <a:p>
            <a:pPr marL="342900" indent="-342900">
              <a:lnSpc>
                <a:spcPct val="90000"/>
              </a:lnSpc>
              <a:spcBef>
                <a:spcPct val="20000"/>
              </a:spcBef>
              <a:buClr>
                <a:srgbClr val="00B050"/>
              </a:buClr>
              <a:buFont typeface="Wingdings" pitchFamily="2" charset="2"/>
              <a:buChar char="v"/>
              <a:defRPr/>
            </a:pPr>
            <a:r>
              <a:rPr lang="zh-CN" altLang="en-US" sz="2000" b="1" dirty="0">
                <a:solidFill>
                  <a:srgbClr val="E3E3FF">
                    <a:lumMod val="25000"/>
                  </a:srgbClr>
                </a:solidFill>
                <a:latin typeface="Times New Roman" panose="02020603050405020304" pitchFamily="18" charset="0"/>
                <a:ea typeface="黑体" panose="02010609060101010101" pitchFamily="49" charset="-122"/>
                <a:cs typeface="Times New Roman" panose="02020603050405020304" pitchFamily="18" charset="0"/>
              </a:rPr>
              <a:t>多目标优化对分隔壁塔分离不同体系的应用</a:t>
            </a:r>
          </a:p>
        </p:txBody>
      </p:sp>
    </p:spTree>
    <p:extLst>
      <p:ext uri="{BB962C8B-B14F-4D97-AF65-F5344CB8AC3E}">
        <p14:creationId xmlns:p14="http://schemas.microsoft.com/office/powerpoint/2010/main" val="220132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文献调研</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隔壁塔的控制</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15</a:t>
            </a:fld>
            <a:endParaRPr lang="zh-CN" altLang="en-US" dirty="0">
              <a:solidFill>
                <a:srgbClr val="FFFFFF"/>
              </a:solidFill>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AAA5A727-F030-A601-525B-F96D4EA67E94}"/>
              </a:ext>
            </a:extLst>
          </p:cNvPr>
          <p:cNvSpPr txBox="1"/>
          <p:nvPr/>
        </p:nvSpPr>
        <p:spPr>
          <a:xfrm>
            <a:off x="421737" y="5906675"/>
            <a:ext cx="8698642" cy="230832"/>
          </a:xfrm>
          <a:prstGeom prst="rect">
            <a:avLst/>
          </a:prstGeom>
          <a:noFill/>
        </p:spPr>
        <p:txBody>
          <a:bodyPr wrap="square" rtlCol="0">
            <a:spAutoFit/>
          </a:bodyPr>
          <a:lstStyle/>
          <a:p>
            <a:r>
              <a:rPr lang="zh-CN" altLang="en-US" sz="900" b="0" i="0" dirty="0">
                <a:solidFill>
                  <a:srgbClr val="333333"/>
                </a:solidFill>
                <a:effectLst/>
                <a:latin typeface="Arial" panose="020B0604020202020204" pitchFamily="34" charset="0"/>
              </a:rPr>
              <a:t>吴昊</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沈本贤</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蔺锡钰</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杨剑</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凌昊</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分壁精馏塔分离芳烃的温差控制</a:t>
            </a:r>
            <a:r>
              <a:rPr lang="en-US" altLang="zh-CN" sz="900" b="0" i="0" dirty="0">
                <a:solidFill>
                  <a:srgbClr val="333333"/>
                </a:solidFill>
                <a:effectLst/>
                <a:latin typeface="Arial" panose="020B0604020202020204" pitchFamily="34" charset="0"/>
              </a:rPr>
              <a:t>[J].</a:t>
            </a:r>
            <a:r>
              <a:rPr lang="zh-CN" altLang="en-US" sz="900" b="0" i="0" dirty="0">
                <a:solidFill>
                  <a:srgbClr val="333333"/>
                </a:solidFill>
                <a:effectLst/>
                <a:latin typeface="Arial" panose="020B0604020202020204" pitchFamily="34" charset="0"/>
              </a:rPr>
              <a:t>石油学报</a:t>
            </a:r>
            <a:r>
              <a:rPr lang="en-US" altLang="zh-CN" sz="900" b="0" i="0" dirty="0">
                <a:solidFill>
                  <a:srgbClr val="333333"/>
                </a:solidFill>
                <a:effectLst/>
                <a:latin typeface="Arial" panose="020B0604020202020204" pitchFamily="34" charset="0"/>
              </a:rPr>
              <a:t>(</a:t>
            </a:r>
            <a:r>
              <a:rPr lang="zh-CN" altLang="en-US" sz="900" b="0" i="0" dirty="0">
                <a:solidFill>
                  <a:srgbClr val="333333"/>
                </a:solidFill>
                <a:effectLst/>
                <a:latin typeface="Arial" panose="020B0604020202020204" pitchFamily="34" charset="0"/>
              </a:rPr>
              <a:t>石油加工</a:t>
            </a:r>
            <a:r>
              <a:rPr lang="en-US" altLang="zh-CN" sz="900" b="0" i="0" dirty="0">
                <a:solidFill>
                  <a:srgbClr val="333333"/>
                </a:solidFill>
                <a:effectLst/>
                <a:latin typeface="Arial" panose="020B0604020202020204" pitchFamily="34" charset="0"/>
              </a:rPr>
              <a:t>),2016,32(01):88-100.</a:t>
            </a:r>
            <a:endParaRPr lang="en-US" altLang="zh-CN" sz="900" b="1"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2C11EB96-DCD3-2C85-9A74-0F4F3E2EF338}"/>
              </a:ext>
            </a:extLst>
          </p:cNvPr>
          <p:cNvSpPr/>
          <p:nvPr/>
        </p:nvSpPr>
        <p:spPr>
          <a:xfrm>
            <a:off x="272763" y="926941"/>
            <a:ext cx="6851180" cy="369332"/>
          </a:xfrm>
          <a:prstGeom prst="rect">
            <a:avLst/>
          </a:prstGeom>
        </p:spPr>
        <p:txBody>
          <a:bodyPr wrap="square">
            <a:spAutoFit/>
          </a:bodyPr>
          <a:lstStyle/>
          <a:p>
            <a:pPr marL="342900" indent="-342900">
              <a:lnSpc>
                <a:spcPct val="90000"/>
              </a:lnSpc>
              <a:spcBef>
                <a:spcPct val="20000"/>
              </a:spcBef>
              <a:buClr>
                <a:srgbClr val="00B050"/>
              </a:buClr>
              <a:buFont typeface="Wingdings" pitchFamily="2" charset="2"/>
              <a:buChar char="v"/>
              <a:defRPr/>
            </a:pPr>
            <a:r>
              <a:rPr lang="zh-CN" altLang="en-US" sz="2000" b="1" dirty="0">
                <a:solidFill>
                  <a:srgbClr val="E3E3FF">
                    <a:lumMod val="25000"/>
                  </a:srgbClr>
                </a:solidFill>
                <a:latin typeface="Times New Roman" panose="02020603050405020304" pitchFamily="18" charset="0"/>
                <a:ea typeface="黑体" panose="02010609060101010101" pitchFamily="49" charset="-122"/>
                <a:cs typeface="Times New Roman" panose="02020603050405020304" pitchFamily="18" charset="0"/>
              </a:rPr>
              <a:t>分壁精馏塔分离芳烃的温差控制</a:t>
            </a:r>
          </a:p>
        </p:txBody>
      </p:sp>
      <p:pic>
        <p:nvPicPr>
          <p:cNvPr id="8" name="图片 7">
            <a:extLst>
              <a:ext uri="{FF2B5EF4-FFF2-40B4-BE49-F238E27FC236}">
                <a16:creationId xmlns:a16="http://schemas.microsoft.com/office/drawing/2014/main" id="{02B45360-6E5E-DDB9-2F93-60367474E848}"/>
              </a:ext>
            </a:extLst>
          </p:cNvPr>
          <p:cNvPicPr>
            <a:picLocks noChangeAspect="1"/>
          </p:cNvPicPr>
          <p:nvPr/>
        </p:nvPicPr>
        <p:blipFill>
          <a:blip r:embed="rId3"/>
          <a:stretch>
            <a:fillRect/>
          </a:stretch>
        </p:blipFill>
        <p:spPr>
          <a:xfrm>
            <a:off x="212191" y="1333199"/>
            <a:ext cx="5966112" cy="1519721"/>
          </a:xfrm>
          <a:prstGeom prst="rect">
            <a:avLst/>
          </a:prstGeom>
        </p:spPr>
      </p:pic>
      <p:pic>
        <p:nvPicPr>
          <p:cNvPr id="13" name="图片 12">
            <a:extLst>
              <a:ext uri="{FF2B5EF4-FFF2-40B4-BE49-F238E27FC236}">
                <a16:creationId xmlns:a16="http://schemas.microsoft.com/office/drawing/2014/main" id="{B24A3A9C-A5F0-D46D-9408-70D277FDB654}"/>
              </a:ext>
            </a:extLst>
          </p:cNvPr>
          <p:cNvPicPr>
            <a:picLocks noChangeAspect="1"/>
          </p:cNvPicPr>
          <p:nvPr/>
        </p:nvPicPr>
        <p:blipFill>
          <a:blip r:embed="rId4"/>
          <a:stretch>
            <a:fillRect/>
          </a:stretch>
        </p:blipFill>
        <p:spPr>
          <a:xfrm>
            <a:off x="212190" y="3067888"/>
            <a:ext cx="5966113" cy="1654128"/>
          </a:xfrm>
          <a:prstGeom prst="rect">
            <a:avLst/>
          </a:prstGeom>
        </p:spPr>
      </p:pic>
      <p:graphicFrame>
        <p:nvGraphicFramePr>
          <p:cNvPr id="14" name="表格 13">
            <a:extLst>
              <a:ext uri="{FF2B5EF4-FFF2-40B4-BE49-F238E27FC236}">
                <a16:creationId xmlns:a16="http://schemas.microsoft.com/office/drawing/2014/main" id="{B0C6D3C7-DADA-6BD9-0C61-C1EC0AF8AE85}"/>
              </a:ext>
            </a:extLst>
          </p:cNvPr>
          <p:cNvGraphicFramePr>
            <a:graphicFrameLocks noGrp="1"/>
          </p:cNvGraphicFramePr>
          <p:nvPr>
            <p:extLst>
              <p:ext uri="{D42A27DB-BD31-4B8C-83A1-F6EECF244321}">
                <p14:modId xmlns:p14="http://schemas.microsoft.com/office/powerpoint/2010/main" val="3932014198"/>
              </p:ext>
            </p:extLst>
          </p:nvPr>
        </p:nvGraphicFramePr>
        <p:xfrm>
          <a:off x="6067667" y="2443048"/>
          <a:ext cx="2780495" cy="1249680"/>
        </p:xfrm>
        <a:graphic>
          <a:graphicData uri="http://schemas.openxmlformats.org/drawingml/2006/table">
            <a:tbl>
              <a:tblPr>
                <a:tableStyleId>{5C22544A-7EE6-4342-B048-85BDC9FD1C3A}</a:tableStyleId>
              </a:tblPr>
              <a:tblGrid>
                <a:gridCol w="1225094">
                  <a:extLst>
                    <a:ext uri="{9D8B030D-6E8A-4147-A177-3AD203B41FA5}">
                      <a16:colId xmlns:a16="http://schemas.microsoft.com/office/drawing/2014/main" val="19583721"/>
                    </a:ext>
                  </a:extLst>
                </a:gridCol>
                <a:gridCol w="1555401">
                  <a:extLst>
                    <a:ext uri="{9D8B030D-6E8A-4147-A177-3AD203B41FA5}">
                      <a16:colId xmlns:a16="http://schemas.microsoft.com/office/drawing/2014/main" val="2918152559"/>
                    </a:ext>
                  </a:extLst>
                </a:gridCol>
              </a:tblGrid>
              <a:tr h="708344">
                <a:tc>
                  <a:txBody>
                    <a:bodyPr/>
                    <a:lstStyle/>
                    <a:p>
                      <a:pPr marL="285750" indent="-285750" algn="ctr">
                        <a:buClr>
                          <a:srgbClr val="FF0000"/>
                        </a:buClr>
                        <a:buFont typeface="Wingdings" panose="05000000000000000000" pitchFamily="2" charset="2"/>
                        <a:buChar char="Ø"/>
                      </a:pPr>
                      <a:r>
                        <a:rPr lang="zh-CN" altLang="en-US" sz="1400" b="1" kern="1200" dirty="0">
                          <a:solidFill>
                            <a:srgbClr val="000079"/>
                          </a:solidFill>
                          <a:latin typeface="Times New Roman" pitchFamily="18" charset="0"/>
                          <a:ea typeface="黑体" panose="02010609060101010101" pitchFamily="49" charset="-122"/>
                          <a:cs typeface="Times New Roman" pitchFamily="18" charset="0"/>
                        </a:rPr>
                        <a:t>温度控制</a:t>
                      </a:r>
                    </a:p>
                  </a:txBody>
                  <a:tcPr anchor="ctr">
                    <a:noFill/>
                  </a:tcPr>
                </a:tc>
                <a:tc>
                  <a:txBody>
                    <a:bodyPr/>
                    <a:lstStyle/>
                    <a:p>
                      <a:r>
                        <a:rPr lang="zh-CN" altLang="en-US" sz="1400" b="1" kern="1200" dirty="0">
                          <a:solidFill>
                            <a:srgbClr val="000079"/>
                          </a:solidFill>
                          <a:latin typeface="Times New Roman" pitchFamily="18" charset="0"/>
                          <a:ea typeface="黑体" panose="02010609060101010101" pitchFamily="49" charset="-122"/>
                          <a:cs typeface="Times New Roman" pitchFamily="18" charset="0"/>
                        </a:rPr>
                        <a:t>各产品纯度的最大波动范围为</a:t>
                      </a:r>
                      <a:r>
                        <a:rPr lang="en-US" altLang="zh-CN" sz="1400" b="1" kern="1200" dirty="0">
                          <a:solidFill>
                            <a:srgbClr val="000079"/>
                          </a:solidFill>
                          <a:latin typeface="Times New Roman" pitchFamily="18" charset="0"/>
                          <a:ea typeface="黑体" panose="02010609060101010101" pitchFamily="49" charset="-122"/>
                          <a:cs typeface="Times New Roman" pitchFamily="18" charset="0"/>
                        </a:rPr>
                        <a:t>0.985~0.995</a:t>
                      </a:r>
                      <a:endParaRPr lang="zh-CN" altLang="en-US" sz="1400" b="1" kern="1200" dirty="0">
                        <a:solidFill>
                          <a:srgbClr val="000079"/>
                        </a:solidFill>
                        <a:latin typeface="Times New Roman" pitchFamily="18" charset="0"/>
                        <a:ea typeface="黑体" panose="02010609060101010101" pitchFamily="49" charset="-122"/>
                        <a:cs typeface="Times New Roman" pitchFamily="18" charset="0"/>
                      </a:endParaRPr>
                    </a:p>
                  </a:txBody>
                  <a:tcPr anchor="ctr">
                    <a:noFill/>
                  </a:tcPr>
                </a:tc>
                <a:extLst>
                  <a:ext uri="{0D108BD9-81ED-4DB2-BD59-A6C34878D82A}">
                    <a16:rowId xmlns:a16="http://schemas.microsoft.com/office/drawing/2014/main" val="934009064"/>
                  </a:ext>
                </a:extLst>
              </a:tr>
              <a:tr h="501743">
                <a:tc>
                  <a:txBody>
                    <a:bodyPr/>
                    <a:lstStyle/>
                    <a:p>
                      <a:pPr marL="285750" indent="-285750" algn="ctr">
                        <a:buClr>
                          <a:srgbClr val="FF0000"/>
                        </a:buClr>
                        <a:buFont typeface="Wingdings" panose="05000000000000000000" pitchFamily="2" charset="2"/>
                        <a:buChar char="Ø"/>
                      </a:pPr>
                      <a:r>
                        <a:rPr lang="zh-CN" altLang="en-US" sz="1400" b="1" kern="1200" dirty="0">
                          <a:solidFill>
                            <a:srgbClr val="000079"/>
                          </a:solidFill>
                          <a:latin typeface="Times New Roman" pitchFamily="18" charset="0"/>
                          <a:ea typeface="黑体" panose="02010609060101010101" pitchFamily="49" charset="-122"/>
                          <a:cs typeface="Times New Roman" pitchFamily="18" charset="0"/>
                        </a:rPr>
                        <a:t>温差控制</a:t>
                      </a:r>
                    </a:p>
                  </a:txBody>
                  <a:tcPr anchor="ctr">
                    <a:noFill/>
                  </a:tcPr>
                </a:tc>
                <a:tc>
                  <a:txBody>
                    <a:bodyPr/>
                    <a:lstStyle/>
                    <a:p>
                      <a:r>
                        <a:rPr lang="zh-CN" altLang="en-US" sz="1400" b="1" kern="1200" dirty="0">
                          <a:solidFill>
                            <a:srgbClr val="000079"/>
                          </a:solidFill>
                          <a:latin typeface="Times New Roman" pitchFamily="18" charset="0"/>
                          <a:ea typeface="黑体" panose="02010609060101010101" pitchFamily="49" charset="-122"/>
                          <a:cs typeface="Times New Roman" pitchFamily="18" charset="0"/>
                        </a:rPr>
                        <a:t>纯度最大波动范围为</a:t>
                      </a:r>
                      <a:r>
                        <a:rPr lang="en-US" altLang="zh-CN" sz="1400" b="1" kern="1200" dirty="0">
                          <a:solidFill>
                            <a:srgbClr val="000079"/>
                          </a:solidFill>
                          <a:latin typeface="Times New Roman" pitchFamily="18" charset="0"/>
                          <a:ea typeface="黑体" panose="02010609060101010101" pitchFamily="49" charset="-122"/>
                          <a:cs typeface="Times New Roman" pitchFamily="18" charset="0"/>
                        </a:rPr>
                        <a:t>0.988~0.992</a:t>
                      </a:r>
                      <a:endParaRPr lang="zh-CN" altLang="en-US" sz="1400" b="1" kern="1200" dirty="0">
                        <a:solidFill>
                          <a:srgbClr val="000079"/>
                        </a:solidFill>
                        <a:latin typeface="Times New Roman" pitchFamily="18" charset="0"/>
                        <a:ea typeface="黑体" panose="02010609060101010101" pitchFamily="49" charset="-122"/>
                        <a:cs typeface="Times New Roman" pitchFamily="18" charset="0"/>
                      </a:endParaRPr>
                    </a:p>
                  </a:txBody>
                  <a:tcPr anchor="ctr">
                    <a:noFill/>
                  </a:tcPr>
                </a:tc>
                <a:extLst>
                  <a:ext uri="{0D108BD9-81ED-4DB2-BD59-A6C34878D82A}">
                    <a16:rowId xmlns:a16="http://schemas.microsoft.com/office/drawing/2014/main" val="3665044717"/>
                  </a:ext>
                </a:extLst>
              </a:tr>
            </a:tbl>
          </a:graphicData>
        </a:graphic>
      </p:graphicFrame>
      <p:sp>
        <p:nvSpPr>
          <p:cNvPr id="15" name="文本框 14">
            <a:extLst>
              <a:ext uri="{FF2B5EF4-FFF2-40B4-BE49-F238E27FC236}">
                <a16:creationId xmlns:a16="http://schemas.microsoft.com/office/drawing/2014/main" id="{B1005DE7-3D1D-D748-4C5C-0BBD555BEF68}"/>
              </a:ext>
            </a:extLst>
          </p:cNvPr>
          <p:cNvSpPr txBox="1"/>
          <p:nvPr/>
        </p:nvSpPr>
        <p:spPr>
          <a:xfrm>
            <a:off x="457200" y="4936984"/>
            <a:ext cx="5555000" cy="307777"/>
          </a:xfrm>
          <a:prstGeom prst="rect">
            <a:avLst/>
          </a:prstGeom>
          <a:noFill/>
        </p:spPr>
        <p:txBody>
          <a:bodyPr wrap="square" rtlCol="0" anchor="ctr">
            <a:spAutoFit/>
          </a:bodyPr>
          <a:lstStyle/>
          <a:p>
            <a:pPr algn="ctr"/>
            <a:r>
              <a:rPr lang="en-US" altLang="zh-CN" sz="1400" dirty="0"/>
              <a:t>DWC</a:t>
            </a:r>
            <a:r>
              <a:rPr lang="zh-CN" altLang="en-US" sz="1400" dirty="0"/>
              <a:t>温度控制、温差控制结构在进料流量波动</a:t>
            </a:r>
            <a:r>
              <a:rPr lang="en-US" altLang="zh-CN" sz="1400" dirty="0"/>
              <a:t>±10%</a:t>
            </a:r>
            <a:r>
              <a:rPr lang="zh-CN" altLang="en-US" sz="1400" dirty="0"/>
              <a:t>后的控制结果</a:t>
            </a:r>
          </a:p>
        </p:txBody>
      </p:sp>
      <p:sp>
        <p:nvSpPr>
          <p:cNvPr id="16" name="Rectangle 13">
            <a:extLst>
              <a:ext uri="{FF2B5EF4-FFF2-40B4-BE49-F238E27FC236}">
                <a16:creationId xmlns:a16="http://schemas.microsoft.com/office/drawing/2014/main" id="{806042B6-52FF-4A12-CF4F-41DBE19C7069}"/>
              </a:ext>
            </a:extLst>
          </p:cNvPr>
          <p:cNvSpPr>
            <a:spLocks noChangeArrowheads="1"/>
          </p:cNvSpPr>
          <p:nvPr/>
        </p:nvSpPr>
        <p:spPr bwMode="gray">
          <a:xfrm>
            <a:off x="6124729" y="2432273"/>
            <a:ext cx="2891714" cy="1249680"/>
          </a:xfrm>
          <a:prstGeom prst="rect">
            <a:avLst/>
          </a:prstGeom>
          <a:noFill/>
          <a:ln w="38100" cap="rnd" algn="ctr">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ct val="20000"/>
              </a:spcBef>
              <a:buClr>
                <a:schemeClr val="bg2"/>
              </a:buClr>
              <a:buFont typeface="Wingdings" panose="05000000000000000000" pitchFamily="2" charset="2"/>
              <a:buChar char="l"/>
              <a:defRPr sz="3200">
                <a:solidFill>
                  <a:schemeClr val="bg2"/>
                </a:solidFill>
                <a:latin typeface="Arial" panose="020B0604020202020204" pitchFamily="34" charset="0"/>
                <a:ea typeface="黑体" panose="02010609060101010101" pitchFamily="49" charset="-122"/>
              </a:defRPr>
            </a:lvl1pPr>
            <a:lvl2pPr marL="742950" indent="-285750">
              <a:lnSpc>
                <a:spcPct val="115000"/>
              </a:lnSpc>
              <a:spcBef>
                <a:spcPct val="20000"/>
              </a:spcBef>
              <a:buClr>
                <a:schemeClr val="bg2"/>
              </a:buClr>
              <a:buFont typeface="Wingdings" panose="05000000000000000000" pitchFamily="2" charset="2"/>
              <a:buChar char="Ø"/>
              <a:defRPr sz="2800">
                <a:solidFill>
                  <a:schemeClr val="bg2"/>
                </a:solidFill>
                <a:latin typeface="Arial" panose="020B0604020202020204" pitchFamily="34" charset="0"/>
                <a:ea typeface="黑体" panose="02010609060101010101" pitchFamily="49" charset="-122"/>
              </a:defRPr>
            </a:lvl2pPr>
            <a:lvl3pPr marL="1143000" indent="-228600">
              <a:lnSpc>
                <a:spcPct val="115000"/>
              </a:lnSpc>
              <a:spcBef>
                <a:spcPct val="20000"/>
              </a:spcBef>
              <a:buClr>
                <a:schemeClr val="bg2"/>
              </a:buClr>
              <a:buFont typeface="Wingdings" panose="05000000000000000000" pitchFamily="2" charset="2"/>
              <a:buChar char="u"/>
              <a:defRPr sz="2400">
                <a:solidFill>
                  <a:schemeClr val="bg2"/>
                </a:solidFill>
                <a:latin typeface="Arial" panose="020B0604020202020204" pitchFamily="34" charset="0"/>
                <a:ea typeface="黑体" panose="02010609060101010101" pitchFamily="49" charset="-122"/>
              </a:defRPr>
            </a:lvl3pPr>
            <a:lvl4pPr marL="1600200" indent="-228600">
              <a:lnSpc>
                <a:spcPct val="115000"/>
              </a:lnSpc>
              <a:spcBef>
                <a:spcPct val="20000"/>
              </a:spcBef>
              <a:buClr>
                <a:schemeClr val="bg2"/>
              </a:buClr>
              <a:buChar char="–"/>
              <a:defRPr sz="2000" b="1">
                <a:solidFill>
                  <a:schemeClr val="bg2"/>
                </a:solidFill>
                <a:latin typeface="Arial" panose="020B0604020202020204" pitchFamily="34" charset="0"/>
                <a:ea typeface="宋体" panose="02010600030101010101" pitchFamily="2" charset="-122"/>
              </a:defRPr>
            </a:lvl4pPr>
            <a:lvl5pPr marL="2057400" indent="-228600">
              <a:lnSpc>
                <a:spcPct val="115000"/>
              </a:lnSpc>
              <a:spcBef>
                <a:spcPct val="20000"/>
              </a:spcBef>
              <a:buClr>
                <a:schemeClr val="bg2"/>
              </a:buClr>
              <a:buChar char="•"/>
              <a:defRPr sz="2000" b="1">
                <a:solidFill>
                  <a:schemeClr val="bg2"/>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9pPr>
          </a:lstStyle>
          <a:p>
            <a:pPr>
              <a:lnSpc>
                <a:spcPct val="100000"/>
              </a:lnSpc>
              <a:spcBef>
                <a:spcPct val="0"/>
              </a:spcBef>
              <a:buClr>
                <a:srgbClr val="FF0000"/>
              </a:buClr>
              <a:buNone/>
              <a:defRPr/>
            </a:pPr>
            <a:endParaRPr lang="en-US" altLang="zh-CN" sz="1600" b="1" dirty="0">
              <a:solidFill>
                <a:srgbClr val="000079"/>
              </a:solidFill>
              <a:latin typeface="Times New Roman" pitchFamily="18" charset="0"/>
              <a:cs typeface="Times New Roman" pitchFamily="18" charset="0"/>
            </a:endParaRPr>
          </a:p>
        </p:txBody>
      </p:sp>
      <p:sp>
        <p:nvSpPr>
          <p:cNvPr id="17" name="箭头: 下 16">
            <a:extLst>
              <a:ext uri="{FF2B5EF4-FFF2-40B4-BE49-F238E27FC236}">
                <a16:creationId xmlns:a16="http://schemas.microsoft.com/office/drawing/2014/main" id="{4B09F50C-1178-0F0D-01FF-336A68F62257}"/>
              </a:ext>
            </a:extLst>
          </p:cNvPr>
          <p:cNvSpPr/>
          <p:nvPr/>
        </p:nvSpPr>
        <p:spPr>
          <a:xfrm>
            <a:off x="7123943" y="3894952"/>
            <a:ext cx="400467" cy="4489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906F1E41-AEEF-AF0A-07BA-1F15AFD9E9AA}"/>
              </a:ext>
            </a:extLst>
          </p:cNvPr>
          <p:cNvSpPr txBox="1"/>
          <p:nvPr/>
        </p:nvSpPr>
        <p:spPr>
          <a:xfrm>
            <a:off x="6164128" y="4521723"/>
            <a:ext cx="2780495" cy="307777"/>
          </a:xfrm>
          <a:prstGeom prst="rect">
            <a:avLst/>
          </a:prstGeom>
          <a:noFill/>
        </p:spPr>
        <p:txBody>
          <a:bodyPr wrap="square">
            <a:spAutoFit/>
          </a:bodyPr>
          <a:lstStyle/>
          <a:p>
            <a:r>
              <a:rPr lang="zh-CN" altLang="en-US" sz="1400" b="1" dirty="0">
                <a:solidFill>
                  <a:srgbClr val="FF0000"/>
                </a:solidFill>
              </a:rPr>
              <a:t>温差控制效果明显优于温度控制</a:t>
            </a:r>
          </a:p>
        </p:txBody>
      </p:sp>
      <p:graphicFrame>
        <p:nvGraphicFramePr>
          <p:cNvPr id="20" name="表格 19">
            <a:extLst>
              <a:ext uri="{FF2B5EF4-FFF2-40B4-BE49-F238E27FC236}">
                <a16:creationId xmlns:a16="http://schemas.microsoft.com/office/drawing/2014/main" id="{A905245C-1440-E16A-FFE8-52BE0946CBAF}"/>
              </a:ext>
            </a:extLst>
          </p:cNvPr>
          <p:cNvGraphicFramePr>
            <a:graphicFrameLocks noGrp="1"/>
          </p:cNvGraphicFramePr>
          <p:nvPr>
            <p:extLst>
              <p:ext uri="{D42A27DB-BD31-4B8C-83A1-F6EECF244321}">
                <p14:modId xmlns:p14="http://schemas.microsoft.com/office/powerpoint/2010/main" val="4082872643"/>
              </p:ext>
            </p:extLst>
          </p:nvPr>
        </p:nvGraphicFramePr>
        <p:xfrm>
          <a:off x="6072185" y="1034405"/>
          <a:ext cx="2780495" cy="1249680"/>
        </p:xfrm>
        <a:graphic>
          <a:graphicData uri="http://schemas.openxmlformats.org/drawingml/2006/table">
            <a:tbl>
              <a:tblPr>
                <a:tableStyleId>{5C22544A-7EE6-4342-B048-85BDC9FD1C3A}</a:tableStyleId>
              </a:tblPr>
              <a:tblGrid>
                <a:gridCol w="1225094">
                  <a:extLst>
                    <a:ext uri="{9D8B030D-6E8A-4147-A177-3AD203B41FA5}">
                      <a16:colId xmlns:a16="http://schemas.microsoft.com/office/drawing/2014/main" val="19583721"/>
                    </a:ext>
                  </a:extLst>
                </a:gridCol>
                <a:gridCol w="1555401">
                  <a:extLst>
                    <a:ext uri="{9D8B030D-6E8A-4147-A177-3AD203B41FA5}">
                      <a16:colId xmlns:a16="http://schemas.microsoft.com/office/drawing/2014/main" val="2918152559"/>
                    </a:ext>
                  </a:extLst>
                </a:gridCol>
              </a:tblGrid>
              <a:tr h="708344">
                <a:tc>
                  <a:txBody>
                    <a:bodyPr/>
                    <a:lstStyle/>
                    <a:p>
                      <a:pPr marL="285750" indent="-285750" algn="ctr">
                        <a:buClr>
                          <a:srgbClr val="FF0000"/>
                        </a:buClr>
                        <a:buFont typeface="Wingdings" panose="05000000000000000000" pitchFamily="2" charset="2"/>
                        <a:buChar char="Ø"/>
                      </a:pPr>
                      <a:r>
                        <a:rPr lang="zh-CN" altLang="en-US" sz="1400" b="1" kern="1200" dirty="0">
                          <a:solidFill>
                            <a:srgbClr val="000079"/>
                          </a:solidFill>
                          <a:latin typeface="Times New Roman" pitchFamily="18" charset="0"/>
                          <a:ea typeface="黑体" panose="02010609060101010101" pitchFamily="49" charset="-122"/>
                          <a:cs typeface="Times New Roman" pitchFamily="18" charset="0"/>
                        </a:rPr>
                        <a:t>温度控制</a:t>
                      </a:r>
                    </a:p>
                  </a:txBody>
                  <a:tcPr anchor="ctr">
                    <a:noFill/>
                  </a:tcPr>
                </a:tc>
                <a:tc>
                  <a:txBody>
                    <a:bodyPr/>
                    <a:lstStyle/>
                    <a:p>
                      <a:r>
                        <a:rPr lang="zh-CN" altLang="en-US" sz="1400" b="1" kern="1200" dirty="0">
                          <a:solidFill>
                            <a:srgbClr val="000079"/>
                          </a:solidFill>
                          <a:latin typeface="Times New Roman" pitchFamily="18" charset="0"/>
                          <a:ea typeface="黑体" panose="02010609060101010101" pitchFamily="49" charset="-122"/>
                          <a:cs typeface="Times New Roman" pitchFamily="18" charset="0"/>
                        </a:rPr>
                        <a:t>各产品纯度的最大波动范围为</a:t>
                      </a:r>
                      <a:r>
                        <a:rPr lang="en-US" altLang="zh-CN" sz="1400" b="1" kern="1200" dirty="0">
                          <a:solidFill>
                            <a:srgbClr val="000079"/>
                          </a:solidFill>
                          <a:latin typeface="Times New Roman" pitchFamily="18" charset="0"/>
                          <a:ea typeface="黑体" panose="02010609060101010101" pitchFamily="49" charset="-122"/>
                          <a:cs typeface="Times New Roman" pitchFamily="18" charset="0"/>
                        </a:rPr>
                        <a:t>0.9885~0.9915</a:t>
                      </a:r>
                      <a:endParaRPr lang="zh-CN" altLang="en-US" sz="1400" b="1" kern="1200" dirty="0">
                        <a:solidFill>
                          <a:srgbClr val="000079"/>
                        </a:solidFill>
                        <a:latin typeface="Times New Roman" pitchFamily="18" charset="0"/>
                        <a:ea typeface="黑体" panose="02010609060101010101" pitchFamily="49" charset="-122"/>
                        <a:cs typeface="Times New Roman" pitchFamily="18" charset="0"/>
                      </a:endParaRPr>
                    </a:p>
                  </a:txBody>
                  <a:tcPr anchor="ctr">
                    <a:noFill/>
                  </a:tcPr>
                </a:tc>
                <a:extLst>
                  <a:ext uri="{0D108BD9-81ED-4DB2-BD59-A6C34878D82A}">
                    <a16:rowId xmlns:a16="http://schemas.microsoft.com/office/drawing/2014/main" val="934009064"/>
                  </a:ext>
                </a:extLst>
              </a:tr>
              <a:tr h="501743">
                <a:tc>
                  <a:txBody>
                    <a:bodyPr/>
                    <a:lstStyle/>
                    <a:p>
                      <a:pPr marL="285750" indent="-285750" algn="ctr">
                        <a:buClr>
                          <a:srgbClr val="FF0000"/>
                        </a:buClr>
                        <a:buFont typeface="Wingdings" panose="05000000000000000000" pitchFamily="2" charset="2"/>
                        <a:buChar char="Ø"/>
                      </a:pPr>
                      <a:r>
                        <a:rPr lang="zh-CN" altLang="en-US" sz="1400" b="1" kern="1200" dirty="0">
                          <a:solidFill>
                            <a:srgbClr val="000079"/>
                          </a:solidFill>
                          <a:latin typeface="Times New Roman" pitchFamily="18" charset="0"/>
                          <a:ea typeface="黑体" panose="02010609060101010101" pitchFamily="49" charset="-122"/>
                          <a:cs typeface="Times New Roman" pitchFamily="18" charset="0"/>
                        </a:rPr>
                        <a:t>温差控制</a:t>
                      </a:r>
                    </a:p>
                  </a:txBody>
                  <a:tcPr anchor="ctr">
                    <a:noFill/>
                  </a:tcPr>
                </a:tc>
                <a:tc>
                  <a:txBody>
                    <a:bodyPr/>
                    <a:lstStyle/>
                    <a:p>
                      <a:r>
                        <a:rPr lang="zh-CN" altLang="en-US" sz="1400" b="1" kern="1200" dirty="0">
                          <a:solidFill>
                            <a:srgbClr val="000079"/>
                          </a:solidFill>
                          <a:latin typeface="Times New Roman" pitchFamily="18" charset="0"/>
                          <a:ea typeface="黑体" panose="02010609060101010101" pitchFamily="49" charset="-122"/>
                          <a:cs typeface="Times New Roman" pitchFamily="18" charset="0"/>
                        </a:rPr>
                        <a:t>纯度最大波动范围为</a:t>
                      </a:r>
                      <a:r>
                        <a:rPr lang="en-US" altLang="zh-CN" sz="1400" b="1" kern="1200" dirty="0">
                          <a:solidFill>
                            <a:srgbClr val="000079"/>
                          </a:solidFill>
                          <a:latin typeface="Times New Roman" pitchFamily="18" charset="0"/>
                          <a:ea typeface="黑体" panose="02010609060101010101" pitchFamily="49" charset="-122"/>
                          <a:cs typeface="Times New Roman" pitchFamily="18" charset="0"/>
                        </a:rPr>
                        <a:t>0.980~0.996</a:t>
                      </a:r>
                      <a:endParaRPr lang="zh-CN" altLang="en-US" sz="1400" b="1" kern="1200" dirty="0">
                        <a:solidFill>
                          <a:srgbClr val="000079"/>
                        </a:solidFill>
                        <a:latin typeface="Times New Roman" pitchFamily="18" charset="0"/>
                        <a:ea typeface="黑体" panose="02010609060101010101" pitchFamily="49" charset="-122"/>
                        <a:cs typeface="Times New Roman" pitchFamily="18" charset="0"/>
                      </a:endParaRPr>
                    </a:p>
                  </a:txBody>
                  <a:tcPr anchor="ctr">
                    <a:noFill/>
                  </a:tcPr>
                </a:tc>
                <a:extLst>
                  <a:ext uri="{0D108BD9-81ED-4DB2-BD59-A6C34878D82A}">
                    <a16:rowId xmlns:a16="http://schemas.microsoft.com/office/drawing/2014/main" val="3665044717"/>
                  </a:ext>
                </a:extLst>
              </a:tr>
            </a:tbl>
          </a:graphicData>
        </a:graphic>
      </p:graphicFrame>
      <p:sp>
        <p:nvSpPr>
          <p:cNvPr id="21" name="Rectangle 13">
            <a:extLst>
              <a:ext uri="{FF2B5EF4-FFF2-40B4-BE49-F238E27FC236}">
                <a16:creationId xmlns:a16="http://schemas.microsoft.com/office/drawing/2014/main" id="{A48D57CC-C6EB-F983-1C1A-04DD9682E161}"/>
              </a:ext>
            </a:extLst>
          </p:cNvPr>
          <p:cNvSpPr>
            <a:spLocks noChangeArrowheads="1"/>
          </p:cNvSpPr>
          <p:nvPr/>
        </p:nvSpPr>
        <p:spPr bwMode="gray">
          <a:xfrm>
            <a:off x="6124729" y="1023630"/>
            <a:ext cx="2891714" cy="1249680"/>
          </a:xfrm>
          <a:prstGeom prst="rect">
            <a:avLst/>
          </a:prstGeom>
          <a:noFill/>
          <a:ln w="38100" cap="rnd" algn="ctr">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ct val="20000"/>
              </a:spcBef>
              <a:buClr>
                <a:schemeClr val="bg2"/>
              </a:buClr>
              <a:buFont typeface="Wingdings" panose="05000000000000000000" pitchFamily="2" charset="2"/>
              <a:buChar char="l"/>
              <a:defRPr sz="3200">
                <a:solidFill>
                  <a:schemeClr val="bg2"/>
                </a:solidFill>
                <a:latin typeface="Arial" panose="020B0604020202020204" pitchFamily="34" charset="0"/>
                <a:ea typeface="黑体" panose="02010609060101010101" pitchFamily="49" charset="-122"/>
              </a:defRPr>
            </a:lvl1pPr>
            <a:lvl2pPr marL="742950" indent="-285750">
              <a:lnSpc>
                <a:spcPct val="115000"/>
              </a:lnSpc>
              <a:spcBef>
                <a:spcPct val="20000"/>
              </a:spcBef>
              <a:buClr>
                <a:schemeClr val="bg2"/>
              </a:buClr>
              <a:buFont typeface="Wingdings" panose="05000000000000000000" pitchFamily="2" charset="2"/>
              <a:buChar char="Ø"/>
              <a:defRPr sz="2800">
                <a:solidFill>
                  <a:schemeClr val="bg2"/>
                </a:solidFill>
                <a:latin typeface="Arial" panose="020B0604020202020204" pitchFamily="34" charset="0"/>
                <a:ea typeface="黑体" panose="02010609060101010101" pitchFamily="49" charset="-122"/>
              </a:defRPr>
            </a:lvl2pPr>
            <a:lvl3pPr marL="1143000" indent="-228600">
              <a:lnSpc>
                <a:spcPct val="115000"/>
              </a:lnSpc>
              <a:spcBef>
                <a:spcPct val="20000"/>
              </a:spcBef>
              <a:buClr>
                <a:schemeClr val="bg2"/>
              </a:buClr>
              <a:buFont typeface="Wingdings" panose="05000000000000000000" pitchFamily="2" charset="2"/>
              <a:buChar char="u"/>
              <a:defRPr sz="2400">
                <a:solidFill>
                  <a:schemeClr val="bg2"/>
                </a:solidFill>
                <a:latin typeface="Arial" panose="020B0604020202020204" pitchFamily="34" charset="0"/>
                <a:ea typeface="黑体" panose="02010609060101010101" pitchFamily="49" charset="-122"/>
              </a:defRPr>
            </a:lvl3pPr>
            <a:lvl4pPr marL="1600200" indent="-228600">
              <a:lnSpc>
                <a:spcPct val="115000"/>
              </a:lnSpc>
              <a:spcBef>
                <a:spcPct val="20000"/>
              </a:spcBef>
              <a:buClr>
                <a:schemeClr val="bg2"/>
              </a:buClr>
              <a:buChar char="–"/>
              <a:defRPr sz="2000" b="1">
                <a:solidFill>
                  <a:schemeClr val="bg2"/>
                </a:solidFill>
                <a:latin typeface="Arial" panose="020B0604020202020204" pitchFamily="34" charset="0"/>
                <a:ea typeface="宋体" panose="02010600030101010101" pitchFamily="2" charset="-122"/>
              </a:defRPr>
            </a:lvl4pPr>
            <a:lvl5pPr marL="2057400" indent="-228600">
              <a:lnSpc>
                <a:spcPct val="115000"/>
              </a:lnSpc>
              <a:spcBef>
                <a:spcPct val="20000"/>
              </a:spcBef>
              <a:buClr>
                <a:schemeClr val="bg2"/>
              </a:buClr>
              <a:buChar char="•"/>
              <a:defRPr sz="2000" b="1">
                <a:solidFill>
                  <a:schemeClr val="bg2"/>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lr>
                <a:schemeClr val="bg2"/>
              </a:buClr>
              <a:buChar char="•"/>
              <a:defRPr sz="2000" b="1">
                <a:solidFill>
                  <a:schemeClr val="bg2"/>
                </a:solidFill>
                <a:latin typeface="Arial" panose="020B0604020202020204" pitchFamily="34" charset="0"/>
                <a:ea typeface="宋体" panose="02010600030101010101" pitchFamily="2" charset="-122"/>
              </a:defRPr>
            </a:lvl9pPr>
          </a:lstStyle>
          <a:p>
            <a:pPr>
              <a:lnSpc>
                <a:spcPct val="100000"/>
              </a:lnSpc>
              <a:spcBef>
                <a:spcPct val="0"/>
              </a:spcBef>
              <a:buClr>
                <a:srgbClr val="FF0000"/>
              </a:buClr>
              <a:buNone/>
              <a:defRPr/>
            </a:pPr>
            <a:endParaRPr lang="en-US" altLang="zh-CN" sz="1600" b="1" dirty="0">
              <a:solidFill>
                <a:srgbClr val="000079"/>
              </a:solidFill>
              <a:latin typeface="Times New Roman" pitchFamily="18" charset="0"/>
              <a:cs typeface="Times New Roman" pitchFamily="18" charset="0"/>
            </a:endParaRPr>
          </a:p>
        </p:txBody>
      </p:sp>
      <p:sp>
        <p:nvSpPr>
          <p:cNvPr id="22" name="对话气泡: 椭圆形 21">
            <a:extLst>
              <a:ext uri="{FF2B5EF4-FFF2-40B4-BE49-F238E27FC236}">
                <a16:creationId xmlns:a16="http://schemas.microsoft.com/office/drawing/2014/main" id="{06E4A6BE-E1A5-E145-E2BB-7E6FAFA8503A}"/>
              </a:ext>
            </a:extLst>
          </p:cNvPr>
          <p:cNvSpPr/>
          <p:nvPr/>
        </p:nvSpPr>
        <p:spPr>
          <a:xfrm>
            <a:off x="6948330" y="274638"/>
            <a:ext cx="1611792" cy="590029"/>
          </a:xfrm>
          <a:prstGeom prst="wedgeEllipse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塔压波动</a:t>
            </a:r>
          </a:p>
        </p:txBody>
      </p:sp>
      <p:sp>
        <p:nvSpPr>
          <p:cNvPr id="23" name="标注: 线形 22">
            <a:extLst>
              <a:ext uri="{FF2B5EF4-FFF2-40B4-BE49-F238E27FC236}">
                <a16:creationId xmlns:a16="http://schemas.microsoft.com/office/drawing/2014/main" id="{8D6BCB52-4508-8E08-CD15-53F439488F8C}"/>
              </a:ext>
            </a:extLst>
          </p:cNvPr>
          <p:cNvSpPr/>
          <p:nvPr/>
        </p:nvSpPr>
        <p:spPr>
          <a:xfrm>
            <a:off x="7884461" y="3766826"/>
            <a:ext cx="1131982" cy="646331"/>
          </a:xfrm>
          <a:prstGeom prst="borderCallout1">
            <a:avLst>
              <a:gd name="adj1" fmla="val -11260"/>
              <a:gd name="adj2" fmla="val -51977"/>
              <a:gd name="adj3" fmla="val 68199"/>
              <a:gd name="adj4" fmla="val -92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进料波动</a:t>
            </a:r>
          </a:p>
        </p:txBody>
      </p:sp>
    </p:spTree>
    <p:extLst>
      <p:ext uri="{BB962C8B-B14F-4D97-AF65-F5344CB8AC3E}">
        <p14:creationId xmlns:p14="http://schemas.microsoft.com/office/powerpoint/2010/main" val="3009942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文献调研</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隔壁塔的控制</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16</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449684D9-B457-AE76-B5D1-0A406F29BEED}"/>
              </a:ext>
            </a:extLst>
          </p:cNvPr>
          <p:cNvSpPr txBox="1"/>
          <p:nvPr/>
        </p:nvSpPr>
        <p:spPr>
          <a:xfrm>
            <a:off x="61029" y="5373270"/>
            <a:ext cx="8843648" cy="646331"/>
          </a:xfrm>
          <a:prstGeom prst="rect">
            <a:avLst/>
          </a:prstGeom>
          <a:noFill/>
        </p:spPr>
        <p:txBody>
          <a:bodyPr wrap="square" rtlCol="0">
            <a:spAutoFit/>
          </a:bodyPr>
          <a:lstStyle/>
          <a:p>
            <a:r>
              <a:rPr lang="en-US" altLang="zh-CN" sz="900" b="0" i="0" dirty="0">
                <a:solidFill>
                  <a:srgbClr val="333333"/>
                </a:solidFill>
                <a:effectLst/>
                <a:latin typeface="Arial" panose="020B0604020202020204" pitchFamily="34" charset="0"/>
              </a:rPr>
              <a:t>[1</a:t>
            </a:r>
            <a:r>
              <a:rPr lang="en-US" altLang="zh-CN" sz="900" dirty="0">
                <a:solidFill>
                  <a:srgbClr val="333333"/>
                </a:solidFill>
                <a:latin typeface="Arial" panose="020B0604020202020204" pitchFamily="34" charset="0"/>
              </a:rPr>
              <a:t>]</a:t>
            </a:r>
            <a:r>
              <a:rPr lang="en-US" altLang="zh-CN" sz="900" b="1" dirty="0">
                <a:latin typeface="微软雅黑" panose="020B0503020204020204" pitchFamily="34" charset="-122"/>
                <a:ea typeface="微软雅黑" panose="020B0503020204020204" pitchFamily="34" charset="-122"/>
              </a:rPr>
              <a:t> Qian X, Huang K, Jia S, et al. Temperature difference control and pressure-compensated temperature difference control for four-product extended </a:t>
            </a:r>
            <a:r>
              <a:rPr lang="en-US" altLang="zh-CN" sz="900" b="1" dirty="0" err="1">
                <a:latin typeface="微软雅黑" panose="020B0503020204020204" pitchFamily="34" charset="-122"/>
                <a:ea typeface="微软雅黑" panose="020B0503020204020204" pitchFamily="34" charset="-122"/>
              </a:rPr>
              <a:t>Petlyuk</a:t>
            </a:r>
            <a:r>
              <a:rPr lang="en-US" altLang="zh-CN" sz="900" b="1" dirty="0">
                <a:latin typeface="微软雅黑" panose="020B0503020204020204" pitchFamily="34" charset="-122"/>
                <a:ea typeface="微软雅黑" panose="020B0503020204020204" pitchFamily="34" charset="-122"/>
              </a:rPr>
              <a:t> dividing-wall columns[J/OL]. Chemical Engineering Research and Design, 2019, 146: 263-276.</a:t>
            </a:r>
          </a:p>
          <a:p>
            <a:r>
              <a:rPr lang="en-US" altLang="zh-CN" sz="900" dirty="0">
                <a:solidFill>
                  <a:srgbClr val="333333"/>
                </a:solidFill>
                <a:latin typeface="Arial" panose="020B0604020202020204" pitchFamily="34" charset="0"/>
              </a:rPr>
              <a:t>[2]</a:t>
            </a:r>
            <a:r>
              <a:rPr lang="en-US" altLang="zh-CN" sz="900" b="1" dirty="0">
                <a:latin typeface="微软雅黑" panose="020B0503020204020204" pitchFamily="34" charset="-122"/>
                <a:ea typeface="微软雅黑" panose="020B0503020204020204" pitchFamily="34" charset="-122"/>
              </a:rPr>
              <a:t> </a:t>
            </a:r>
            <a:r>
              <a:rPr lang="en-US" altLang="zh-CN" sz="900" b="1" dirty="0" err="1">
                <a:latin typeface="微软雅黑" panose="020B0503020204020204" pitchFamily="34" charset="-122"/>
                <a:ea typeface="微软雅黑" panose="020B0503020204020204" pitchFamily="34" charset="-122"/>
              </a:rPr>
              <a:t>Rewagad</a:t>
            </a:r>
            <a:r>
              <a:rPr lang="en-US" altLang="zh-CN" sz="900" b="1" dirty="0">
                <a:latin typeface="微软雅黑" panose="020B0503020204020204" pitchFamily="34" charset="-122"/>
                <a:ea typeface="微软雅黑" panose="020B0503020204020204" pitchFamily="34" charset="-122"/>
              </a:rPr>
              <a:t> R </a:t>
            </a:r>
            <a:r>
              <a:rPr lang="en-US" altLang="zh-CN" sz="900" b="1" dirty="0" err="1">
                <a:latin typeface="微软雅黑" panose="020B0503020204020204" pitchFamily="34" charset="-122"/>
                <a:ea typeface="微软雅黑" panose="020B0503020204020204" pitchFamily="34" charset="-122"/>
              </a:rPr>
              <a:t>R</a:t>
            </a:r>
            <a:r>
              <a:rPr lang="en-US" altLang="zh-CN" sz="900" b="1" dirty="0">
                <a:latin typeface="微软雅黑" panose="020B0503020204020204" pitchFamily="34" charset="-122"/>
                <a:ea typeface="微软雅黑" panose="020B0503020204020204" pitchFamily="34" charset="-122"/>
              </a:rPr>
              <a:t>, Kiss A </a:t>
            </a:r>
            <a:r>
              <a:rPr lang="en-US" altLang="zh-CN" sz="900" b="1" dirty="0" err="1">
                <a:latin typeface="微软雅黑" panose="020B0503020204020204" pitchFamily="34" charset="-122"/>
                <a:ea typeface="微软雅黑" panose="020B0503020204020204" pitchFamily="34" charset="-122"/>
              </a:rPr>
              <a:t>A</a:t>
            </a:r>
            <a:r>
              <a:rPr lang="en-US" altLang="zh-CN" sz="900" b="1" dirty="0">
                <a:latin typeface="微软雅黑" panose="020B0503020204020204" pitchFamily="34" charset="-122"/>
                <a:ea typeface="微软雅黑" panose="020B0503020204020204" pitchFamily="34" charset="-122"/>
              </a:rPr>
              <a:t>. Dynamic optimization of a dividing-wall column using model predictive control[J/OL]. Chemical Engineering Science, 2012, 68(1): 132-142.</a:t>
            </a:r>
            <a:endParaRPr lang="zh-CN" altLang="zh-CN" sz="900" b="1" dirty="0">
              <a:latin typeface="微软雅黑" panose="020B0503020204020204" pitchFamily="34" charset="-122"/>
              <a:ea typeface="微软雅黑" panose="020B0503020204020204" pitchFamily="34" charset="-122"/>
            </a:endParaRPr>
          </a:p>
        </p:txBody>
      </p:sp>
      <p:graphicFrame>
        <p:nvGraphicFramePr>
          <p:cNvPr id="5" name="表格 5">
            <a:extLst>
              <a:ext uri="{FF2B5EF4-FFF2-40B4-BE49-F238E27FC236}">
                <a16:creationId xmlns:a16="http://schemas.microsoft.com/office/drawing/2014/main" id="{40926E26-D41E-EDA7-0D6A-CD26531E7F09}"/>
              </a:ext>
            </a:extLst>
          </p:cNvPr>
          <p:cNvGraphicFramePr>
            <a:graphicFrameLocks noGrp="1"/>
          </p:cNvGraphicFramePr>
          <p:nvPr>
            <p:extLst>
              <p:ext uri="{D42A27DB-BD31-4B8C-83A1-F6EECF244321}">
                <p14:modId xmlns:p14="http://schemas.microsoft.com/office/powerpoint/2010/main" val="527716890"/>
              </p:ext>
            </p:extLst>
          </p:nvPr>
        </p:nvGraphicFramePr>
        <p:xfrm>
          <a:off x="244331" y="1948576"/>
          <a:ext cx="8661660" cy="2512948"/>
        </p:xfrm>
        <a:graphic>
          <a:graphicData uri="http://schemas.openxmlformats.org/drawingml/2006/table">
            <a:tbl>
              <a:tblPr>
                <a:tableStyleId>{5C22544A-7EE6-4342-B048-85BDC9FD1C3A}</a:tableStyleId>
              </a:tblPr>
              <a:tblGrid>
                <a:gridCol w="1827617">
                  <a:extLst>
                    <a:ext uri="{9D8B030D-6E8A-4147-A177-3AD203B41FA5}">
                      <a16:colId xmlns:a16="http://schemas.microsoft.com/office/drawing/2014/main" val="593606096"/>
                    </a:ext>
                  </a:extLst>
                </a:gridCol>
                <a:gridCol w="3429113">
                  <a:extLst>
                    <a:ext uri="{9D8B030D-6E8A-4147-A177-3AD203B41FA5}">
                      <a16:colId xmlns:a16="http://schemas.microsoft.com/office/drawing/2014/main" val="2991754446"/>
                    </a:ext>
                  </a:extLst>
                </a:gridCol>
                <a:gridCol w="3404930">
                  <a:extLst>
                    <a:ext uri="{9D8B030D-6E8A-4147-A177-3AD203B41FA5}">
                      <a16:colId xmlns:a16="http://schemas.microsoft.com/office/drawing/2014/main" val="1778926378"/>
                    </a:ext>
                  </a:extLst>
                </a:gridCol>
              </a:tblGrid>
              <a:tr h="409828">
                <a:tc>
                  <a:txBody>
                    <a:bodyPr/>
                    <a:lstStyle/>
                    <a:p>
                      <a:pPr algn="ctr"/>
                      <a:r>
                        <a:rPr lang="zh-CN" altLang="en-US" dirty="0"/>
                        <a:t>作者</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a:t>研究方向</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a:t>结果</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4870751"/>
                  </a:ext>
                </a:extLst>
              </a:tr>
              <a:tr h="1046092">
                <a:tc>
                  <a:txBody>
                    <a:bodyPr/>
                    <a:lstStyle/>
                    <a:p>
                      <a:r>
                        <a:rPr lang="zh-CN" altLang="en-US" sz="1800" dirty="0"/>
                        <a:t>钱行等</a:t>
                      </a:r>
                      <a:r>
                        <a:rPr lang="en-US" altLang="zh-CN" sz="1800" baseline="30000" dirty="0"/>
                        <a:t>[1]</a:t>
                      </a:r>
                      <a:endParaRPr lang="zh-CN" altLang="en-US" baseline="30000" dirty="0"/>
                    </a:p>
                  </a:txBody>
                  <a:tcPr anchor="ctr">
                    <a:lnT w="12700" cap="flat" cmpd="sng" algn="ctr">
                      <a:solidFill>
                        <a:schemeClr val="tx1"/>
                      </a:solidFill>
                      <a:prstDash val="solid"/>
                      <a:round/>
                      <a:headEnd type="none" w="med" len="med"/>
                      <a:tailEnd type="none" w="med" len="med"/>
                    </a:lnT>
                    <a:noFill/>
                  </a:tcPr>
                </a:tc>
                <a:tc>
                  <a:txBody>
                    <a:bodyPr/>
                    <a:lstStyle/>
                    <a:p>
                      <a:r>
                        <a:rPr lang="zh-CN" altLang="en-US" sz="1800" spc="-25" dirty="0">
                          <a:effectLst/>
                          <a:latin typeface="Times New Roman" panose="02020603050405020304" pitchFamily="18" charset="0"/>
                          <a:ea typeface="+mn-ea"/>
                          <a:cs typeface="Times New Roman" panose="02020603050405020304" pitchFamily="18" charset="0"/>
                        </a:rPr>
                        <a:t>研</a:t>
                      </a:r>
                      <a:r>
                        <a:rPr lang="zh-CN" altLang="zh-CN" sz="1800" spc="-25" dirty="0">
                          <a:effectLst/>
                          <a:latin typeface="Times New Roman" panose="02020603050405020304" pitchFamily="18" charset="0"/>
                          <a:ea typeface="+mn-ea"/>
                          <a:cs typeface="Times New Roman" panose="02020603050405020304" pitchFamily="18" charset="0"/>
                        </a:rPr>
                        <a:t>究了扩展的</a:t>
                      </a:r>
                      <a:r>
                        <a:rPr lang="en-US" altLang="zh-CN" sz="1800" spc="-25" dirty="0" err="1">
                          <a:effectLst/>
                          <a:latin typeface="Times New Roman" panose="02020603050405020304" pitchFamily="18" charset="0"/>
                          <a:ea typeface="+mn-ea"/>
                        </a:rPr>
                        <a:t>Petlyuk</a:t>
                      </a:r>
                      <a:r>
                        <a:rPr lang="zh-CN" altLang="zh-CN" sz="1800" spc="-25" dirty="0">
                          <a:effectLst/>
                          <a:latin typeface="Times New Roman" panose="02020603050405020304" pitchFamily="18" charset="0"/>
                          <a:ea typeface="+mn-ea"/>
                          <a:cs typeface="Times New Roman" panose="02020603050405020304" pitchFamily="18" charset="0"/>
                        </a:rPr>
                        <a:t>隔壁精馏塔（</a:t>
                      </a:r>
                      <a:r>
                        <a:rPr lang="en-US" altLang="zh-CN" sz="1800" spc="-25" dirty="0">
                          <a:effectLst/>
                          <a:latin typeface="Times New Roman" panose="02020603050405020304" pitchFamily="18" charset="0"/>
                          <a:ea typeface="+mn-ea"/>
                        </a:rPr>
                        <a:t>FPEP-DWC</a:t>
                      </a:r>
                      <a:r>
                        <a:rPr lang="zh-CN" altLang="zh-CN" sz="1800" spc="-25" dirty="0">
                          <a:effectLst/>
                          <a:latin typeface="Times New Roman" panose="02020603050405020304" pitchFamily="18" charset="0"/>
                          <a:ea typeface="+mn-ea"/>
                          <a:cs typeface="Times New Roman" panose="02020603050405020304" pitchFamily="18" charset="0"/>
                        </a:rPr>
                        <a:t>）分离甲醇、乙醇、丙醇和正丁醇的四组分混合物的动态控制过程</a:t>
                      </a:r>
                      <a:endParaRPr lang="zh-CN" altLang="en-US" dirty="0"/>
                    </a:p>
                  </a:txBody>
                  <a:tcPr anchor="ctr">
                    <a:lnT w="12700" cap="flat" cmpd="sng" algn="ctr">
                      <a:solidFill>
                        <a:schemeClr val="tx1"/>
                      </a:solidFill>
                      <a:prstDash val="solid"/>
                      <a:round/>
                      <a:headEnd type="none" w="med" len="med"/>
                      <a:tailEnd type="none" w="med" len="med"/>
                    </a:lnT>
                    <a:noFill/>
                  </a:tcPr>
                </a:tc>
                <a:tc>
                  <a:txBody>
                    <a:bodyPr/>
                    <a:lstStyle/>
                    <a:p>
                      <a:r>
                        <a:rPr lang="zh-CN" altLang="zh-CN" sz="1800" spc="-25" dirty="0">
                          <a:effectLst/>
                          <a:latin typeface="Times New Roman" panose="02020603050405020304" pitchFamily="18" charset="0"/>
                          <a:ea typeface="+mn-ea"/>
                          <a:cs typeface="Times New Roman" panose="02020603050405020304" pitchFamily="18" charset="0"/>
                        </a:rPr>
                        <a:t>提出了温差控制（</a:t>
                      </a:r>
                      <a:r>
                        <a:rPr lang="en-US" altLang="zh-CN" sz="1800" spc="-25" dirty="0">
                          <a:effectLst/>
                          <a:latin typeface="Times New Roman" panose="02020603050405020304" pitchFamily="18" charset="0"/>
                          <a:ea typeface="+mn-ea"/>
                        </a:rPr>
                        <a:t>TDC</a:t>
                      </a:r>
                      <a:r>
                        <a:rPr lang="zh-CN" altLang="zh-CN" sz="1800" spc="-25" dirty="0">
                          <a:effectLst/>
                          <a:latin typeface="Times New Roman" panose="02020603050405020304" pitchFamily="18" charset="0"/>
                          <a:ea typeface="+mn-ea"/>
                          <a:cs typeface="Times New Roman" panose="02020603050405020304" pitchFamily="18" charset="0"/>
                        </a:rPr>
                        <a:t>）方案去改善系统的可控性和操作性。</a:t>
                      </a:r>
                      <a:endParaRPr lang="zh-CN" altLang="en-US" dirty="0"/>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6633196"/>
                  </a:ext>
                </a:extLst>
              </a:tr>
              <a:tr h="409828">
                <a:tc>
                  <a:txBody>
                    <a:bodyPr/>
                    <a:lstStyle/>
                    <a:p>
                      <a:r>
                        <a:rPr lang="en-US" altLang="zh-CN" sz="1800" b="1" dirty="0" err="1">
                          <a:latin typeface="微软雅黑" panose="020B0503020204020204" pitchFamily="34" charset="-122"/>
                          <a:ea typeface="微软雅黑" panose="020B0503020204020204" pitchFamily="34" charset="-122"/>
                        </a:rPr>
                        <a:t>Rewagad</a:t>
                      </a:r>
                      <a:r>
                        <a:rPr lang="zh-CN" altLang="en-US" sz="1800" dirty="0"/>
                        <a:t>等</a:t>
                      </a:r>
                      <a:r>
                        <a:rPr lang="en-US" altLang="zh-CN" sz="1800" baseline="30000" dirty="0"/>
                        <a:t>[2]</a:t>
                      </a:r>
                      <a:endParaRPr lang="zh-CN" altLang="en-US" baseline="30000" dirty="0"/>
                    </a:p>
                  </a:txBody>
                  <a:tcPr anchor="ctr">
                    <a:lnB w="12700" cap="flat" cmpd="sng" algn="ctr">
                      <a:solidFill>
                        <a:schemeClr val="tx1"/>
                      </a:solidFill>
                      <a:prstDash val="solid"/>
                      <a:round/>
                      <a:headEnd type="none" w="med" len="med"/>
                      <a:tailEnd type="none" w="med" len="med"/>
                    </a:lnB>
                    <a:noFill/>
                  </a:tcPr>
                </a:tc>
                <a:tc>
                  <a:txBody>
                    <a:bodyPr/>
                    <a:lstStyle/>
                    <a:p>
                      <a:r>
                        <a:rPr lang="en-US" altLang="zh-CN" sz="1800" spc="-25" dirty="0">
                          <a:effectLst/>
                          <a:latin typeface="Times New Roman" panose="02020603050405020304" pitchFamily="18" charset="0"/>
                          <a:ea typeface="+mn-ea"/>
                        </a:rPr>
                        <a:t>MPC</a:t>
                      </a:r>
                      <a:r>
                        <a:rPr lang="zh-CN" altLang="zh-CN" sz="1800" spc="-25" dirty="0">
                          <a:effectLst/>
                          <a:latin typeface="Times New Roman" panose="02020603050405020304" pitchFamily="18" charset="0"/>
                          <a:ea typeface="+mn-ea"/>
                          <a:cs typeface="Times New Roman" panose="02020603050405020304" pitchFamily="18" charset="0"/>
                        </a:rPr>
                        <a:t>应用于分离苯</a:t>
                      </a:r>
                      <a:r>
                        <a:rPr lang="en-US" altLang="zh-CN" sz="1800" spc="-25" dirty="0">
                          <a:effectLst/>
                          <a:latin typeface="Times New Roman" panose="02020603050405020304" pitchFamily="18" charset="0"/>
                          <a:ea typeface="+mn-ea"/>
                        </a:rPr>
                        <a:t>-</a:t>
                      </a:r>
                      <a:r>
                        <a:rPr lang="zh-CN" altLang="zh-CN" sz="1800" spc="-25" dirty="0">
                          <a:effectLst/>
                          <a:latin typeface="Times New Roman" panose="02020603050405020304" pitchFamily="18" charset="0"/>
                          <a:ea typeface="+mn-ea"/>
                          <a:cs typeface="Times New Roman" panose="02020603050405020304" pitchFamily="18" charset="0"/>
                        </a:rPr>
                        <a:t>甲苯</a:t>
                      </a:r>
                      <a:r>
                        <a:rPr lang="en-US" altLang="zh-CN" sz="1800" spc="-25" dirty="0">
                          <a:effectLst/>
                          <a:latin typeface="Times New Roman" panose="02020603050405020304" pitchFamily="18" charset="0"/>
                          <a:ea typeface="+mn-ea"/>
                        </a:rPr>
                        <a:t>-</a:t>
                      </a:r>
                      <a:r>
                        <a:rPr lang="zh-CN" altLang="zh-CN" sz="1800" spc="-25" dirty="0">
                          <a:effectLst/>
                          <a:latin typeface="Times New Roman" panose="02020603050405020304" pitchFamily="18" charset="0"/>
                          <a:ea typeface="+mn-ea"/>
                          <a:cs typeface="Times New Roman" panose="02020603050405020304" pitchFamily="18" charset="0"/>
                        </a:rPr>
                        <a:t>二甲苯三组分混合物的隔壁塔的操作过程中</a:t>
                      </a:r>
                      <a:endParaRPr lang="zh-CN" altLang="en-US" dirty="0"/>
                    </a:p>
                  </a:txBody>
                  <a:tcPr anchor="ctr">
                    <a:lnB w="12700" cap="flat" cmpd="sng" algn="ctr">
                      <a:solidFill>
                        <a:schemeClr val="tx1"/>
                      </a:solidFill>
                      <a:prstDash val="solid"/>
                      <a:round/>
                      <a:headEnd type="none" w="med" len="med"/>
                      <a:tailEnd type="none" w="med" len="med"/>
                    </a:lnB>
                    <a:noFill/>
                  </a:tcPr>
                </a:tc>
                <a:tc>
                  <a:txBody>
                    <a:bodyPr/>
                    <a:lstStyle/>
                    <a:p>
                      <a:r>
                        <a:rPr lang="zh-CN" altLang="zh-CN" sz="1800" spc="-25" dirty="0">
                          <a:effectLst/>
                          <a:latin typeface="Times New Roman" panose="02020603050405020304" pitchFamily="18" charset="0"/>
                          <a:ea typeface="+mn-ea"/>
                          <a:cs typeface="Times New Roman" panose="02020603050405020304" pitchFamily="18" charset="0"/>
                        </a:rPr>
                        <a:t>表明</a:t>
                      </a:r>
                      <a:r>
                        <a:rPr lang="en-US" altLang="zh-CN" sz="1800" spc="-25" dirty="0">
                          <a:effectLst/>
                          <a:latin typeface="Times New Roman" panose="02020603050405020304" pitchFamily="18" charset="0"/>
                          <a:ea typeface="+mn-ea"/>
                        </a:rPr>
                        <a:t>MPC</a:t>
                      </a:r>
                      <a:r>
                        <a:rPr lang="zh-CN" altLang="zh-CN" sz="1800" spc="-25" dirty="0">
                          <a:effectLst/>
                          <a:latin typeface="Times New Roman" panose="02020603050405020304" pitchFamily="18" charset="0"/>
                          <a:ea typeface="+mn-ea"/>
                          <a:cs typeface="Times New Roman" panose="02020603050405020304" pitchFamily="18" charset="0"/>
                        </a:rPr>
                        <a:t>可显著提升比例积分微分</a:t>
                      </a:r>
                      <a:r>
                        <a:rPr lang="en-US" altLang="zh-CN" sz="1800" spc="-25" dirty="0">
                          <a:effectLst/>
                          <a:latin typeface="Times New Roman" panose="02020603050405020304" pitchFamily="18" charset="0"/>
                          <a:ea typeface="+mn-ea"/>
                        </a:rPr>
                        <a:t>(PID)</a:t>
                      </a:r>
                      <a:r>
                        <a:rPr lang="zh-CN" altLang="zh-CN" sz="1800" spc="-25" dirty="0">
                          <a:effectLst/>
                          <a:latin typeface="Times New Roman" panose="02020603050405020304" pitchFamily="18" charset="0"/>
                          <a:ea typeface="+mn-ea"/>
                          <a:cs typeface="Times New Roman" panose="02020603050405020304" pitchFamily="18" charset="0"/>
                        </a:rPr>
                        <a:t>控制的控制性能。</a:t>
                      </a:r>
                      <a:endParaRPr lang="zh-CN" altLang="en-US" dirty="0"/>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7579547"/>
                  </a:ext>
                </a:extLst>
              </a:tr>
            </a:tbl>
          </a:graphicData>
        </a:graphic>
      </p:graphicFrame>
      <p:sp>
        <p:nvSpPr>
          <p:cNvPr id="6" name="矩形 5">
            <a:extLst>
              <a:ext uri="{FF2B5EF4-FFF2-40B4-BE49-F238E27FC236}">
                <a16:creationId xmlns:a16="http://schemas.microsoft.com/office/drawing/2014/main" id="{81B68E1B-4EEC-A604-E570-C6DED32169D7}"/>
              </a:ext>
            </a:extLst>
          </p:cNvPr>
          <p:cNvSpPr/>
          <p:nvPr/>
        </p:nvSpPr>
        <p:spPr>
          <a:xfrm>
            <a:off x="272763" y="926941"/>
            <a:ext cx="6851180" cy="369332"/>
          </a:xfrm>
          <a:prstGeom prst="rect">
            <a:avLst/>
          </a:prstGeom>
        </p:spPr>
        <p:txBody>
          <a:bodyPr wrap="square">
            <a:spAutoFit/>
          </a:bodyPr>
          <a:lstStyle/>
          <a:p>
            <a:pPr marL="342900" indent="-342900">
              <a:lnSpc>
                <a:spcPct val="90000"/>
              </a:lnSpc>
              <a:spcBef>
                <a:spcPct val="20000"/>
              </a:spcBef>
              <a:buClr>
                <a:srgbClr val="00B050"/>
              </a:buClr>
              <a:buFont typeface="Wingdings" pitchFamily="2" charset="2"/>
              <a:buChar char="v"/>
              <a:defRPr/>
            </a:pPr>
            <a:r>
              <a:rPr lang="zh-CN" altLang="en-US" sz="2000" b="1" dirty="0">
                <a:solidFill>
                  <a:srgbClr val="E3E3FF">
                    <a:lumMod val="25000"/>
                  </a:srgbClr>
                </a:solidFill>
                <a:latin typeface="Times New Roman" panose="02020603050405020304" pitchFamily="18" charset="0"/>
                <a:ea typeface="黑体" panose="02010609060101010101" pitchFamily="49" charset="-122"/>
                <a:cs typeface="Times New Roman" panose="02020603050405020304" pitchFamily="18" charset="0"/>
              </a:rPr>
              <a:t>对分隔壁塔分离不同体系的动态控制</a:t>
            </a:r>
          </a:p>
        </p:txBody>
      </p:sp>
    </p:spTree>
    <p:extLst>
      <p:ext uri="{BB962C8B-B14F-4D97-AF65-F5344CB8AC3E}">
        <p14:creationId xmlns:p14="http://schemas.microsoft.com/office/powerpoint/2010/main" val="4127968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92352" y="1772770"/>
            <a:ext cx="1827143" cy="584776"/>
          </a:xfrm>
          <a:prstGeom prst="rect">
            <a:avLst/>
          </a:prstGeom>
        </p:spPr>
        <p:txBody>
          <a:bodyPr wrap="none">
            <a:spAutoFit/>
          </a:bodyPr>
          <a:lstStyle/>
          <a:p>
            <a:r>
              <a:rPr lang="en-US" altLang="zh-CN" sz="3200" dirty="0">
                <a:solidFill>
                  <a:schemeClr val="bg1"/>
                </a:solidFill>
                <a:latin typeface="Arial" panose="020B0604020202020204"/>
                <a:cs typeface="Arial" panose="020B0604020202020204"/>
              </a:rPr>
              <a:t>Contents</a:t>
            </a:r>
            <a:endParaRPr lang="zh-CN" altLang="en-US" sz="3200" dirty="0">
              <a:solidFill>
                <a:schemeClr val="bg1"/>
              </a:solidFill>
              <a:latin typeface="Arial" panose="020B0604020202020204"/>
              <a:cs typeface="Arial" panose="020B0604020202020204"/>
            </a:endParaRPr>
          </a:p>
        </p:txBody>
      </p:sp>
      <p:sp>
        <p:nvSpPr>
          <p:cNvPr id="3" name="矩形 2"/>
          <p:cNvSpPr/>
          <p:nvPr/>
        </p:nvSpPr>
        <p:spPr>
          <a:xfrm>
            <a:off x="7084373" y="2249460"/>
            <a:ext cx="891591" cy="461665"/>
          </a:xfrm>
          <a:prstGeom prst="rect">
            <a:avLst/>
          </a:prstGeom>
        </p:spPr>
        <p:txBody>
          <a:bodyPr wrap="none">
            <a:spAutoFit/>
          </a:bodyPr>
          <a:lstStyle/>
          <a:p>
            <a:r>
              <a:rPr lang="zh-CN" altLang="en-US" sz="2400" dirty="0">
                <a:solidFill>
                  <a:srgbClr val="FFFFFF"/>
                </a:solidFill>
                <a:latin typeface="方正兰亭中黑简体" panose="02000000000000000000" charset="-122"/>
                <a:ea typeface="方正兰亭中黑简体" panose="02000000000000000000" charset="-122"/>
              </a:rPr>
              <a:t>目 录</a:t>
            </a:r>
          </a:p>
        </p:txBody>
      </p:sp>
      <p:sp>
        <p:nvSpPr>
          <p:cNvPr id="4" name="矩形 3"/>
          <p:cNvSpPr/>
          <p:nvPr/>
        </p:nvSpPr>
        <p:spPr>
          <a:xfrm>
            <a:off x="1115520" y="1754451"/>
            <a:ext cx="5400750" cy="3592587"/>
          </a:xfrm>
          <a:prstGeom prst="rect">
            <a:avLst/>
          </a:prstGeom>
        </p:spPr>
        <p:txBody>
          <a:bodyPr wrap="square">
            <a:spAutoFit/>
          </a:bodyPr>
          <a:lstStyle/>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一、研究背景</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二、文献综述</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solidFill>
                  <a:srgbClr val="C00000"/>
                </a:solidFill>
                <a:latin typeface="微软雅黑" panose="020B0503020204020204" pitchFamily="34" charset="-122"/>
                <a:ea typeface="微软雅黑" panose="020B0503020204020204" pitchFamily="34" charset="-122"/>
              </a:rPr>
              <a:t>三、研究思路</a:t>
            </a:r>
            <a:endParaRPr lang="en-US" altLang="zh-CN" sz="2800" b="1" dirty="0">
              <a:solidFill>
                <a:srgbClr val="C00000"/>
              </a:solidFill>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四、研究方案</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五、研究进度</a:t>
            </a:r>
          </a:p>
        </p:txBody>
      </p:sp>
    </p:spTree>
    <p:extLst>
      <p:ext uri="{BB962C8B-B14F-4D97-AF65-F5344CB8AC3E}">
        <p14:creationId xmlns:p14="http://schemas.microsoft.com/office/powerpoint/2010/main" val="3323982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4" name="标题 3"/>
          <p:cNvSpPr>
            <a:spLocks noGrp="1"/>
          </p:cNvSpPr>
          <p:nvPr>
            <p:ph type="title" idx="4294967295"/>
          </p:nvPr>
        </p:nvSpPr>
        <p:spPr>
          <a:xfrm>
            <a:off x="0" y="307975"/>
            <a:ext cx="7886700" cy="688975"/>
          </a:xfrm>
          <a:prstGeom prst="rect">
            <a:avLst/>
          </a:prstGeom>
        </p:spPr>
        <p:txBody>
          <a:bodyPr/>
          <a:lstStyle/>
          <a:p>
            <a:pPr algn="l"/>
            <a:r>
              <a:rPr lang="zh-CN" altLang="en-US" sz="2400" b="1" dirty="0">
                <a:solidFill>
                  <a:srgbClr val="C00000"/>
                </a:solidFill>
                <a:latin typeface="微软雅黑" panose="020B0503020204020204" pitchFamily="34" charset="-122"/>
                <a:ea typeface="微软雅黑" panose="020B0503020204020204" pitchFamily="34" charset="-122"/>
                <a:sym typeface="+mn-ea"/>
              </a:rPr>
              <a:t>研究思路与内容</a:t>
            </a:r>
            <a:r>
              <a:rPr lang="en-US" altLang="zh-CN" sz="2400" b="1" dirty="0">
                <a:solidFill>
                  <a:srgbClr val="C00000"/>
                </a:solidFill>
                <a:latin typeface="微软雅黑" panose="020B0503020204020204" pitchFamily="34" charset="-122"/>
                <a:ea typeface="微软雅黑" panose="020B0503020204020204" pitchFamily="34" charset="-122"/>
                <a:sym typeface="+mn-ea"/>
              </a:rPr>
              <a:t>—</a:t>
            </a:r>
            <a:r>
              <a:rPr lang="zh-CN" altLang="en-US" sz="2400" b="1" dirty="0">
                <a:solidFill>
                  <a:srgbClr val="C00000"/>
                </a:solidFill>
                <a:latin typeface="微软雅黑" panose="020B0503020204020204" pitchFamily="34" charset="-122"/>
                <a:ea typeface="微软雅黑" panose="020B0503020204020204" pitchFamily="34" charset="-122"/>
                <a:sym typeface="+mn-ea"/>
              </a:rPr>
              <a:t>研究思路</a:t>
            </a:r>
          </a:p>
        </p:txBody>
      </p:sp>
      <p:sp>
        <p:nvSpPr>
          <p:cNvPr id="12" name="圆角矩形 11"/>
          <p:cNvSpPr/>
          <p:nvPr/>
        </p:nvSpPr>
        <p:spPr>
          <a:xfrm>
            <a:off x="1210733" y="1125221"/>
            <a:ext cx="2147147" cy="573193"/>
          </a:xfrm>
          <a:prstGeom prst="round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芳烃抽提蒸馏</a:t>
            </a:r>
          </a:p>
        </p:txBody>
      </p:sp>
      <p:sp>
        <p:nvSpPr>
          <p:cNvPr id="13" name="圆角矩形 12"/>
          <p:cNvSpPr/>
          <p:nvPr/>
        </p:nvSpPr>
        <p:spPr>
          <a:xfrm>
            <a:off x="5320744" y="1125221"/>
            <a:ext cx="2147147" cy="573193"/>
          </a:xfrm>
          <a:prstGeom prst="round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隔壁塔</a:t>
            </a:r>
          </a:p>
        </p:txBody>
      </p:sp>
      <p:sp>
        <p:nvSpPr>
          <p:cNvPr id="15" name="下箭头 14"/>
          <p:cNvSpPr/>
          <p:nvPr/>
        </p:nvSpPr>
        <p:spPr>
          <a:xfrm>
            <a:off x="4147692" y="1980622"/>
            <a:ext cx="341207" cy="287867"/>
          </a:xfrm>
          <a:prstGeom prst="down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2400"/>
          </a:p>
        </p:txBody>
      </p:sp>
      <p:sp>
        <p:nvSpPr>
          <p:cNvPr id="17" name="下箭头 16"/>
          <p:cNvSpPr/>
          <p:nvPr/>
        </p:nvSpPr>
        <p:spPr>
          <a:xfrm rot="16200000">
            <a:off x="5643208" y="4204981"/>
            <a:ext cx="341207" cy="287867"/>
          </a:xfrm>
          <a:prstGeom prst="down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2400"/>
          </a:p>
        </p:txBody>
      </p:sp>
      <p:sp>
        <p:nvSpPr>
          <p:cNvPr id="19" name="圆角矩形 18"/>
          <p:cNvSpPr/>
          <p:nvPr/>
        </p:nvSpPr>
        <p:spPr>
          <a:xfrm>
            <a:off x="3441048" y="2327816"/>
            <a:ext cx="1800000" cy="3600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自由度分析</a:t>
            </a:r>
          </a:p>
        </p:txBody>
      </p:sp>
      <p:sp>
        <p:nvSpPr>
          <p:cNvPr id="21" name="下箭头 20"/>
          <p:cNvSpPr/>
          <p:nvPr/>
        </p:nvSpPr>
        <p:spPr>
          <a:xfrm rot="5400000">
            <a:off x="2656883" y="4162307"/>
            <a:ext cx="341207" cy="287867"/>
          </a:xfrm>
          <a:prstGeom prst="down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2400"/>
          </a:p>
        </p:txBody>
      </p:sp>
      <p:sp>
        <p:nvSpPr>
          <p:cNvPr id="25" name="圆角矩形 24"/>
          <p:cNvSpPr/>
          <p:nvPr/>
        </p:nvSpPr>
        <p:spPr>
          <a:xfrm>
            <a:off x="3418295" y="3041260"/>
            <a:ext cx="1800000" cy="3600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灵敏度分析</a:t>
            </a:r>
          </a:p>
        </p:txBody>
      </p:sp>
      <p:sp>
        <p:nvSpPr>
          <p:cNvPr id="28" name="下箭头 27"/>
          <p:cNvSpPr/>
          <p:nvPr/>
        </p:nvSpPr>
        <p:spPr>
          <a:xfrm>
            <a:off x="4170445" y="2753393"/>
            <a:ext cx="341207" cy="287867"/>
          </a:xfrm>
          <a:prstGeom prst="down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2400"/>
          </a:p>
        </p:txBody>
      </p:sp>
      <p:sp>
        <p:nvSpPr>
          <p:cNvPr id="37" name="圆角矩形 36"/>
          <p:cNvSpPr/>
          <p:nvPr/>
        </p:nvSpPr>
        <p:spPr>
          <a:xfrm>
            <a:off x="6067007" y="3828047"/>
            <a:ext cx="727889" cy="956389"/>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b="1" dirty="0"/>
              <a:t>优化过程</a:t>
            </a:r>
          </a:p>
        </p:txBody>
      </p:sp>
      <p:sp>
        <p:nvSpPr>
          <p:cNvPr id="38" name="圆角矩形 37"/>
          <p:cNvSpPr/>
          <p:nvPr/>
        </p:nvSpPr>
        <p:spPr>
          <a:xfrm>
            <a:off x="1796124" y="3841072"/>
            <a:ext cx="777419" cy="992953"/>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b="1" dirty="0"/>
              <a:t>优化策略</a:t>
            </a:r>
          </a:p>
        </p:txBody>
      </p:sp>
      <p:sp>
        <p:nvSpPr>
          <p:cNvPr id="47" name="左大括号 46"/>
          <p:cNvSpPr/>
          <p:nvPr/>
        </p:nvSpPr>
        <p:spPr>
          <a:xfrm rot="16200000">
            <a:off x="4164834" y="2875126"/>
            <a:ext cx="360000" cy="4320000"/>
          </a:xfrm>
          <a:prstGeom prst="leftBrace">
            <a:avLst/>
          </a:prstGeom>
          <a:ln w="19050">
            <a:solidFill>
              <a:srgbClr val="006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48" name="圆角矩形 47"/>
          <p:cNvSpPr/>
          <p:nvPr/>
        </p:nvSpPr>
        <p:spPr>
          <a:xfrm>
            <a:off x="2759932" y="5998779"/>
            <a:ext cx="3240000" cy="53576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适合的控制结构</a:t>
            </a:r>
          </a:p>
        </p:txBody>
      </p:sp>
      <p:sp>
        <p:nvSpPr>
          <p:cNvPr id="49" name="下箭头 48"/>
          <p:cNvSpPr/>
          <p:nvPr/>
        </p:nvSpPr>
        <p:spPr>
          <a:xfrm>
            <a:off x="4174231" y="5676156"/>
            <a:ext cx="341207" cy="287867"/>
          </a:xfrm>
          <a:prstGeom prst="down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2400"/>
          </a:p>
        </p:txBody>
      </p:sp>
      <p:sp>
        <p:nvSpPr>
          <p:cNvPr id="51" name="圆角矩形 50"/>
          <p:cNvSpPr/>
          <p:nvPr/>
        </p:nvSpPr>
        <p:spPr>
          <a:xfrm>
            <a:off x="3119932" y="5249436"/>
            <a:ext cx="2520000" cy="42672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稳态与动态的折中平衡点</a:t>
            </a:r>
          </a:p>
        </p:txBody>
      </p:sp>
      <p:sp>
        <p:nvSpPr>
          <p:cNvPr id="68" name="文本框 67"/>
          <p:cNvSpPr txBox="1"/>
          <p:nvPr/>
        </p:nvSpPr>
        <p:spPr>
          <a:xfrm>
            <a:off x="3244014" y="1589073"/>
            <a:ext cx="2222206" cy="420564"/>
          </a:xfrm>
          <a:prstGeom prst="rect">
            <a:avLst/>
          </a:prstGeom>
          <a:noFill/>
        </p:spPr>
        <p:txBody>
          <a:bodyPr wrap="square" rtlCol="0">
            <a:spAutoFit/>
          </a:bodyPr>
          <a:lstStyle/>
          <a:p>
            <a:pPr algn="ctr"/>
            <a:r>
              <a:rPr lang="zh-CN" altLang="en-US" sz="2133" b="1" dirty="0">
                <a:latin typeface="微软雅黑" panose="020B0503020204020204" pitchFamily="34" charset="-122"/>
                <a:ea typeface="微软雅黑" panose="020B0503020204020204" pitchFamily="34" charset="-122"/>
              </a:rPr>
              <a:t>萃取隔壁精馏塔</a:t>
            </a:r>
          </a:p>
        </p:txBody>
      </p:sp>
      <p:sp>
        <p:nvSpPr>
          <p:cNvPr id="23" name="矩形 22"/>
          <p:cNvSpPr/>
          <p:nvPr/>
        </p:nvSpPr>
        <p:spPr>
          <a:xfrm>
            <a:off x="252308" y="2084493"/>
            <a:ext cx="8269393" cy="1610360"/>
          </a:xfrm>
          <a:prstGeom prst="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sp>
        <p:nvSpPr>
          <p:cNvPr id="7" name="文本框 6"/>
          <p:cNvSpPr txBox="1"/>
          <p:nvPr/>
        </p:nvSpPr>
        <p:spPr>
          <a:xfrm>
            <a:off x="205607" y="2307427"/>
            <a:ext cx="512897" cy="1279806"/>
          </a:xfrm>
          <a:prstGeom prst="rect">
            <a:avLst/>
          </a:prstGeom>
          <a:noFill/>
        </p:spPr>
        <p:txBody>
          <a:bodyPr vert="eaVert" wrap="square" rtlCol="0">
            <a:spAutoFit/>
          </a:bodyPr>
          <a:lstStyle/>
          <a:p>
            <a:r>
              <a:rPr lang="zh-CN" altLang="en-US" sz="2133" b="1" dirty="0">
                <a:latin typeface="微软雅黑" panose="020B0503020204020204" pitchFamily="34" charset="-122"/>
                <a:ea typeface="微软雅黑" panose="020B0503020204020204" pitchFamily="34" charset="-122"/>
              </a:rPr>
              <a:t>稳态设计</a:t>
            </a:r>
          </a:p>
        </p:txBody>
      </p:sp>
      <p:sp>
        <p:nvSpPr>
          <p:cNvPr id="8" name="矩形 7"/>
          <p:cNvSpPr/>
          <p:nvPr/>
        </p:nvSpPr>
        <p:spPr>
          <a:xfrm>
            <a:off x="251461" y="3773594"/>
            <a:ext cx="8269393" cy="1201420"/>
          </a:xfrm>
          <a:prstGeom prst="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sp>
        <p:nvSpPr>
          <p:cNvPr id="9" name="文本框 8"/>
          <p:cNvSpPr txBox="1"/>
          <p:nvPr/>
        </p:nvSpPr>
        <p:spPr>
          <a:xfrm>
            <a:off x="204760" y="3912801"/>
            <a:ext cx="512897" cy="893233"/>
          </a:xfrm>
          <a:prstGeom prst="rect">
            <a:avLst/>
          </a:prstGeom>
          <a:noFill/>
        </p:spPr>
        <p:txBody>
          <a:bodyPr vert="eaVert" wrap="square" rtlCol="0">
            <a:spAutoFit/>
          </a:bodyPr>
          <a:lstStyle/>
          <a:p>
            <a:r>
              <a:rPr lang="zh-CN" altLang="en-US" sz="2133" b="1" dirty="0">
                <a:latin typeface="微软雅黑" panose="020B0503020204020204" pitchFamily="34" charset="-122"/>
                <a:ea typeface="微软雅黑" panose="020B0503020204020204" pitchFamily="34" charset="-122"/>
              </a:rPr>
              <a:t>优化</a:t>
            </a:r>
          </a:p>
        </p:txBody>
      </p:sp>
      <p:sp>
        <p:nvSpPr>
          <p:cNvPr id="10" name="矩形 9"/>
          <p:cNvSpPr/>
          <p:nvPr/>
        </p:nvSpPr>
        <p:spPr>
          <a:xfrm>
            <a:off x="252308" y="5082540"/>
            <a:ext cx="8269393" cy="1610360"/>
          </a:xfrm>
          <a:prstGeom prst="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sp>
        <p:nvSpPr>
          <p:cNvPr id="11" name="文本框 10"/>
          <p:cNvSpPr txBox="1"/>
          <p:nvPr/>
        </p:nvSpPr>
        <p:spPr>
          <a:xfrm>
            <a:off x="205607" y="5436250"/>
            <a:ext cx="512897" cy="1364175"/>
          </a:xfrm>
          <a:prstGeom prst="rect">
            <a:avLst/>
          </a:prstGeom>
          <a:noFill/>
        </p:spPr>
        <p:txBody>
          <a:bodyPr vert="eaVert" wrap="square" rtlCol="0">
            <a:spAutoFit/>
          </a:bodyPr>
          <a:lstStyle/>
          <a:p>
            <a:r>
              <a:rPr lang="zh-CN" altLang="en-US" sz="2133" b="1" dirty="0">
                <a:latin typeface="微软雅黑" panose="020B0503020204020204" pitchFamily="34" charset="-122"/>
                <a:ea typeface="微软雅黑" panose="020B0503020204020204" pitchFamily="34" charset="-122"/>
              </a:rPr>
              <a:t>动态控制</a:t>
            </a:r>
          </a:p>
        </p:txBody>
      </p:sp>
      <p:sp>
        <p:nvSpPr>
          <p:cNvPr id="3" name="右箭头 2"/>
          <p:cNvSpPr/>
          <p:nvPr/>
        </p:nvSpPr>
        <p:spPr>
          <a:xfrm>
            <a:off x="4140057" y="1222000"/>
            <a:ext cx="360000" cy="360000"/>
          </a:xfrm>
          <a:prstGeom prst="plus">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2400"/>
          </a:p>
        </p:txBody>
      </p:sp>
      <p:sp>
        <p:nvSpPr>
          <p:cNvPr id="55" name="左大括号 54"/>
          <p:cNvSpPr/>
          <p:nvPr/>
        </p:nvSpPr>
        <p:spPr>
          <a:xfrm rot="5400000" flipV="1">
            <a:off x="4151298" y="1453126"/>
            <a:ext cx="360000" cy="4320000"/>
          </a:xfrm>
          <a:prstGeom prst="leftBrace">
            <a:avLst/>
          </a:prstGeom>
          <a:ln w="19050">
            <a:solidFill>
              <a:srgbClr val="006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6" name="圆角矩形 18">
            <a:extLst>
              <a:ext uri="{FF2B5EF4-FFF2-40B4-BE49-F238E27FC236}">
                <a16:creationId xmlns:a16="http://schemas.microsoft.com/office/drawing/2014/main" id="{3362AF14-D5C9-5A66-C404-B4625726E06D}"/>
              </a:ext>
            </a:extLst>
          </p:cNvPr>
          <p:cNvSpPr/>
          <p:nvPr/>
        </p:nvSpPr>
        <p:spPr>
          <a:xfrm>
            <a:off x="3081049" y="4126240"/>
            <a:ext cx="2520000" cy="3600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多目标遗传算法</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NSGA-II</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109511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92352" y="1772770"/>
            <a:ext cx="1827143" cy="584776"/>
          </a:xfrm>
          <a:prstGeom prst="rect">
            <a:avLst/>
          </a:prstGeom>
        </p:spPr>
        <p:txBody>
          <a:bodyPr wrap="none">
            <a:spAutoFit/>
          </a:bodyPr>
          <a:lstStyle/>
          <a:p>
            <a:r>
              <a:rPr lang="en-US" altLang="zh-CN" sz="3200" dirty="0">
                <a:solidFill>
                  <a:schemeClr val="bg1"/>
                </a:solidFill>
                <a:latin typeface="Arial" panose="020B0604020202020204"/>
                <a:cs typeface="Arial" panose="020B0604020202020204"/>
              </a:rPr>
              <a:t>Contents</a:t>
            </a:r>
            <a:endParaRPr lang="zh-CN" altLang="en-US" sz="3200" dirty="0">
              <a:solidFill>
                <a:schemeClr val="bg1"/>
              </a:solidFill>
              <a:latin typeface="Arial" panose="020B0604020202020204"/>
              <a:cs typeface="Arial" panose="020B0604020202020204"/>
            </a:endParaRPr>
          </a:p>
        </p:txBody>
      </p:sp>
      <p:sp>
        <p:nvSpPr>
          <p:cNvPr id="3" name="矩形 2"/>
          <p:cNvSpPr/>
          <p:nvPr/>
        </p:nvSpPr>
        <p:spPr>
          <a:xfrm>
            <a:off x="7084373" y="2249460"/>
            <a:ext cx="891591" cy="461665"/>
          </a:xfrm>
          <a:prstGeom prst="rect">
            <a:avLst/>
          </a:prstGeom>
        </p:spPr>
        <p:txBody>
          <a:bodyPr wrap="none">
            <a:spAutoFit/>
          </a:bodyPr>
          <a:lstStyle/>
          <a:p>
            <a:r>
              <a:rPr lang="zh-CN" altLang="en-US" sz="2400" dirty="0">
                <a:solidFill>
                  <a:srgbClr val="FFFFFF"/>
                </a:solidFill>
                <a:latin typeface="方正兰亭中黑简体" panose="02000000000000000000" charset="-122"/>
                <a:ea typeface="方正兰亭中黑简体" panose="02000000000000000000" charset="-122"/>
              </a:rPr>
              <a:t>目 录</a:t>
            </a:r>
          </a:p>
        </p:txBody>
      </p:sp>
      <p:sp>
        <p:nvSpPr>
          <p:cNvPr id="4" name="矩形 3"/>
          <p:cNvSpPr/>
          <p:nvPr/>
        </p:nvSpPr>
        <p:spPr>
          <a:xfrm>
            <a:off x="1115520" y="1754451"/>
            <a:ext cx="5400750" cy="3592587"/>
          </a:xfrm>
          <a:prstGeom prst="rect">
            <a:avLst/>
          </a:prstGeom>
        </p:spPr>
        <p:txBody>
          <a:bodyPr wrap="square">
            <a:spAutoFit/>
          </a:bodyPr>
          <a:lstStyle/>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一、研究背景</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二、文献综述</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三、研究思路</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solidFill>
                  <a:srgbClr val="C00000"/>
                </a:solidFill>
                <a:latin typeface="微软雅黑" panose="020B0503020204020204" pitchFamily="34" charset="-122"/>
                <a:ea typeface="微软雅黑" panose="020B0503020204020204" pitchFamily="34" charset="-122"/>
              </a:rPr>
              <a:t>四、研究方案</a:t>
            </a:r>
            <a:endParaRPr lang="en-US" altLang="zh-CN" sz="2800" b="1" dirty="0">
              <a:solidFill>
                <a:srgbClr val="C00000"/>
              </a:solidFill>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五、研究进度</a:t>
            </a:r>
          </a:p>
        </p:txBody>
      </p:sp>
    </p:spTree>
    <p:extLst>
      <p:ext uri="{BB962C8B-B14F-4D97-AF65-F5344CB8AC3E}">
        <p14:creationId xmlns:p14="http://schemas.microsoft.com/office/powerpoint/2010/main" val="285973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sym typeface="+mn-ea"/>
              </a:rPr>
              <a:t>研究方案</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三塔等效模型</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20</a:t>
            </a:fld>
            <a:endParaRPr lang="zh-CN" altLang="en-US" dirty="0">
              <a:solidFill>
                <a:srgbClr val="FFFFFF"/>
              </a:solidFill>
              <a:latin typeface="Arial" panose="020B0604020202020204" pitchFamily="34" charset="0"/>
              <a:cs typeface="Arial" panose="020B0604020202020204" pitchFamily="34" charset="0"/>
            </a:endParaRPr>
          </a:p>
        </p:txBody>
      </p:sp>
      <p:pic>
        <p:nvPicPr>
          <p:cNvPr id="4" name="内容占位符 3">
            <a:extLst>
              <a:ext uri="{FF2B5EF4-FFF2-40B4-BE49-F238E27FC236}">
                <a16:creationId xmlns:a16="http://schemas.microsoft.com/office/drawing/2014/main" id="{AC8A2CC5-59BB-1079-EABC-69D5B44F83AC}"/>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1095336" y="1268700"/>
            <a:ext cx="6953328" cy="3451562"/>
          </a:xfrm>
          <a:prstGeom prst="rect">
            <a:avLst/>
          </a:prstGeom>
        </p:spPr>
      </p:pic>
      <p:sp>
        <p:nvSpPr>
          <p:cNvPr id="5" name="文本框 4">
            <a:extLst>
              <a:ext uri="{FF2B5EF4-FFF2-40B4-BE49-F238E27FC236}">
                <a16:creationId xmlns:a16="http://schemas.microsoft.com/office/drawing/2014/main" id="{6F9A2057-DBE1-98F4-8C14-BADDF2A1F231}"/>
              </a:ext>
            </a:extLst>
          </p:cNvPr>
          <p:cNvSpPr txBox="1"/>
          <p:nvPr/>
        </p:nvSpPr>
        <p:spPr>
          <a:xfrm>
            <a:off x="1776748" y="5044766"/>
            <a:ext cx="5590505" cy="369332"/>
          </a:xfrm>
          <a:prstGeom prst="rect">
            <a:avLst/>
          </a:prstGeom>
          <a:noFill/>
        </p:spPr>
        <p:txBody>
          <a:bodyPr wrap="square" rtlCol="0" anchor="ctr">
            <a:spAutoFit/>
          </a:bodyPr>
          <a:lstStyle/>
          <a:p>
            <a:pPr algn="ctr"/>
            <a:r>
              <a:rPr lang="zh-CN" altLang="en-US" dirty="0"/>
              <a:t>萃取精馏隔壁塔流程示意图</a:t>
            </a:r>
          </a:p>
        </p:txBody>
      </p:sp>
    </p:spTree>
    <p:extLst>
      <p:ext uri="{BB962C8B-B14F-4D97-AF65-F5344CB8AC3E}">
        <p14:creationId xmlns:p14="http://schemas.microsoft.com/office/powerpoint/2010/main" val="74499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sym typeface="+mn-ea"/>
              </a:rPr>
              <a:t>研究方案</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设计变量分析</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21</a:t>
            </a:fld>
            <a:endParaRPr lang="zh-CN" altLang="en-US" dirty="0">
              <a:solidFill>
                <a:srgbClr val="FFFFFF"/>
              </a:solidFill>
              <a:latin typeface="Arial" panose="020B0604020202020204" pitchFamily="34" charset="0"/>
              <a:cs typeface="Arial" panose="020B0604020202020204" pitchFamily="34" charset="0"/>
            </a:endParaRPr>
          </a:p>
        </p:txBody>
      </p:sp>
      <p:pic>
        <p:nvPicPr>
          <p:cNvPr id="6" name="图片 5">
            <a:extLst>
              <a:ext uri="{FF2B5EF4-FFF2-40B4-BE49-F238E27FC236}">
                <a16:creationId xmlns:a16="http://schemas.microsoft.com/office/drawing/2014/main" id="{21EE4C57-03E3-B504-69E6-6D2856859E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0452" y="1450993"/>
            <a:ext cx="3946671" cy="3932106"/>
          </a:xfrm>
          <a:prstGeom prst="rect">
            <a:avLst/>
          </a:prstGeom>
        </p:spPr>
      </p:pic>
      <p:cxnSp>
        <p:nvCxnSpPr>
          <p:cNvPr id="11" name="直接箭头连接符 10">
            <a:extLst>
              <a:ext uri="{FF2B5EF4-FFF2-40B4-BE49-F238E27FC236}">
                <a16:creationId xmlns:a16="http://schemas.microsoft.com/office/drawing/2014/main" id="{712071DF-A768-1DFD-D1D1-66C8A740E050}"/>
              </a:ext>
            </a:extLst>
          </p:cNvPr>
          <p:cNvCxnSpPr>
            <a:cxnSpLocks/>
            <a:stCxn id="22" idx="6"/>
          </p:cNvCxnSpPr>
          <p:nvPr/>
        </p:nvCxnSpPr>
        <p:spPr>
          <a:xfrm>
            <a:off x="4037605" y="1330991"/>
            <a:ext cx="1312881" cy="818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B3816F0A-B590-4169-23C8-152E5EAF5EC0}"/>
              </a:ext>
            </a:extLst>
          </p:cNvPr>
          <p:cNvCxnSpPr>
            <a:cxnSpLocks/>
          </p:cNvCxnSpPr>
          <p:nvPr/>
        </p:nvCxnSpPr>
        <p:spPr>
          <a:xfrm>
            <a:off x="3930909" y="1514770"/>
            <a:ext cx="2766804" cy="656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5D1CA76A-0E51-46EC-3114-7D4AF744A933}"/>
              </a:ext>
            </a:extLst>
          </p:cNvPr>
          <p:cNvCxnSpPr>
            <a:cxnSpLocks/>
            <a:stCxn id="22" idx="6"/>
          </p:cNvCxnSpPr>
          <p:nvPr/>
        </p:nvCxnSpPr>
        <p:spPr>
          <a:xfrm>
            <a:off x="4037605" y="1330991"/>
            <a:ext cx="1793838" cy="2552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椭圆 21">
            <a:extLst>
              <a:ext uri="{FF2B5EF4-FFF2-40B4-BE49-F238E27FC236}">
                <a16:creationId xmlns:a16="http://schemas.microsoft.com/office/drawing/2014/main" id="{296D1BA7-E231-E701-82E4-71F1011861B6}"/>
              </a:ext>
            </a:extLst>
          </p:cNvPr>
          <p:cNvSpPr/>
          <p:nvPr/>
        </p:nvSpPr>
        <p:spPr>
          <a:xfrm>
            <a:off x="3123438" y="1006946"/>
            <a:ext cx="914167" cy="6480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理论板数</a:t>
            </a:r>
          </a:p>
        </p:txBody>
      </p:sp>
      <p:sp>
        <p:nvSpPr>
          <p:cNvPr id="23" name="椭圆 22">
            <a:extLst>
              <a:ext uri="{FF2B5EF4-FFF2-40B4-BE49-F238E27FC236}">
                <a16:creationId xmlns:a16="http://schemas.microsoft.com/office/drawing/2014/main" id="{4DEAEF68-B568-DF14-DE55-DD6BFAD6E4C6}"/>
              </a:ext>
            </a:extLst>
          </p:cNvPr>
          <p:cNvSpPr/>
          <p:nvPr/>
        </p:nvSpPr>
        <p:spPr>
          <a:xfrm>
            <a:off x="3198844" y="3827557"/>
            <a:ext cx="914167" cy="6480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进料位置</a:t>
            </a:r>
          </a:p>
        </p:txBody>
      </p:sp>
      <p:cxnSp>
        <p:nvCxnSpPr>
          <p:cNvPr id="24" name="直接箭头连接符 23">
            <a:extLst>
              <a:ext uri="{FF2B5EF4-FFF2-40B4-BE49-F238E27FC236}">
                <a16:creationId xmlns:a16="http://schemas.microsoft.com/office/drawing/2014/main" id="{7A456C69-7971-BCD7-12E1-74B4C266FDD0}"/>
              </a:ext>
            </a:extLst>
          </p:cNvPr>
          <p:cNvCxnSpPr>
            <a:cxnSpLocks/>
            <a:stCxn id="23" idx="6"/>
          </p:cNvCxnSpPr>
          <p:nvPr/>
        </p:nvCxnSpPr>
        <p:spPr>
          <a:xfrm flipV="1">
            <a:off x="4113011" y="2616973"/>
            <a:ext cx="1123154" cy="1534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82E0B3AA-AF22-AE64-F431-68F426E9C767}"/>
              </a:ext>
            </a:extLst>
          </p:cNvPr>
          <p:cNvCxnSpPr>
            <a:cxnSpLocks/>
            <a:stCxn id="23" idx="6"/>
          </p:cNvCxnSpPr>
          <p:nvPr/>
        </p:nvCxnSpPr>
        <p:spPr>
          <a:xfrm flipV="1">
            <a:off x="4113011" y="2218325"/>
            <a:ext cx="383215" cy="1933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132492C4-C39B-25BF-D60C-A7DD14065BDF}"/>
              </a:ext>
            </a:extLst>
          </p:cNvPr>
          <p:cNvSpPr/>
          <p:nvPr/>
        </p:nvSpPr>
        <p:spPr>
          <a:xfrm>
            <a:off x="7959786" y="679300"/>
            <a:ext cx="914167" cy="6480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回流量</a:t>
            </a:r>
          </a:p>
        </p:txBody>
      </p:sp>
      <p:cxnSp>
        <p:nvCxnSpPr>
          <p:cNvPr id="34" name="直接箭头连接符 33">
            <a:extLst>
              <a:ext uri="{FF2B5EF4-FFF2-40B4-BE49-F238E27FC236}">
                <a16:creationId xmlns:a16="http://schemas.microsoft.com/office/drawing/2014/main" id="{D8BE318A-4AB5-DE70-2CA0-0BA6C49E1D9C}"/>
              </a:ext>
            </a:extLst>
          </p:cNvPr>
          <p:cNvCxnSpPr>
            <a:cxnSpLocks/>
            <a:stCxn id="32" idx="2"/>
          </p:cNvCxnSpPr>
          <p:nvPr/>
        </p:nvCxnSpPr>
        <p:spPr>
          <a:xfrm flipH="1">
            <a:off x="5714028" y="1003345"/>
            <a:ext cx="2245758" cy="925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02FFD7CA-20F1-2863-0E4D-13CF9AD47F7E}"/>
              </a:ext>
            </a:extLst>
          </p:cNvPr>
          <p:cNvCxnSpPr>
            <a:cxnSpLocks/>
            <a:stCxn id="32" idx="2"/>
          </p:cNvCxnSpPr>
          <p:nvPr/>
        </p:nvCxnSpPr>
        <p:spPr>
          <a:xfrm flipH="1">
            <a:off x="7131092" y="1003345"/>
            <a:ext cx="828694" cy="925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椭圆 38">
            <a:extLst>
              <a:ext uri="{FF2B5EF4-FFF2-40B4-BE49-F238E27FC236}">
                <a16:creationId xmlns:a16="http://schemas.microsoft.com/office/drawing/2014/main" id="{F297F3FF-6428-5B08-2244-DC18C101D137}"/>
              </a:ext>
            </a:extLst>
          </p:cNvPr>
          <p:cNvSpPr/>
          <p:nvPr/>
        </p:nvSpPr>
        <p:spPr>
          <a:xfrm>
            <a:off x="8009764" y="2707693"/>
            <a:ext cx="914167" cy="6480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流率</a:t>
            </a:r>
          </a:p>
        </p:txBody>
      </p:sp>
      <p:cxnSp>
        <p:nvCxnSpPr>
          <p:cNvPr id="40" name="直接箭头连接符 39">
            <a:extLst>
              <a:ext uri="{FF2B5EF4-FFF2-40B4-BE49-F238E27FC236}">
                <a16:creationId xmlns:a16="http://schemas.microsoft.com/office/drawing/2014/main" id="{D2DD6C6B-BBC5-4054-BA8B-1EF9725672C4}"/>
              </a:ext>
            </a:extLst>
          </p:cNvPr>
          <p:cNvCxnSpPr>
            <a:cxnSpLocks/>
            <a:stCxn id="39" idx="2"/>
          </p:cNvCxnSpPr>
          <p:nvPr/>
        </p:nvCxnSpPr>
        <p:spPr>
          <a:xfrm flipH="1" flipV="1">
            <a:off x="7605546" y="2011785"/>
            <a:ext cx="404218" cy="1019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8B9C783E-3C72-ADEB-B422-B5547553AB1E}"/>
              </a:ext>
            </a:extLst>
          </p:cNvPr>
          <p:cNvCxnSpPr>
            <a:cxnSpLocks/>
            <a:stCxn id="39" idx="2"/>
          </p:cNvCxnSpPr>
          <p:nvPr/>
        </p:nvCxnSpPr>
        <p:spPr>
          <a:xfrm flipH="1">
            <a:off x="6745610" y="3031738"/>
            <a:ext cx="1264154" cy="1690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F0A09722-F7B1-FD47-60E8-2E4FF2B91E88}"/>
              </a:ext>
            </a:extLst>
          </p:cNvPr>
          <p:cNvCxnSpPr>
            <a:cxnSpLocks/>
            <a:stCxn id="39" idx="2"/>
          </p:cNvCxnSpPr>
          <p:nvPr/>
        </p:nvCxnSpPr>
        <p:spPr>
          <a:xfrm flipH="1" flipV="1">
            <a:off x="6264653" y="1981482"/>
            <a:ext cx="1745111" cy="1050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752DC878-28A7-830D-8E19-97C8B09E04C1}"/>
              </a:ext>
            </a:extLst>
          </p:cNvPr>
          <p:cNvSpPr/>
          <p:nvPr/>
        </p:nvSpPr>
        <p:spPr>
          <a:xfrm>
            <a:off x="7605496" y="4841116"/>
            <a:ext cx="1042354" cy="6480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热负荷</a:t>
            </a:r>
            <a:r>
              <a:rPr lang="en-US" altLang="zh-CN" dirty="0"/>
              <a:t>Q</a:t>
            </a:r>
            <a:r>
              <a:rPr lang="en-US" altLang="zh-CN" baseline="-25000" dirty="0"/>
              <a:t>R</a:t>
            </a:r>
            <a:endParaRPr lang="zh-CN" altLang="en-US" baseline="-25000" dirty="0"/>
          </a:p>
        </p:txBody>
      </p:sp>
      <p:cxnSp>
        <p:nvCxnSpPr>
          <p:cNvPr id="50" name="直接箭头连接符 49">
            <a:extLst>
              <a:ext uri="{FF2B5EF4-FFF2-40B4-BE49-F238E27FC236}">
                <a16:creationId xmlns:a16="http://schemas.microsoft.com/office/drawing/2014/main" id="{61655EB1-E1FA-6E0E-4DD7-E8DB5A9B5FD4}"/>
              </a:ext>
            </a:extLst>
          </p:cNvPr>
          <p:cNvCxnSpPr>
            <a:cxnSpLocks/>
            <a:stCxn id="49" idx="2"/>
          </p:cNvCxnSpPr>
          <p:nvPr/>
        </p:nvCxnSpPr>
        <p:spPr>
          <a:xfrm flipH="1" flipV="1">
            <a:off x="6588280" y="4679193"/>
            <a:ext cx="1017216" cy="485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D15E7D75-1541-4B99-A893-5280D0B5EFEA}"/>
              </a:ext>
            </a:extLst>
          </p:cNvPr>
          <p:cNvSpPr/>
          <p:nvPr/>
        </p:nvSpPr>
        <p:spPr>
          <a:xfrm>
            <a:off x="5985737" y="468164"/>
            <a:ext cx="914167" cy="6480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冷负荷</a:t>
            </a:r>
            <a:r>
              <a:rPr lang="en-US" altLang="zh-CN" dirty="0"/>
              <a:t>Q</a:t>
            </a:r>
            <a:r>
              <a:rPr lang="en-US" altLang="zh-CN" baseline="-25000" dirty="0"/>
              <a:t>c</a:t>
            </a:r>
            <a:endParaRPr lang="zh-CN" altLang="en-US" baseline="-25000" dirty="0"/>
          </a:p>
        </p:txBody>
      </p:sp>
      <p:cxnSp>
        <p:nvCxnSpPr>
          <p:cNvPr id="55" name="直接箭头连接符 54">
            <a:extLst>
              <a:ext uri="{FF2B5EF4-FFF2-40B4-BE49-F238E27FC236}">
                <a16:creationId xmlns:a16="http://schemas.microsoft.com/office/drawing/2014/main" id="{295271C8-5C95-8351-032B-6EB023C42A15}"/>
              </a:ext>
            </a:extLst>
          </p:cNvPr>
          <p:cNvCxnSpPr>
            <a:cxnSpLocks/>
            <a:stCxn id="54" idx="4"/>
          </p:cNvCxnSpPr>
          <p:nvPr/>
        </p:nvCxnSpPr>
        <p:spPr>
          <a:xfrm flipH="1">
            <a:off x="6120307" y="1116254"/>
            <a:ext cx="322514" cy="723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文本框 68">
            <a:extLst>
              <a:ext uri="{FF2B5EF4-FFF2-40B4-BE49-F238E27FC236}">
                <a16:creationId xmlns:a16="http://schemas.microsoft.com/office/drawing/2014/main" id="{A9BD82CB-61B8-3A6A-2488-031C61E78AED}"/>
              </a:ext>
            </a:extLst>
          </p:cNvPr>
          <p:cNvSpPr txBox="1"/>
          <p:nvPr/>
        </p:nvSpPr>
        <p:spPr>
          <a:xfrm>
            <a:off x="4551362" y="5654703"/>
            <a:ext cx="2965822" cy="369332"/>
          </a:xfrm>
          <a:prstGeom prst="rect">
            <a:avLst/>
          </a:prstGeom>
          <a:noFill/>
        </p:spPr>
        <p:txBody>
          <a:bodyPr wrap="square" rtlCol="0">
            <a:spAutoFit/>
          </a:bodyPr>
          <a:lstStyle/>
          <a:p>
            <a:r>
              <a:rPr lang="zh-CN" altLang="en-US" dirty="0"/>
              <a:t>隔壁精馏塔设计变量示意图</a:t>
            </a:r>
          </a:p>
        </p:txBody>
      </p:sp>
      <p:sp>
        <p:nvSpPr>
          <p:cNvPr id="3" name="椭圆 2">
            <a:extLst>
              <a:ext uri="{FF2B5EF4-FFF2-40B4-BE49-F238E27FC236}">
                <a16:creationId xmlns:a16="http://schemas.microsoft.com/office/drawing/2014/main" id="{E7984CD8-E20B-39DA-2FB3-FA70DBB26FA4}"/>
              </a:ext>
            </a:extLst>
          </p:cNvPr>
          <p:cNvSpPr/>
          <p:nvPr/>
        </p:nvSpPr>
        <p:spPr>
          <a:xfrm>
            <a:off x="7461745" y="3745838"/>
            <a:ext cx="1264154" cy="81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气相分配比</a:t>
            </a:r>
          </a:p>
        </p:txBody>
      </p:sp>
      <p:cxnSp>
        <p:nvCxnSpPr>
          <p:cNvPr id="18" name="直接箭头连接符 17">
            <a:extLst>
              <a:ext uri="{FF2B5EF4-FFF2-40B4-BE49-F238E27FC236}">
                <a16:creationId xmlns:a16="http://schemas.microsoft.com/office/drawing/2014/main" id="{64B47199-8A1F-9995-8170-C2E9E438DE14}"/>
              </a:ext>
            </a:extLst>
          </p:cNvPr>
          <p:cNvCxnSpPr>
            <a:cxnSpLocks/>
            <a:stCxn id="3" idx="2"/>
          </p:cNvCxnSpPr>
          <p:nvPr/>
        </p:nvCxnSpPr>
        <p:spPr>
          <a:xfrm flipH="1" flipV="1">
            <a:off x="6558457" y="3303238"/>
            <a:ext cx="903288" cy="850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07265C91-90CB-1E1E-5164-B28DBD828BDD}"/>
              </a:ext>
            </a:extLst>
          </p:cNvPr>
          <p:cNvCxnSpPr>
            <a:cxnSpLocks/>
            <a:stCxn id="54" idx="4"/>
          </p:cNvCxnSpPr>
          <p:nvPr/>
        </p:nvCxnSpPr>
        <p:spPr>
          <a:xfrm>
            <a:off x="6442821" y="1116254"/>
            <a:ext cx="890462" cy="750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18A88073-A6E0-FB0D-427E-F773B86F0B46}"/>
              </a:ext>
            </a:extLst>
          </p:cNvPr>
          <p:cNvSpPr txBox="1"/>
          <p:nvPr/>
        </p:nvSpPr>
        <p:spPr>
          <a:xfrm>
            <a:off x="-15081" y="1963779"/>
            <a:ext cx="3186416" cy="1573636"/>
          </a:xfrm>
          <a:prstGeom prst="rect">
            <a:avLst/>
          </a:prstGeom>
          <a:noFill/>
        </p:spPr>
        <p:txBody>
          <a:bodyPr wrap="square">
            <a:spAutoFit/>
          </a:bodyPr>
          <a:lstStyle/>
          <a:p>
            <a:pPr algn="just">
              <a:lnSpc>
                <a:spcPct val="150000"/>
              </a:lnSpc>
            </a:pPr>
            <a:r>
              <a:rPr lang="zh-CN" altLang="en-US" sz="1600" dirty="0"/>
              <a:t>     需要解决调节变量与控制变量之间极为复杂的</a:t>
            </a:r>
            <a:r>
              <a:rPr lang="zh-CN" altLang="en-US" b="1" kern="1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交互作用</a:t>
            </a:r>
            <a:r>
              <a:rPr lang="zh-CN" altLang="en-US" sz="1600" dirty="0"/>
              <a:t>以及解决受进料扰动和塔内压力波动引起的难稳定的问题。</a:t>
            </a:r>
            <a:endParaRPr lang="zh-CN" altLang="en-US" sz="2000" dirty="0"/>
          </a:p>
        </p:txBody>
      </p:sp>
      <p:sp>
        <p:nvSpPr>
          <p:cNvPr id="43" name="文本框 42">
            <a:extLst>
              <a:ext uri="{FF2B5EF4-FFF2-40B4-BE49-F238E27FC236}">
                <a16:creationId xmlns:a16="http://schemas.microsoft.com/office/drawing/2014/main" id="{95943588-0F03-2D36-932E-D3FADF3EF547}"/>
              </a:ext>
            </a:extLst>
          </p:cNvPr>
          <p:cNvSpPr txBox="1"/>
          <p:nvPr/>
        </p:nvSpPr>
        <p:spPr>
          <a:xfrm>
            <a:off x="-15081" y="3842230"/>
            <a:ext cx="3138519" cy="1204304"/>
          </a:xfrm>
          <a:prstGeom prst="rect">
            <a:avLst/>
          </a:prstGeom>
          <a:noFill/>
        </p:spPr>
        <p:txBody>
          <a:bodyPr wrap="square">
            <a:spAutoFit/>
          </a:bodyPr>
          <a:lstStyle/>
          <a:p>
            <a:pPr algn="just">
              <a:lnSpc>
                <a:spcPct val="150000"/>
              </a:lnSpc>
            </a:pPr>
            <a:r>
              <a:rPr lang="zh-CN" altLang="en-US" sz="1600" dirty="0"/>
              <a:t>      </a:t>
            </a:r>
            <a:r>
              <a:rPr lang="zh-CN" altLang="en-US" b="1" kern="1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自由度</a:t>
            </a:r>
            <a:r>
              <a:rPr lang="zh-CN" altLang="en-US" sz="1600" dirty="0"/>
              <a:t>设计的不合理或者自由度之间不匹配都会对系统的静态和动态特性造成一定的影响。</a:t>
            </a:r>
          </a:p>
        </p:txBody>
      </p:sp>
      <p:sp>
        <p:nvSpPr>
          <p:cNvPr id="44" name="箭头: 下 43">
            <a:extLst>
              <a:ext uri="{FF2B5EF4-FFF2-40B4-BE49-F238E27FC236}">
                <a16:creationId xmlns:a16="http://schemas.microsoft.com/office/drawing/2014/main" id="{90A38D86-835C-67CD-9F2B-1AD6D7F9ADA4}"/>
              </a:ext>
            </a:extLst>
          </p:cNvPr>
          <p:cNvSpPr/>
          <p:nvPr/>
        </p:nvSpPr>
        <p:spPr>
          <a:xfrm>
            <a:off x="1481640" y="3529577"/>
            <a:ext cx="144020" cy="312653"/>
          </a:xfrm>
          <a:prstGeom prst="downArrow">
            <a:avLst/>
          </a:prstGeom>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44152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sym typeface="+mn-ea"/>
              </a:rPr>
              <a:t>研究方案</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灵敏度分析</a:t>
            </a:r>
          </a:p>
        </p:txBody>
      </p:sp>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4788030" y="1600201"/>
                <a:ext cx="3898770" cy="3989100"/>
              </a:xfrm>
            </p:spPr>
            <p:txBody>
              <a:bodyPr anchor="ctr">
                <a:normAutofit/>
              </a:bodyPr>
              <a:lstStyle/>
              <a:p>
                <a:pPr>
                  <a:lnSpc>
                    <a:spcPct val="150000"/>
                  </a:lnSpc>
                  <a:buClr>
                    <a:srgbClr val="FF0000"/>
                  </a:buClr>
                  <a:buFont typeface="Wingdings" panose="05000000000000000000" pitchFamily="2" charset="2"/>
                  <a:buChar char="Ø"/>
                  <a:tabLst>
                    <a:tab pos="1071563" algn="l"/>
                  </a:tabLst>
                </a:pPr>
                <a:r>
                  <a:rPr lang="zh-CN" altLang="zh-CN" sz="1800" spc="-25" dirty="0">
                    <a:effectLst/>
                    <a:latin typeface="Times New Roman" panose="02020603050405020304" pitchFamily="18" charset="0"/>
                    <a:ea typeface="宋体" panose="02010600030101010101" pitchFamily="2" charset="-122"/>
                  </a:rPr>
                  <a:t>灵敏度分析常用来研究分离过程中各工艺参数间的关系和目标产品纯度的相互影响趋势。</a:t>
                </a:r>
                <a:endParaRPr lang="en-US" altLang="zh-CN" sz="1800" spc="-25" dirty="0">
                  <a:effectLst/>
                  <a:latin typeface="Times New Roman" panose="02020603050405020304" pitchFamily="18" charset="0"/>
                  <a:ea typeface="宋体" panose="02010600030101010101" pitchFamily="2" charset="-122"/>
                </a:endParaRPr>
              </a:p>
              <a:p>
                <a:pPr>
                  <a:lnSpc>
                    <a:spcPct val="150000"/>
                  </a:lnSpc>
                  <a:buClr>
                    <a:srgbClr val="FF0000"/>
                  </a:buClr>
                  <a:buFont typeface="Wingdings" panose="05000000000000000000" pitchFamily="2" charset="2"/>
                  <a:buChar char="Ø"/>
                  <a:tabLst>
                    <a:tab pos="1071563" algn="l"/>
                  </a:tabLst>
                </a:pPr>
                <a:r>
                  <a:rPr lang="zh-CN" altLang="zh-CN" sz="1800" spc="-25" dirty="0">
                    <a:effectLst/>
                    <a:latin typeface="Times New Roman" panose="02020603050405020304" pitchFamily="18" charset="0"/>
                    <a:ea typeface="宋体" panose="02010600030101010101" pitchFamily="2" charset="-122"/>
                  </a:rPr>
                  <a:t>在稳态模拟中的“</a:t>
                </a:r>
                <a:r>
                  <a:rPr lang="en-US" altLang="zh-CN" sz="1800" spc="-25" dirty="0">
                    <a:effectLst/>
                    <a:latin typeface="Times New Roman" panose="02020603050405020304" pitchFamily="18" charset="0"/>
                    <a:ea typeface="宋体" panose="02010600030101010101" pitchFamily="2" charset="-122"/>
                  </a:rPr>
                  <a:t>Sensitivity</a:t>
                </a:r>
                <a:r>
                  <a:rPr lang="zh-CN" altLang="zh-CN" sz="1800" spc="-25" dirty="0">
                    <a:effectLst/>
                    <a:latin typeface="Times New Roman" panose="02020603050405020304" pitchFamily="18" charset="0"/>
                    <a:ea typeface="宋体" panose="02010600030101010101" pitchFamily="2" charset="-122"/>
                  </a:rPr>
                  <a:t>”模块下，可以实现这种功能。</a:t>
                </a:r>
                <a:endParaRPr lang="en-US" altLang="zh-CN" sz="1800" spc="-25" dirty="0">
                  <a:effectLst/>
                  <a:latin typeface="Times New Roman" panose="02020603050405020304" pitchFamily="18" charset="0"/>
                  <a:ea typeface="宋体" panose="02010600030101010101" pitchFamily="2" charset="-122"/>
                </a:endParaRPr>
              </a:p>
              <a:p>
                <a:pPr>
                  <a:lnSpc>
                    <a:spcPct val="150000"/>
                  </a:lnSpc>
                  <a:buClr>
                    <a:srgbClr val="FF0000"/>
                  </a:buClr>
                  <a:buFont typeface="Wingdings" panose="05000000000000000000" pitchFamily="2" charset="2"/>
                  <a:buChar char="Ø"/>
                  <a:tabLst>
                    <a:tab pos="1071563" algn="l"/>
                  </a:tabLst>
                </a:pPr>
                <a:r>
                  <a:rPr lang="zh-CN" altLang="zh-CN" sz="1800" spc="-25" dirty="0">
                    <a:effectLst/>
                    <a:latin typeface="Times New Roman" panose="02020603050405020304" pitchFamily="18" charset="0"/>
                    <a:ea typeface="宋体" panose="02010600030101010101" pitchFamily="2" charset="-122"/>
                  </a:rPr>
                  <a:t>以萃取精馏塔回流比（</a:t>
                </a:r>
                <a:r>
                  <a:rPr lang="en-US" altLang="zh-CN" sz="1800" spc="-25" dirty="0">
                    <a:effectLst/>
                    <a:latin typeface="Times New Roman" panose="02020603050405020304" pitchFamily="18" charset="0"/>
                    <a:ea typeface="宋体" panose="02010600030101010101" pitchFamily="2" charset="-122"/>
                  </a:rPr>
                  <a:t>RR</a:t>
                </a:r>
                <a:r>
                  <a:rPr lang="en-US" altLang="zh-CN" sz="1800" spc="-25" baseline="-25000" dirty="0">
                    <a:effectLst/>
                    <a:latin typeface="Times New Roman" panose="02020603050405020304" pitchFamily="18" charset="0"/>
                    <a:ea typeface="宋体" panose="02010600030101010101" pitchFamily="2" charset="-122"/>
                  </a:rPr>
                  <a:t>1</a:t>
                </a:r>
                <a:r>
                  <a:rPr lang="zh-CN" altLang="zh-CN" sz="1800" spc="-25" dirty="0">
                    <a:effectLst/>
                    <a:latin typeface="Times New Roman" panose="02020603050405020304" pitchFamily="18" charset="0"/>
                    <a:ea typeface="宋体" panose="02010600030101010101" pitchFamily="2" charset="-122"/>
                  </a:rPr>
                  <a:t>）和</a:t>
                </a:r>
                <a:r>
                  <a:rPr lang="zh-CN" altLang="en-US" sz="1800" spc="-25" dirty="0">
                    <a:effectLst/>
                    <a:latin typeface="Times New Roman" panose="02020603050405020304" pitchFamily="18" charset="0"/>
                    <a:ea typeface="宋体" panose="02010600030101010101" pitchFamily="2" charset="-122"/>
                  </a:rPr>
                  <a:t>气相分率</a:t>
                </a:r>
                <a:r>
                  <a:rPr lang="zh-CN" altLang="zh-CN" sz="1800" spc="-25" dirty="0">
                    <a:effectLst/>
                    <a:latin typeface="Times New Roman" panose="02020603050405020304" pitchFamily="18" charset="0"/>
                    <a:ea typeface="宋体" panose="02010600030101010101" pitchFamily="2" charset="-122"/>
                  </a:rPr>
                  <a:t>（</a:t>
                </a:r>
                <a:r>
                  <a:rPr lang="en-US" altLang="zh-CN" sz="1100" dirty="0"/>
                  <a:t> </a:t>
                </a:r>
                <a14:m>
                  <m:oMath xmlns:m="http://schemas.openxmlformats.org/officeDocument/2006/math">
                    <m:sSub>
                      <m:sSubPr>
                        <m:ctrlPr>
                          <a:rPr lang="zh-CN" altLang="zh-CN" sz="1800" i="1" kern="100" spc="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spc="-25">
                            <a:effectLst/>
                            <a:latin typeface="Cambria Math" panose="02040503050406030204" pitchFamily="18" charset="0"/>
                            <a:ea typeface="宋体" panose="02010600030101010101" pitchFamily="2" charset="-122"/>
                          </a:rPr>
                          <m:t>𝛼</m:t>
                        </m:r>
                      </m:e>
                      <m:sub>
                        <m:r>
                          <a:rPr lang="en-US" altLang="zh-CN" sz="1800" i="1" spc="-25">
                            <a:effectLst/>
                            <a:latin typeface="Cambria Math" panose="02040503050406030204" pitchFamily="18" charset="0"/>
                            <a:ea typeface="宋体" panose="02010600030101010101" pitchFamily="2" charset="-122"/>
                          </a:rPr>
                          <m:t>𝑉</m:t>
                        </m:r>
                      </m:sub>
                    </m:sSub>
                    <m:r>
                      <a:rPr lang="en-US" altLang="zh-CN" sz="1800" i="1" spc="-25">
                        <a:effectLst/>
                        <a:latin typeface="Cambria Math" panose="02040503050406030204" pitchFamily="18" charset="0"/>
                        <a:ea typeface="宋体" panose="02010600030101010101" pitchFamily="2" charset="-122"/>
                      </a:rPr>
                      <m:t> </m:t>
                    </m:r>
                  </m:oMath>
                </a14:m>
                <a:r>
                  <a:rPr lang="zh-CN" altLang="zh-CN" sz="1800" spc="-25" dirty="0">
                    <a:effectLst/>
                    <a:latin typeface="Times New Roman" panose="02020603050405020304" pitchFamily="18" charset="0"/>
                    <a:ea typeface="宋体" panose="02010600030101010101" pitchFamily="2" charset="-122"/>
                  </a:rPr>
                  <a:t>）的灵敏度分析为例</a:t>
                </a:r>
                <a:r>
                  <a:rPr lang="zh-CN" altLang="en-US" sz="1800" spc="-25" dirty="0">
                    <a:latin typeface="Times New Roman" panose="02020603050405020304" pitchFamily="18" charset="0"/>
                    <a:ea typeface="宋体" panose="02010600030101010101" pitchFamily="2" charset="-122"/>
                  </a:rPr>
                  <a:t>进行分析</a:t>
                </a:r>
                <a:endParaRPr lang="en-US" altLang="zh-CN" sz="1800" spc="-25" dirty="0">
                  <a:effectLst/>
                  <a:latin typeface="Times New Roman" panose="02020603050405020304" pitchFamily="18" charset="0"/>
                  <a:ea typeface="宋体" panose="02010600030101010101" pitchFamily="2" charset="-122"/>
                </a:endParaRPr>
              </a:p>
              <a:p>
                <a:pPr>
                  <a:lnSpc>
                    <a:spcPct val="150000"/>
                  </a:lnSpc>
                  <a:buClr>
                    <a:srgbClr val="FF0000"/>
                  </a:buClr>
                  <a:buFont typeface="Wingdings" panose="05000000000000000000" pitchFamily="2" charset="2"/>
                  <a:buChar char="Ø"/>
                  <a:tabLst>
                    <a:tab pos="1071563" algn="l"/>
                  </a:tabLst>
                </a:pPr>
                <a:endParaRPr lang="zh-CN" altLang="zh-CN" sz="1800" spc="-25" dirty="0">
                  <a:effectLst/>
                  <a:latin typeface="Times New Roman" panose="02020603050405020304" pitchFamily="18" charset="0"/>
                  <a:ea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4788030" y="1600201"/>
                <a:ext cx="3898770" cy="3989100"/>
              </a:xfrm>
              <a:blipFill>
                <a:blip r:embed="rId3"/>
                <a:stretch>
                  <a:fillRect l="-938"/>
                </a:stretch>
              </a:blipFill>
            </p:spPr>
            <p:txBody>
              <a:bodyPr/>
              <a:lstStyle/>
              <a:p>
                <a:r>
                  <a:rPr lang="zh-CN" altLang="en-US">
                    <a:noFill/>
                  </a:rPr>
                  <a:t> </a:t>
                </a:r>
              </a:p>
            </p:txBody>
          </p:sp>
        </mc:Fallback>
      </mc:AlternateContent>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22</a:t>
            </a:fld>
            <a:endParaRPr lang="zh-CN" altLang="en-US" dirty="0">
              <a:solidFill>
                <a:srgbClr val="FFFFFF"/>
              </a:solidFill>
              <a:latin typeface="Arial" panose="020B0604020202020204" pitchFamily="34" charset="0"/>
              <a:cs typeface="Arial" panose="020B0604020202020204" pitchFamily="34" charset="0"/>
            </a:endParaRPr>
          </a:p>
        </p:txBody>
      </p:sp>
      <p:pic>
        <p:nvPicPr>
          <p:cNvPr id="5" name="图片 4">
            <a:extLst>
              <a:ext uri="{FF2B5EF4-FFF2-40B4-BE49-F238E27FC236}">
                <a16:creationId xmlns:a16="http://schemas.microsoft.com/office/drawing/2014/main" id="{5BF6C709-C8BD-1570-5596-9C10771FB5A2}"/>
              </a:ext>
            </a:extLst>
          </p:cNvPr>
          <p:cNvPicPr>
            <a:picLocks noChangeAspect="1"/>
          </p:cNvPicPr>
          <p:nvPr/>
        </p:nvPicPr>
        <p:blipFill>
          <a:blip r:embed="rId4"/>
          <a:stretch>
            <a:fillRect/>
          </a:stretch>
        </p:blipFill>
        <p:spPr>
          <a:xfrm>
            <a:off x="492296" y="1772770"/>
            <a:ext cx="3863675" cy="2949196"/>
          </a:xfrm>
          <a:prstGeom prst="rect">
            <a:avLst/>
          </a:prstGeom>
        </p:spPr>
      </p:pic>
      <p:sp>
        <p:nvSpPr>
          <p:cNvPr id="6" name="文本框 5">
            <a:extLst>
              <a:ext uri="{FF2B5EF4-FFF2-40B4-BE49-F238E27FC236}">
                <a16:creationId xmlns:a16="http://schemas.microsoft.com/office/drawing/2014/main" id="{1CB76F69-266F-ADEF-B66B-B28C719338DF}"/>
              </a:ext>
            </a:extLst>
          </p:cNvPr>
          <p:cNvSpPr txBox="1"/>
          <p:nvPr/>
        </p:nvSpPr>
        <p:spPr>
          <a:xfrm>
            <a:off x="778310" y="5187792"/>
            <a:ext cx="3384470" cy="646331"/>
          </a:xfrm>
          <a:prstGeom prst="rect">
            <a:avLst/>
          </a:prstGeom>
          <a:noFill/>
        </p:spPr>
        <p:txBody>
          <a:bodyPr wrap="square" rtlCol="0">
            <a:spAutoFit/>
          </a:bodyPr>
          <a:lstStyle/>
          <a:p>
            <a:r>
              <a:rPr lang="zh-CN" altLang="en-US" dirty="0"/>
              <a:t>回流比</a:t>
            </a:r>
            <a:r>
              <a:rPr lang="en-US" altLang="zh-CN" dirty="0"/>
              <a:t>RR</a:t>
            </a:r>
            <a:r>
              <a:rPr lang="en-US" altLang="zh-CN" baseline="-25000" dirty="0"/>
              <a:t>1</a:t>
            </a:r>
            <a:r>
              <a:rPr lang="zh-CN" altLang="en-US" dirty="0"/>
              <a:t>与气相分率</a:t>
            </a:r>
            <a:r>
              <a:rPr lang="en-US" altLang="zh-CN" dirty="0"/>
              <a:t>α</a:t>
            </a:r>
            <a:r>
              <a:rPr lang="en-US" altLang="zh-CN" baseline="-25000" dirty="0"/>
              <a:t>V</a:t>
            </a:r>
            <a:r>
              <a:rPr lang="zh-CN" altLang="en-US" dirty="0"/>
              <a:t>对再沸器热负荷</a:t>
            </a:r>
            <a:r>
              <a:rPr lang="en-US" altLang="zh-CN" dirty="0"/>
              <a:t>(Q</a:t>
            </a:r>
            <a:r>
              <a:rPr lang="en-US" altLang="zh-CN" baseline="-25000" dirty="0"/>
              <a:t>R</a:t>
            </a:r>
            <a:r>
              <a:rPr lang="en-US" altLang="zh-CN" dirty="0"/>
              <a:t>)</a:t>
            </a:r>
            <a:r>
              <a:rPr lang="zh-CN" altLang="en-US" dirty="0"/>
              <a:t>的影响 </a:t>
            </a:r>
          </a:p>
        </p:txBody>
      </p:sp>
    </p:spTree>
    <p:extLst>
      <p:ext uri="{BB962C8B-B14F-4D97-AF65-F5344CB8AC3E}">
        <p14:creationId xmlns:p14="http://schemas.microsoft.com/office/powerpoint/2010/main" val="3429024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sym typeface="+mn-ea"/>
              </a:rPr>
              <a:t>研究方案</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多目标遗传算法</a:t>
            </a:r>
            <a:br>
              <a:rPr lang="en-US" altLang="zh-CN" sz="2400" b="1" dirty="0">
                <a:solidFill>
                  <a:srgbClr val="C00000"/>
                </a:solidFill>
                <a:latin typeface="微软雅黑" panose="020B0503020204020204" pitchFamily="34" charset="-122"/>
                <a:ea typeface="微软雅黑" panose="020B0503020204020204" pitchFamily="34" charset="-122"/>
              </a:rPr>
            </a:b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优化策略</a:t>
            </a:r>
          </a:p>
        </p:txBody>
      </p:sp>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457200" y="1600201"/>
                <a:ext cx="8229600" cy="3989100"/>
              </a:xfrm>
            </p:spPr>
            <p:txBody>
              <a:bodyPr anchor="ctr">
                <a:normAutofit/>
              </a:bodyPr>
              <a:lstStyle/>
              <a:p>
                <a:pPr indent="0">
                  <a:lnSpc>
                    <a:spcPct val="150000"/>
                  </a:lnSpc>
                  <a:buNone/>
                </a:pPr>
                <a14:m>
                  <m:oMathPara xmlns:m="http://schemas.openxmlformats.org/officeDocument/2006/math">
                    <m:oMathParaPr>
                      <m:jc m:val="centerGroup"/>
                    </m:oMathParaPr>
                    <m:oMath xmlns:m="http://schemas.openxmlformats.org/officeDocument/2006/math">
                      <m:func>
                        <m:funcPr>
                          <m:ctrlPr>
                            <a:rPr lang="zh-CN" altLang="zh-CN" sz="1800" i="1" spc="-25" smtClean="0">
                              <a:effectLst/>
                              <a:latin typeface="Cambria Math" panose="02040503050406030204" pitchFamily="18" charset="0"/>
                              <a:ea typeface="Cambria Math" panose="02040503050406030204" pitchFamily="18" charset="0"/>
                            </a:rPr>
                          </m:ctrlPr>
                        </m:funcPr>
                        <m:fName>
                          <m:r>
                            <m:rPr>
                              <m:sty m:val="p"/>
                            </m:rPr>
                            <a:rPr lang="en-US" altLang="zh-CN" sz="1800" spc="-25">
                              <a:effectLst/>
                              <a:latin typeface="Cambria Math" panose="02040503050406030204" pitchFamily="18" charset="0"/>
                              <a:ea typeface="宋体" panose="02010600030101010101" pitchFamily="2" charset="-122"/>
                            </a:rPr>
                            <m:t>min</m:t>
                          </m:r>
                        </m:fName>
                        <m:e>
                          <m:d>
                            <m:dPr>
                              <m:ctrlPr>
                                <a:rPr lang="zh-CN" altLang="zh-CN" sz="1800" i="1" spc="-25">
                                  <a:effectLst/>
                                  <a:latin typeface="Cambria Math" panose="02040503050406030204" pitchFamily="18" charset="0"/>
                                  <a:ea typeface="Cambria Math" panose="02040503050406030204" pitchFamily="18" charset="0"/>
                                </a:rPr>
                              </m:ctrlPr>
                            </m:dPr>
                            <m:e>
                              <m:r>
                                <a:rPr lang="en-US" altLang="zh-CN" sz="1800" i="1" spc="-25">
                                  <a:effectLst/>
                                  <a:latin typeface="Cambria Math" panose="02040503050406030204" pitchFamily="18" charset="0"/>
                                  <a:ea typeface="宋体" panose="02010600030101010101" pitchFamily="2" charset="-122"/>
                                </a:rPr>
                                <m:t>𝑇𝐴𝐶</m:t>
                              </m:r>
                              <m:r>
                                <a:rPr lang="en-US" altLang="zh-CN" sz="1800" i="1" spc="-25">
                                  <a:effectLst/>
                                  <a:latin typeface="Cambria Math" panose="02040503050406030204" pitchFamily="18" charset="0"/>
                                  <a:ea typeface="宋体" panose="02010600030101010101" pitchFamily="2" charset="-122"/>
                                </a:rPr>
                                <m:t>,</m:t>
                              </m:r>
                              <m:sSub>
                                <m:sSubPr>
                                  <m:ctrlPr>
                                    <a:rPr lang="zh-CN" altLang="zh-CN" sz="1800" i="1" kern="100" spc="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spc="-25">
                                      <a:effectLst/>
                                      <a:latin typeface="Cambria Math" panose="02040503050406030204" pitchFamily="18" charset="0"/>
                                      <a:ea typeface="宋体" panose="02010600030101010101" pitchFamily="2" charset="-122"/>
                                    </a:rPr>
                                    <m:t>𝑄</m:t>
                                  </m:r>
                                </m:e>
                                <m:sub>
                                  <m:r>
                                    <a:rPr lang="en-US" altLang="zh-CN" sz="1800" i="1" spc="-25">
                                      <a:effectLst/>
                                      <a:latin typeface="Cambria Math" panose="02040503050406030204" pitchFamily="18" charset="0"/>
                                      <a:ea typeface="宋体" panose="02010600030101010101" pitchFamily="2" charset="-122"/>
                                    </a:rPr>
                                    <m:t>𝑅</m:t>
                                  </m:r>
                                </m:sub>
                              </m:sSub>
                              <m:r>
                                <a:rPr lang="en-US" altLang="zh-CN" sz="1800" i="1" spc="-25">
                                  <a:effectLst/>
                                  <a:latin typeface="Cambria Math" panose="02040503050406030204" pitchFamily="18" charset="0"/>
                                  <a:ea typeface="宋体" panose="02010600030101010101" pitchFamily="2" charset="-122"/>
                                </a:rPr>
                                <m:t>,</m:t>
                              </m:r>
                              <m:r>
                                <a:rPr lang="en-US" altLang="zh-CN" sz="1800" i="1" spc="-25">
                                  <a:effectLst/>
                                  <a:latin typeface="Cambria Math" panose="02040503050406030204" pitchFamily="18" charset="0"/>
                                  <a:ea typeface="宋体" panose="02010600030101010101" pitchFamily="2" charset="-122"/>
                                </a:rPr>
                                <m:t>𝑆</m:t>
                              </m:r>
                            </m:e>
                          </m:d>
                        </m:e>
                      </m:func>
                      <m:r>
                        <a:rPr lang="en-US" altLang="zh-CN" sz="1800" i="1" spc="-25">
                          <a:effectLst/>
                          <a:latin typeface="Cambria Math" panose="02040503050406030204" pitchFamily="18" charset="0"/>
                          <a:ea typeface="宋体" panose="02010600030101010101" pitchFamily="2" charset="-122"/>
                        </a:rPr>
                        <m:t>=</m:t>
                      </m:r>
                      <m:r>
                        <a:rPr lang="en-US" altLang="zh-CN" sz="1800" i="1" spc="-25">
                          <a:effectLst/>
                          <a:latin typeface="Cambria Math" panose="02040503050406030204" pitchFamily="18" charset="0"/>
                          <a:ea typeface="宋体" panose="02010600030101010101" pitchFamily="2" charset="-122"/>
                        </a:rPr>
                        <m:t>𝑓</m:t>
                      </m:r>
                      <m:r>
                        <a:rPr lang="en-US" altLang="zh-CN" sz="1800" i="1" spc="-25">
                          <a:effectLst/>
                          <a:latin typeface="Cambria Math" panose="02040503050406030204" pitchFamily="18" charset="0"/>
                          <a:ea typeface="宋体" panose="02010600030101010101" pitchFamily="2" charset="-122"/>
                        </a:rPr>
                        <m:t>(</m:t>
                      </m:r>
                      <m:sSub>
                        <m:sSubPr>
                          <m:ctrlPr>
                            <a:rPr lang="zh-CN" altLang="zh-CN" sz="1800" i="1" spc="-25">
                              <a:effectLst/>
                              <a:latin typeface="Cambria Math" panose="02040503050406030204" pitchFamily="18" charset="0"/>
                              <a:ea typeface="Cambria Math" panose="02040503050406030204" pitchFamily="18" charset="0"/>
                            </a:rPr>
                          </m:ctrlPr>
                        </m:sSubPr>
                        <m:e>
                          <m:r>
                            <a:rPr lang="en-US" altLang="zh-CN" sz="1800" i="1" spc="-25">
                              <a:effectLst/>
                              <a:latin typeface="Cambria Math" panose="02040503050406030204" pitchFamily="18" charset="0"/>
                              <a:ea typeface="宋体" panose="02010600030101010101" pitchFamily="2" charset="-122"/>
                            </a:rPr>
                            <m:t>𝑁</m:t>
                          </m:r>
                        </m:e>
                        <m:sub>
                          <m:r>
                            <a:rPr lang="en-US" altLang="zh-CN" sz="1800" i="1" spc="-25">
                              <a:effectLst/>
                              <a:latin typeface="Cambria Math" panose="02040503050406030204" pitchFamily="18" charset="0"/>
                              <a:ea typeface="宋体" panose="02010600030101010101" pitchFamily="2" charset="-122"/>
                            </a:rPr>
                            <m:t>𝐼𝐼</m:t>
                          </m:r>
                        </m:sub>
                      </m:sSub>
                      <m:r>
                        <a:rPr lang="en-US" altLang="zh-CN" sz="1800" i="1" spc="-25">
                          <a:effectLst/>
                          <a:latin typeface="Cambria Math" panose="02040503050406030204" pitchFamily="18" charset="0"/>
                          <a:ea typeface="宋体" panose="02010600030101010101" pitchFamily="2" charset="-122"/>
                        </a:rPr>
                        <m:t>,</m:t>
                      </m:r>
                      <m:sSub>
                        <m:sSubPr>
                          <m:ctrlPr>
                            <a:rPr lang="zh-CN" altLang="zh-CN" sz="1800" i="1" spc="-25">
                              <a:effectLst/>
                              <a:latin typeface="Cambria Math" panose="02040503050406030204" pitchFamily="18" charset="0"/>
                              <a:ea typeface="Cambria Math" panose="02040503050406030204" pitchFamily="18" charset="0"/>
                            </a:rPr>
                          </m:ctrlPr>
                        </m:sSubPr>
                        <m:e>
                          <m:r>
                            <a:rPr lang="en-US" altLang="zh-CN" sz="1800" i="1" spc="-25">
                              <a:effectLst/>
                              <a:latin typeface="Cambria Math" panose="02040503050406030204" pitchFamily="18" charset="0"/>
                              <a:ea typeface="宋体" panose="02010600030101010101" pitchFamily="2" charset="-122"/>
                            </a:rPr>
                            <m:t>𝑁</m:t>
                          </m:r>
                        </m:e>
                        <m:sub>
                          <m:r>
                            <a:rPr lang="en-US" altLang="zh-CN" sz="1800" i="1" spc="-25">
                              <a:effectLst/>
                              <a:latin typeface="Cambria Math" panose="02040503050406030204" pitchFamily="18" charset="0"/>
                              <a:ea typeface="宋体" panose="02010600030101010101" pitchFamily="2" charset="-122"/>
                            </a:rPr>
                            <m:t>𝐼𝐼𝐼</m:t>
                          </m:r>
                        </m:sub>
                      </m:sSub>
                      <m:r>
                        <a:rPr lang="en-US" altLang="zh-CN" sz="1800" i="1" spc="-25">
                          <a:effectLst/>
                          <a:latin typeface="Cambria Math" panose="02040503050406030204" pitchFamily="18" charset="0"/>
                          <a:ea typeface="宋体" panose="02010600030101010101" pitchFamily="2" charset="-122"/>
                        </a:rPr>
                        <m:t>,</m:t>
                      </m:r>
                      <m:sSub>
                        <m:sSubPr>
                          <m:ctrlPr>
                            <a:rPr lang="zh-CN" altLang="zh-CN" sz="1800" i="1" spc="-25">
                              <a:effectLst/>
                              <a:latin typeface="Cambria Math" panose="02040503050406030204" pitchFamily="18" charset="0"/>
                              <a:ea typeface="Cambria Math" panose="02040503050406030204" pitchFamily="18" charset="0"/>
                            </a:rPr>
                          </m:ctrlPr>
                        </m:sSubPr>
                        <m:e>
                          <m:r>
                            <a:rPr lang="en-US" altLang="zh-CN" sz="1800" i="1" spc="-25">
                              <a:effectLst/>
                              <a:latin typeface="Cambria Math" panose="02040503050406030204" pitchFamily="18" charset="0"/>
                              <a:ea typeface="宋体" panose="02010600030101010101" pitchFamily="2" charset="-122"/>
                            </a:rPr>
                            <m:t>𝑁</m:t>
                          </m:r>
                        </m:e>
                        <m:sub>
                          <m:r>
                            <a:rPr lang="en-US" altLang="zh-CN" sz="1800" i="1" spc="-25">
                              <a:effectLst/>
                              <a:latin typeface="Cambria Math" panose="02040503050406030204" pitchFamily="18" charset="0"/>
                              <a:ea typeface="宋体" panose="02010600030101010101" pitchFamily="2" charset="-122"/>
                            </a:rPr>
                            <m:t>𝐹</m:t>
                          </m:r>
                        </m:sub>
                      </m:sSub>
                      <m:r>
                        <a:rPr lang="en-US" altLang="zh-CN" sz="1800" i="1" spc="-25">
                          <a:effectLst/>
                          <a:latin typeface="Cambria Math" panose="02040503050406030204" pitchFamily="18" charset="0"/>
                          <a:ea typeface="宋体" panose="02010600030101010101" pitchFamily="2" charset="-122"/>
                        </a:rPr>
                        <m:t>,</m:t>
                      </m:r>
                      <m:sSub>
                        <m:sSubPr>
                          <m:ctrlPr>
                            <a:rPr lang="zh-CN" altLang="zh-CN" sz="1800" i="1" spc="-25">
                              <a:effectLst/>
                              <a:latin typeface="Cambria Math" panose="02040503050406030204" pitchFamily="18" charset="0"/>
                              <a:ea typeface="Cambria Math" panose="02040503050406030204" pitchFamily="18" charset="0"/>
                            </a:rPr>
                          </m:ctrlPr>
                        </m:sSubPr>
                        <m:e>
                          <m:r>
                            <a:rPr lang="en-US" altLang="zh-CN" sz="1800" i="1" spc="-25">
                              <a:effectLst/>
                              <a:latin typeface="Cambria Math" panose="02040503050406030204" pitchFamily="18" charset="0"/>
                              <a:ea typeface="宋体" panose="02010600030101010101" pitchFamily="2" charset="-122"/>
                            </a:rPr>
                            <m:t>𝑁</m:t>
                          </m:r>
                        </m:e>
                        <m:sub>
                          <m:r>
                            <a:rPr lang="en-US" altLang="zh-CN" sz="1800" i="1" spc="-25">
                              <a:effectLst/>
                              <a:latin typeface="Cambria Math" panose="02040503050406030204" pitchFamily="18" charset="0"/>
                              <a:ea typeface="宋体" panose="02010600030101010101" pitchFamily="2" charset="-122"/>
                            </a:rPr>
                            <m:t>𝑆</m:t>
                          </m:r>
                        </m:sub>
                      </m:sSub>
                      <m:r>
                        <a:rPr lang="en-US" altLang="zh-CN" sz="1800" i="1" spc="-25">
                          <a:effectLst/>
                          <a:latin typeface="Cambria Math" panose="02040503050406030204" pitchFamily="18" charset="0"/>
                          <a:ea typeface="宋体" panose="02010600030101010101" pitchFamily="2" charset="-122"/>
                        </a:rPr>
                        <m:t>,</m:t>
                      </m:r>
                      <m:sSub>
                        <m:sSubPr>
                          <m:ctrlPr>
                            <a:rPr lang="zh-CN" altLang="zh-CN" sz="1800" i="1" kern="100" spc="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spc="-25">
                              <a:effectLst/>
                              <a:latin typeface="Cambria Math" panose="02040503050406030204" pitchFamily="18" charset="0"/>
                              <a:ea typeface="宋体" panose="02010600030101010101" pitchFamily="2" charset="-122"/>
                            </a:rPr>
                            <m:t>𝑄</m:t>
                          </m:r>
                        </m:e>
                        <m:sub>
                          <m:r>
                            <a:rPr lang="en-US" altLang="zh-CN" sz="1800" i="1" spc="-25">
                              <a:effectLst/>
                              <a:latin typeface="Cambria Math" panose="02040503050406030204" pitchFamily="18" charset="0"/>
                              <a:ea typeface="宋体" panose="02010600030101010101" pitchFamily="2" charset="-122"/>
                            </a:rPr>
                            <m:t>𝑅</m:t>
                          </m:r>
                        </m:sub>
                      </m:sSub>
                      <m:r>
                        <a:rPr lang="en-US" altLang="zh-CN" sz="1800" i="1" spc="-25">
                          <a:effectLst/>
                          <a:latin typeface="Cambria Math" panose="02040503050406030204" pitchFamily="18" charset="0"/>
                          <a:ea typeface="宋体" panose="02010600030101010101" pitchFamily="2" charset="-122"/>
                        </a:rPr>
                        <m:t>,</m:t>
                      </m:r>
                      <m:r>
                        <a:rPr lang="en-US" altLang="zh-CN" sz="1800" i="1" spc="-25">
                          <a:effectLst/>
                          <a:latin typeface="Cambria Math" panose="02040503050406030204" pitchFamily="18" charset="0"/>
                          <a:ea typeface="宋体" panose="02010600030101010101" pitchFamily="2" charset="-122"/>
                        </a:rPr>
                        <m:t>𝑆</m:t>
                      </m:r>
                      <m:r>
                        <a:rPr lang="en-US" altLang="zh-CN" sz="1800" i="1" spc="-25">
                          <a:effectLst/>
                          <a:latin typeface="Cambria Math" panose="02040503050406030204" pitchFamily="18" charset="0"/>
                          <a:ea typeface="宋体" panose="02010600030101010101" pitchFamily="2" charset="-122"/>
                        </a:rPr>
                        <m:t>,</m:t>
                      </m:r>
                      <m:sSub>
                        <m:sSubPr>
                          <m:ctrlPr>
                            <a:rPr lang="zh-CN" altLang="zh-CN" sz="1800" i="1" kern="100" spc="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spc="-25">
                              <a:effectLst/>
                              <a:latin typeface="Cambria Math" panose="02040503050406030204" pitchFamily="18" charset="0"/>
                              <a:ea typeface="宋体" panose="02010600030101010101" pitchFamily="2" charset="-122"/>
                            </a:rPr>
                            <m:t>𝛼</m:t>
                          </m:r>
                        </m:e>
                        <m:sub>
                          <m:r>
                            <a:rPr lang="en-US" altLang="zh-CN" sz="1800" i="1" spc="-25">
                              <a:effectLst/>
                              <a:latin typeface="Cambria Math" panose="02040503050406030204" pitchFamily="18" charset="0"/>
                              <a:ea typeface="宋体" panose="02010600030101010101" pitchFamily="2" charset="-122"/>
                            </a:rPr>
                            <m:t>𝑉</m:t>
                          </m:r>
                        </m:sub>
                      </m:sSub>
                      <m:r>
                        <a:rPr lang="en-US" altLang="zh-CN" sz="1800" b="0" i="1" spc="-25" smtClean="0">
                          <a:effectLst/>
                          <a:latin typeface="Cambria Math" panose="02040503050406030204" pitchFamily="18" charset="0"/>
                          <a:ea typeface="宋体" panose="02010600030101010101" pitchFamily="2" charset="-122"/>
                        </a:rPr>
                        <m:t>,</m:t>
                      </m:r>
                      <m:sSub>
                        <m:sSubPr>
                          <m:ctrlPr>
                            <a:rPr lang="en-US" altLang="zh-CN" sz="1800" b="0" i="1" spc="-25" smtClean="0">
                              <a:effectLst/>
                              <a:latin typeface="Cambria Math" panose="02040503050406030204" pitchFamily="18" charset="0"/>
                              <a:ea typeface="宋体" panose="02010600030101010101" pitchFamily="2" charset="-122"/>
                            </a:rPr>
                          </m:ctrlPr>
                        </m:sSubPr>
                        <m:e>
                          <m:r>
                            <a:rPr lang="zh-CN" altLang="en-US" sz="1800" b="0" i="1" spc="-25" smtClean="0">
                              <a:effectLst/>
                              <a:latin typeface="Cambria Math" panose="02040503050406030204" pitchFamily="18" charset="0"/>
                              <a:ea typeface="宋体" panose="02010600030101010101" pitchFamily="2" charset="-122"/>
                            </a:rPr>
                            <m:t>𝛽</m:t>
                          </m:r>
                        </m:e>
                        <m:sub>
                          <m:r>
                            <a:rPr lang="en-US" altLang="zh-CN" sz="1800" b="0" i="1" spc="-25" smtClean="0">
                              <a:effectLst/>
                              <a:latin typeface="Cambria Math" panose="02040503050406030204" pitchFamily="18" charset="0"/>
                              <a:ea typeface="宋体" panose="02010600030101010101" pitchFamily="2" charset="-122"/>
                            </a:rPr>
                            <m:t>𝐿</m:t>
                          </m:r>
                        </m:sub>
                      </m:sSub>
                      <m:r>
                        <a:rPr lang="en-US" altLang="zh-CN" sz="1800" i="1" spc="-25">
                          <a:effectLst/>
                          <a:latin typeface="Cambria Math" panose="02040503050406030204" pitchFamily="18" charset="0"/>
                          <a:ea typeface="宋体" panose="02010600030101010101" pitchFamily="2" charset="-122"/>
                        </a:rPr>
                        <m:t>)</m:t>
                      </m:r>
                    </m:oMath>
                  </m:oMathPara>
                </a14:m>
                <a:endParaRPr lang="zh-CN" altLang="zh-CN" sz="1800" spc="-25" dirty="0">
                  <a:effectLst/>
                  <a:latin typeface="Times New Roman" panose="02020603050405020304" pitchFamily="18" charset="0"/>
                  <a:ea typeface="宋体" panose="02010600030101010101" pitchFamily="2" charset="-122"/>
                </a:endParaRPr>
              </a:p>
              <a:p>
                <a:pPr indent="0">
                  <a:lnSpc>
                    <a:spcPct val="150000"/>
                  </a:lnSpc>
                  <a:buNone/>
                </a:pPr>
                <a14:m>
                  <m:oMathPara xmlns:m="http://schemas.openxmlformats.org/officeDocument/2006/math">
                    <m:oMathParaPr>
                      <m:jc m:val="centerGroup"/>
                    </m:oMathParaPr>
                    <m:oMath xmlns:m="http://schemas.openxmlformats.org/officeDocument/2006/math">
                      <m:r>
                        <a:rPr lang="en-US" altLang="zh-CN" sz="1800" i="1" spc="-25">
                          <a:effectLst/>
                          <a:latin typeface="Cambria Math" panose="02040503050406030204" pitchFamily="18" charset="0"/>
                          <a:ea typeface="宋体" panose="02010600030101010101" pitchFamily="2" charset="-122"/>
                        </a:rPr>
                        <m:t>𝑠𝑢𝑏𝑗𝑒𝑐𝑡</m:t>
                      </m:r>
                      <m:r>
                        <a:rPr lang="en-US" altLang="zh-CN" sz="1800" b="0" i="1" spc="-25" smtClean="0">
                          <a:effectLst/>
                          <a:latin typeface="Cambria Math" panose="02040503050406030204" pitchFamily="18" charset="0"/>
                          <a:ea typeface="宋体" panose="02010600030101010101" pitchFamily="2" charset="-122"/>
                        </a:rPr>
                        <m:t> </m:t>
                      </m:r>
                      <m:r>
                        <a:rPr lang="en-US" altLang="zh-CN" sz="1800" i="1" spc="-25">
                          <a:effectLst/>
                          <a:latin typeface="Cambria Math" panose="02040503050406030204" pitchFamily="18" charset="0"/>
                          <a:ea typeface="宋体" panose="02010600030101010101" pitchFamily="2" charset="-122"/>
                        </a:rPr>
                        <m:t>𝑡𝑜</m:t>
                      </m:r>
                      <m:sSub>
                        <m:sSubPr>
                          <m:ctrlPr>
                            <a:rPr lang="zh-CN" altLang="zh-CN" sz="1800" i="1" spc="-25">
                              <a:effectLst/>
                              <a:latin typeface="Cambria Math" panose="02040503050406030204" pitchFamily="18" charset="0"/>
                              <a:ea typeface="Cambria Math" panose="02040503050406030204" pitchFamily="18" charset="0"/>
                            </a:rPr>
                          </m:ctrlPr>
                        </m:sSubPr>
                        <m:e>
                          <m:r>
                            <a:rPr lang="en-US" altLang="zh-CN" sz="1800" b="0" i="1" spc="-25" smtClean="0">
                              <a:effectLst/>
                              <a:latin typeface="Cambria Math" panose="02040503050406030204" pitchFamily="18" charset="0"/>
                              <a:ea typeface="Cambria Math" panose="02040503050406030204" pitchFamily="18" charset="0"/>
                            </a:rPr>
                            <m:t> </m:t>
                          </m:r>
                          <m:r>
                            <a:rPr lang="en-US" altLang="zh-CN" sz="1800" i="1" spc="-25">
                              <a:effectLst/>
                              <a:latin typeface="Cambria Math" panose="02040503050406030204" pitchFamily="18" charset="0"/>
                              <a:ea typeface="宋体" panose="02010600030101010101" pitchFamily="2" charset="-122"/>
                            </a:rPr>
                            <m:t>𝑦</m:t>
                          </m:r>
                        </m:e>
                        <m:sub>
                          <m:r>
                            <a:rPr lang="en-US" altLang="zh-CN" sz="1800" i="1" spc="-25">
                              <a:effectLst/>
                              <a:latin typeface="Cambria Math" panose="02040503050406030204" pitchFamily="18" charset="0"/>
                              <a:ea typeface="宋体" panose="02010600030101010101" pitchFamily="2" charset="-122"/>
                            </a:rPr>
                            <m:t>𝑘</m:t>
                          </m:r>
                        </m:sub>
                      </m:sSub>
                      <m:r>
                        <a:rPr lang="en-US" altLang="zh-CN" sz="1800" i="1" spc="-25">
                          <a:effectLst/>
                          <a:latin typeface="Cambria Math" panose="02040503050406030204" pitchFamily="18" charset="0"/>
                          <a:ea typeface="宋体" panose="02010600030101010101" pitchFamily="2" charset="-122"/>
                        </a:rPr>
                        <m:t>≥</m:t>
                      </m:r>
                      <m:sSub>
                        <m:sSubPr>
                          <m:ctrlPr>
                            <a:rPr lang="zh-CN" altLang="zh-CN" sz="1800" i="1" spc="-25">
                              <a:effectLst/>
                              <a:latin typeface="Cambria Math" panose="02040503050406030204" pitchFamily="18" charset="0"/>
                              <a:ea typeface="Cambria Math" panose="02040503050406030204" pitchFamily="18" charset="0"/>
                            </a:rPr>
                          </m:ctrlPr>
                        </m:sSubPr>
                        <m:e>
                          <m:r>
                            <a:rPr lang="en-US" altLang="zh-CN" sz="1800" i="1" spc="-25">
                              <a:effectLst/>
                              <a:latin typeface="Cambria Math" panose="02040503050406030204" pitchFamily="18" charset="0"/>
                              <a:ea typeface="宋体" panose="02010600030101010101" pitchFamily="2" charset="-122"/>
                            </a:rPr>
                            <m:t>𝑥</m:t>
                          </m:r>
                        </m:e>
                        <m:sub>
                          <m:r>
                            <a:rPr lang="en-US" altLang="zh-CN" sz="1800" i="1" spc="-25">
                              <a:effectLst/>
                              <a:latin typeface="Cambria Math" panose="02040503050406030204" pitchFamily="18" charset="0"/>
                              <a:ea typeface="宋体" panose="02010600030101010101" pitchFamily="2" charset="-122"/>
                            </a:rPr>
                            <m:t>𝑘</m:t>
                          </m:r>
                        </m:sub>
                      </m:sSub>
                    </m:oMath>
                  </m:oMathPara>
                </a14:m>
                <a:endParaRPr lang="en-US" altLang="zh-CN" sz="1800" spc="-25" dirty="0">
                  <a:effectLst/>
                  <a:latin typeface="Times New Roman" panose="02020603050405020304" pitchFamily="18" charset="0"/>
                  <a:ea typeface="宋体" panose="02010600030101010101" pitchFamily="2" charset="-122"/>
                </a:endParaRPr>
              </a:p>
              <a:p>
                <a:pPr indent="0">
                  <a:lnSpc>
                    <a:spcPct val="150000"/>
                  </a:lnSpc>
                  <a:buNone/>
                </a:pPr>
                <a14:m>
                  <m:oMathPara xmlns:m="http://schemas.openxmlformats.org/officeDocument/2006/math">
                    <m:oMathParaPr>
                      <m:jc m:val="centerGroup"/>
                    </m:oMathParaPr>
                    <m:oMath xmlns:m="http://schemas.openxmlformats.org/officeDocument/2006/math">
                      <m:r>
                        <a:rPr lang="en-US" altLang="zh-CN" sz="1800" i="1" spc="-25" smtClean="0">
                          <a:effectLst/>
                          <a:latin typeface="Cambria Math" panose="02040503050406030204" pitchFamily="18" charset="0"/>
                          <a:ea typeface="宋体" panose="02010600030101010101" pitchFamily="2" charset="-122"/>
                        </a:rPr>
                        <m:t>𝑇𝐴𝐶</m:t>
                      </m:r>
                      <m:r>
                        <a:rPr lang="en-US" altLang="zh-CN" sz="1800" i="1" spc="-25" smtClean="0">
                          <a:effectLst/>
                          <a:latin typeface="Cambria Math" panose="02040503050406030204" pitchFamily="18" charset="0"/>
                          <a:ea typeface="宋体" panose="02010600030101010101" pitchFamily="2" charset="-122"/>
                        </a:rPr>
                        <m:t>=</m:t>
                      </m:r>
                      <m:r>
                        <a:rPr lang="en-US" altLang="zh-CN" sz="1800" i="1" spc="-25" smtClean="0">
                          <a:effectLst/>
                          <a:latin typeface="Cambria Math" panose="02040503050406030204" pitchFamily="18" charset="0"/>
                          <a:ea typeface="宋体" panose="02010600030101010101" pitchFamily="2" charset="-122"/>
                        </a:rPr>
                        <m:t>𝑒𝑛𝑒𝑟𝑔𝑦</m:t>
                      </m:r>
                      <m:r>
                        <a:rPr lang="en-US" altLang="zh-CN" sz="1800" i="1" spc="-25" smtClean="0">
                          <a:effectLst/>
                          <a:latin typeface="Cambria Math" panose="02040503050406030204" pitchFamily="18" charset="0"/>
                          <a:ea typeface="宋体" panose="02010600030101010101" pitchFamily="2" charset="-122"/>
                        </a:rPr>
                        <m:t> </m:t>
                      </m:r>
                      <m:r>
                        <a:rPr lang="en-US" altLang="zh-CN" sz="1800" i="1" spc="-25" smtClean="0">
                          <a:effectLst/>
                          <a:latin typeface="Cambria Math" panose="02040503050406030204" pitchFamily="18" charset="0"/>
                          <a:ea typeface="宋体" panose="02010600030101010101" pitchFamily="2" charset="-122"/>
                        </a:rPr>
                        <m:t>𝑐𝑜𝑠𝑡</m:t>
                      </m:r>
                      <m:r>
                        <a:rPr lang="en-US" altLang="zh-CN" sz="1800" i="1" spc="-25" smtClean="0">
                          <a:effectLst/>
                          <a:latin typeface="Cambria Math" panose="02040503050406030204" pitchFamily="18" charset="0"/>
                          <a:ea typeface="宋体" panose="02010600030101010101" pitchFamily="2" charset="-122"/>
                        </a:rPr>
                        <m:t>+</m:t>
                      </m:r>
                      <m:f>
                        <m:fPr>
                          <m:ctrlPr>
                            <a:rPr lang="zh-CN" altLang="zh-CN" sz="1800" i="1" spc="-25">
                              <a:effectLst/>
                              <a:latin typeface="Cambria Math" panose="02040503050406030204" pitchFamily="18" charset="0"/>
                              <a:ea typeface="Cambria Math" panose="02040503050406030204" pitchFamily="18" charset="0"/>
                            </a:rPr>
                          </m:ctrlPr>
                        </m:fPr>
                        <m:num>
                          <m:r>
                            <a:rPr lang="en-US" altLang="zh-CN" sz="1800" i="1" spc="-25">
                              <a:effectLst/>
                              <a:latin typeface="Cambria Math" panose="02040503050406030204" pitchFamily="18" charset="0"/>
                              <a:ea typeface="宋体" panose="02010600030101010101" pitchFamily="2" charset="-122"/>
                            </a:rPr>
                            <m:t>𝑐𝑎𝑝𝑖𝑡𝑎𝑙</m:t>
                          </m:r>
                          <m:r>
                            <a:rPr lang="en-US" altLang="zh-CN" sz="1800" i="1" spc="-25">
                              <a:effectLst/>
                              <a:latin typeface="Cambria Math" panose="02040503050406030204" pitchFamily="18" charset="0"/>
                              <a:ea typeface="宋体" panose="02010600030101010101" pitchFamily="2" charset="-122"/>
                            </a:rPr>
                            <m:t> </m:t>
                          </m:r>
                          <m:r>
                            <a:rPr lang="en-US" altLang="zh-CN" sz="1800" i="1" spc="-25">
                              <a:effectLst/>
                              <a:latin typeface="Cambria Math" panose="02040503050406030204" pitchFamily="18" charset="0"/>
                              <a:ea typeface="宋体" panose="02010600030101010101" pitchFamily="2" charset="-122"/>
                            </a:rPr>
                            <m:t>𝑐𝑜𝑠𝑡</m:t>
                          </m:r>
                        </m:num>
                        <m:den>
                          <m:r>
                            <a:rPr lang="en-US" altLang="zh-CN" sz="1800" i="1" spc="-25">
                              <a:effectLst/>
                              <a:latin typeface="Cambria Math" panose="02040503050406030204" pitchFamily="18" charset="0"/>
                              <a:ea typeface="宋体" panose="02010600030101010101" pitchFamily="2" charset="-122"/>
                            </a:rPr>
                            <m:t>𝑝𝑎𝑦𝑏𝑎𝑐𝑘</m:t>
                          </m:r>
                          <m:r>
                            <a:rPr lang="en-US" altLang="zh-CN" sz="1800" i="1" spc="-25">
                              <a:effectLst/>
                              <a:latin typeface="Cambria Math" panose="02040503050406030204" pitchFamily="18" charset="0"/>
                              <a:ea typeface="宋体" panose="02010600030101010101" pitchFamily="2" charset="-122"/>
                            </a:rPr>
                            <m:t> </m:t>
                          </m:r>
                          <m:r>
                            <a:rPr lang="en-US" altLang="zh-CN" sz="1800" i="1" spc="-25">
                              <a:effectLst/>
                              <a:latin typeface="Cambria Math" panose="02040503050406030204" pitchFamily="18" charset="0"/>
                              <a:ea typeface="宋体" panose="02010600030101010101" pitchFamily="2" charset="-122"/>
                            </a:rPr>
                            <m:t>𝑝𝑒𝑟𝑖𝑜𝑑</m:t>
                          </m:r>
                        </m:den>
                      </m:f>
                    </m:oMath>
                  </m:oMathPara>
                </a14:m>
                <a:endParaRPr lang="zh-CN" altLang="zh-CN" sz="1800" spc="-25" dirty="0">
                  <a:effectLst/>
                  <a:latin typeface="Times New Roman" panose="02020603050405020304" pitchFamily="18" charset="0"/>
                  <a:ea typeface="宋体" panose="02010600030101010101" pitchFamily="2" charset="-122"/>
                </a:endParaRPr>
              </a:p>
              <a:p>
                <a:pPr indent="0" algn="just">
                  <a:lnSpc>
                    <a:spcPct val="150000"/>
                  </a:lnSpc>
                  <a:buNone/>
                </a:pPr>
                <a:endParaRPr lang="en-US" altLang="zh-CN" sz="1400" spc="-25" dirty="0">
                  <a:effectLst/>
                  <a:latin typeface="Times New Roman" panose="02020603050405020304" pitchFamily="18" charset="0"/>
                  <a:ea typeface="宋体" panose="02010600030101010101" pitchFamily="2" charset="-122"/>
                </a:endParaRPr>
              </a:p>
              <a:p>
                <a:pPr indent="0" algn="just">
                  <a:lnSpc>
                    <a:spcPct val="150000"/>
                  </a:lnSpc>
                  <a:buNone/>
                </a:pPr>
                <a:r>
                  <a:rPr lang="zh-CN" altLang="zh-CN" sz="1400" spc="-25" dirty="0">
                    <a:effectLst/>
                    <a:latin typeface="Times New Roman" panose="02020603050405020304" pitchFamily="18" charset="0"/>
                    <a:ea typeface="宋体" panose="02010600030101010101" pitchFamily="2" charset="-122"/>
                  </a:rPr>
                  <a:t>其中：</a:t>
                </a:r>
                <a:r>
                  <a:rPr lang="en-US" altLang="zh-CN" sz="1400" spc="-25" dirty="0" err="1">
                    <a:effectLst/>
                    <a:latin typeface="Times New Roman" panose="02020603050405020304" pitchFamily="18" charset="0"/>
                    <a:ea typeface="宋体" panose="02010600030101010101" pitchFamily="2" charset="-122"/>
                  </a:rPr>
                  <a:t>N</a:t>
                </a:r>
                <a:r>
                  <a:rPr lang="en-US" altLang="zh-CN" sz="1400" spc="-25" baseline="-25000" dirty="0" err="1">
                    <a:effectLst/>
                    <a:latin typeface="Times New Roman" panose="02020603050405020304" pitchFamily="18" charset="0"/>
                    <a:ea typeface="宋体" panose="02010600030101010101" pitchFamily="2" charset="-122"/>
                  </a:rPr>
                  <a:t>Ⅱ</a:t>
                </a:r>
                <a:r>
                  <a:rPr lang="zh-CN" altLang="zh-CN" sz="1400" spc="-25" dirty="0">
                    <a:effectLst/>
                    <a:latin typeface="Times New Roman" panose="02020603050405020304" pitchFamily="18" charset="0"/>
                    <a:ea typeface="宋体" panose="02010600030101010101" pitchFamily="2" charset="-122"/>
                  </a:rPr>
                  <a:t>为</a:t>
                </a:r>
                <a:r>
                  <a:rPr lang="en-US" altLang="zh-CN" sz="1400" spc="-25" dirty="0">
                    <a:effectLst/>
                    <a:latin typeface="Times New Roman" panose="02020603050405020304" pitchFamily="18" charset="0"/>
                    <a:ea typeface="宋体" panose="02010600030101010101" pitchFamily="2" charset="-122"/>
                  </a:rPr>
                  <a:t>II</a:t>
                </a:r>
                <a:r>
                  <a:rPr lang="zh-CN" altLang="zh-CN" sz="1400" spc="-25" dirty="0">
                    <a:effectLst/>
                    <a:latin typeface="Times New Roman" panose="02020603050405020304" pitchFamily="18" charset="0"/>
                    <a:ea typeface="宋体" panose="02010600030101010101" pitchFamily="2" charset="-122"/>
                  </a:rPr>
                  <a:t>塔的塔板数；</a:t>
                </a:r>
                <a:r>
                  <a:rPr lang="en-US" altLang="zh-CN" sz="1400" spc="-25" dirty="0" err="1">
                    <a:effectLst/>
                    <a:latin typeface="Times New Roman" panose="02020603050405020304" pitchFamily="18" charset="0"/>
                    <a:ea typeface="宋体" panose="02010600030101010101" pitchFamily="2" charset="-122"/>
                  </a:rPr>
                  <a:t>N</a:t>
                </a:r>
                <a:r>
                  <a:rPr lang="en-US" altLang="zh-CN" sz="1400" spc="-25" baseline="-25000" dirty="0" err="1">
                    <a:effectLst/>
                    <a:latin typeface="Times New Roman" panose="02020603050405020304" pitchFamily="18" charset="0"/>
                    <a:ea typeface="宋体" panose="02010600030101010101" pitchFamily="2" charset="-122"/>
                  </a:rPr>
                  <a:t>Ⅲ</a:t>
                </a:r>
                <a:r>
                  <a:rPr lang="zh-CN" altLang="zh-CN" sz="1400" spc="-25" dirty="0">
                    <a:effectLst/>
                    <a:latin typeface="Times New Roman" panose="02020603050405020304" pitchFamily="18" charset="0"/>
                    <a:ea typeface="宋体" panose="02010600030101010101" pitchFamily="2" charset="-122"/>
                  </a:rPr>
                  <a:t>为</a:t>
                </a:r>
                <a:r>
                  <a:rPr lang="en-US" altLang="zh-CN" sz="1400" spc="-25" dirty="0">
                    <a:effectLst/>
                    <a:latin typeface="Times New Roman" panose="02020603050405020304" pitchFamily="18" charset="0"/>
                    <a:ea typeface="宋体" panose="02010600030101010101" pitchFamily="2" charset="-122"/>
                  </a:rPr>
                  <a:t>III</a:t>
                </a:r>
                <a:r>
                  <a:rPr lang="zh-CN" altLang="zh-CN" sz="1400" spc="-25" dirty="0">
                    <a:effectLst/>
                    <a:latin typeface="Times New Roman" panose="02020603050405020304" pitchFamily="18" charset="0"/>
                    <a:ea typeface="宋体" panose="02010600030101010101" pitchFamily="2" charset="-122"/>
                  </a:rPr>
                  <a:t>塔的塔板数；</a:t>
                </a:r>
                <a:r>
                  <a:rPr lang="en-US" altLang="zh-CN" sz="1400" spc="-25" dirty="0">
                    <a:effectLst/>
                    <a:latin typeface="Times New Roman" panose="02020603050405020304" pitchFamily="18" charset="0"/>
                    <a:ea typeface="宋体" panose="02010600030101010101" pitchFamily="2" charset="-122"/>
                  </a:rPr>
                  <a:t>Q</a:t>
                </a:r>
                <a:r>
                  <a:rPr lang="en-US" altLang="zh-CN" sz="1400" spc="-25" baseline="-25000" dirty="0">
                    <a:effectLst/>
                    <a:latin typeface="Times New Roman" panose="02020603050405020304" pitchFamily="18" charset="0"/>
                    <a:ea typeface="宋体" panose="02010600030101010101" pitchFamily="2" charset="-122"/>
                  </a:rPr>
                  <a:t>R</a:t>
                </a:r>
                <a:r>
                  <a:rPr lang="zh-CN" altLang="zh-CN" sz="1400" spc="-25" dirty="0">
                    <a:effectLst/>
                    <a:latin typeface="Times New Roman" panose="02020603050405020304" pitchFamily="18" charset="0"/>
                    <a:ea typeface="宋体" panose="02010600030101010101" pitchFamily="2" charset="-122"/>
                  </a:rPr>
                  <a:t>为</a:t>
                </a:r>
                <a:r>
                  <a:rPr lang="en-US" altLang="zh-CN" sz="1400" spc="-25" dirty="0">
                    <a:effectLst/>
                    <a:latin typeface="Times New Roman" panose="02020603050405020304" pitchFamily="18" charset="0"/>
                    <a:ea typeface="宋体" panose="02010600030101010101" pitchFamily="2" charset="-122"/>
                  </a:rPr>
                  <a:t>EDWC</a:t>
                </a:r>
                <a:r>
                  <a:rPr lang="zh-CN" altLang="zh-CN" sz="1400" spc="-25" dirty="0">
                    <a:effectLst/>
                    <a:latin typeface="Times New Roman" panose="02020603050405020304" pitchFamily="18" charset="0"/>
                    <a:ea typeface="宋体" panose="02010600030101010101" pitchFamily="2" charset="-122"/>
                  </a:rPr>
                  <a:t>塔再沸器热负荷；</a:t>
                </a:r>
                <a:r>
                  <a:rPr lang="en-US" altLang="zh-CN" sz="1400" spc="-25" dirty="0">
                    <a:effectLst/>
                    <a:latin typeface="Times New Roman" panose="02020603050405020304" pitchFamily="18" charset="0"/>
                    <a:ea typeface="宋体" panose="02010600030101010101" pitchFamily="2" charset="-122"/>
                  </a:rPr>
                  <a:t>S</a:t>
                </a:r>
                <a:r>
                  <a:rPr lang="zh-CN" altLang="zh-CN" sz="1400" spc="-25" dirty="0">
                    <a:effectLst/>
                    <a:latin typeface="Times New Roman" panose="02020603050405020304" pitchFamily="18" charset="0"/>
                    <a:ea typeface="宋体" panose="02010600030101010101" pitchFamily="2" charset="-122"/>
                  </a:rPr>
                  <a:t>为萃取剂流量；</a:t>
                </a:r>
                <a:r>
                  <a:rPr lang="en-US" altLang="zh-CN" sz="1400" spc="-25" dirty="0">
                    <a:effectLst/>
                    <a:latin typeface="Times New Roman" panose="02020603050405020304" pitchFamily="18" charset="0"/>
                    <a:ea typeface="宋体" panose="02010600030101010101" pitchFamily="2" charset="-122"/>
                  </a:rPr>
                  <a:t>R</a:t>
                </a:r>
                <a:r>
                  <a:rPr lang="zh-CN" altLang="zh-CN" sz="1400" spc="-25" dirty="0">
                    <a:effectLst/>
                    <a:latin typeface="Times New Roman" panose="02020603050405020304" pitchFamily="18" charset="0"/>
                    <a:ea typeface="宋体" panose="02010600030101010101" pitchFamily="2" charset="-122"/>
                  </a:rPr>
                  <a:t>为塔回流比，</a:t>
                </a:r>
                <a:r>
                  <a:rPr lang="en-US" altLang="zh-CN" sz="1400" spc="-25" dirty="0">
                    <a:effectLst/>
                    <a:latin typeface="Times New Roman" panose="02020603050405020304" pitchFamily="18" charset="0"/>
                    <a:ea typeface="宋体" panose="02010600030101010101" pitchFamily="2" charset="-122"/>
                  </a:rPr>
                  <a:t>N</a:t>
                </a:r>
                <a:r>
                  <a:rPr lang="en-US" altLang="zh-CN" sz="1400" spc="-25" baseline="-25000" dirty="0">
                    <a:effectLst/>
                    <a:latin typeface="Times New Roman" panose="02020603050405020304" pitchFamily="18" charset="0"/>
                    <a:ea typeface="宋体" panose="02010600030101010101" pitchFamily="2" charset="-122"/>
                  </a:rPr>
                  <a:t>F</a:t>
                </a:r>
                <a:r>
                  <a:rPr lang="zh-CN" altLang="zh-CN" sz="1400" spc="-25" dirty="0">
                    <a:effectLst/>
                    <a:latin typeface="Times New Roman" panose="02020603050405020304" pitchFamily="18" charset="0"/>
                    <a:ea typeface="宋体" panose="02010600030101010101" pitchFamily="2" charset="-122"/>
                  </a:rPr>
                  <a:t>为塔</a:t>
                </a:r>
                <a:r>
                  <a:rPr lang="en-US" altLang="zh-CN" sz="1400" spc="-25" dirty="0">
                    <a:effectLst/>
                    <a:latin typeface="Times New Roman" panose="02020603050405020304" pitchFamily="18" charset="0"/>
                    <a:ea typeface="宋体" panose="02010600030101010101" pitchFamily="2" charset="-122"/>
                  </a:rPr>
                  <a:t>I</a:t>
                </a:r>
                <a:r>
                  <a:rPr lang="zh-CN" altLang="zh-CN" sz="1400" spc="-25" dirty="0">
                    <a:effectLst/>
                    <a:latin typeface="Times New Roman" panose="02020603050405020304" pitchFamily="18" charset="0"/>
                    <a:ea typeface="宋体" panose="02010600030101010101" pitchFamily="2" charset="-122"/>
                  </a:rPr>
                  <a:t>的进料位置；</a:t>
                </a:r>
                <a:r>
                  <a:rPr lang="en-US" altLang="zh-CN" sz="1400" spc="-25" dirty="0">
                    <a:effectLst/>
                    <a:latin typeface="Times New Roman" panose="02020603050405020304" pitchFamily="18" charset="0"/>
                    <a:ea typeface="宋体" panose="02010600030101010101" pitchFamily="2" charset="-122"/>
                  </a:rPr>
                  <a:t>N</a:t>
                </a:r>
                <a:r>
                  <a:rPr lang="en-US" altLang="zh-CN" sz="1400" spc="-25" baseline="-25000" dirty="0">
                    <a:effectLst/>
                    <a:latin typeface="Times New Roman" panose="02020603050405020304" pitchFamily="18" charset="0"/>
                    <a:ea typeface="宋体" panose="02010600030101010101" pitchFamily="2" charset="-122"/>
                  </a:rPr>
                  <a:t>S</a:t>
                </a:r>
                <a:r>
                  <a:rPr lang="zh-CN" altLang="zh-CN" sz="1400" spc="-25" dirty="0">
                    <a:effectLst/>
                    <a:latin typeface="Times New Roman" panose="02020603050405020304" pitchFamily="18" charset="0"/>
                    <a:ea typeface="宋体" panose="02010600030101010101" pitchFamily="2" charset="-122"/>
                  </a:rPr>
                  <a:t>为塔</a:t>
                </a:r>
                <a:r>
                  <a:rPr lang="en-US" altLang="zh-CN" sz="1400" spc="-25" dirty="0">
                    <a:effectLst/>
                    <a:latin typeface="Times New Roman" panose="02020603050405020304" pitchFamily="18" charset="0"/>
                    <a:ea typeface="宋体" panose="02010600030101010101" pitchFamily="2" charset="-122"/>
                  </a:rPr>
                  <a:t>I</a:t>
                </a:r>
                <a:r>
                  <a:rPr lang="zh-CN" altLang="zh-CN" sz="1400" spc="-25" dirty="0">
                    <a:effectLst/>
                    <a:latin typeface="Times New Roman" panose="02020603050405020304" pitchFamily="18" charset="0"/>
                    <a:ea typeface="宋体" panose="02010600030101010101" pitchFamily="2" charset="-122"/>
                  </a:rPr>
                  <a:t>萃取剂的进料位置；</a:t>
                </a:r>
                <a:r>
                  <a:rPr lang="en-US" altLang="zh-CN" sz="1400" spc="-25" dirty="0">
                    <a:effectLst/>
                    <a:latin typeface="Times New Roman" panose="02020603050405020304" pitchFamily="18" charset="0"/>
                    <a:ea typeface="宋体" panose="02010600030101010101" pitchFamily="2" charset="-122"/>
                  </a:rPr>
                  <a:t>α</a:t>
                </a:r>
                <a:r>
                  <a:rPr lang="en-US" altLang="zh-CN" sz="1400" spc="-25" baseline="-25000" dirty="0">
                    <a:effectLst/>
                    <a:latin typeface="Times New Roman" panose="02020603050405020304" pitchFamily="18" charset="0"/>
                    <a:ea typeface="宋体" panose="02010600030101010101" pitchFamily="2" charset="-122"/>
                  </a:rPr>
                  <a:t>V</a:t>
                </a:r>
                <a:r>
                  <a:rPr lang="zh-CN" altLang="zh-CN" sz="1400" spc="-25" dirty="0">
                    <a:effectLst/>
                    <a:latin typeface="Times New Roman" panose="02020603050405020304" pitchFamily="18" charset="0"/>
                    <a:ea typeface="宋体" panose="02010600030101010101" pitchFamily="2" charset="-122"/>
                  </a:rPr>
                  <a:t>为隔壁底部气相分率</a:t>
                </a:r>
                <a:r>
                  <a:rPr lang="en-US" altLang="zh-CN" sz="1400" spc="-25" dirty="0">
                    <a:effectLst/>
                    <a:latin typeface="Times New Roman" panose="02020603050405020304" pitchFamily="18" charset="0"/>
                    <a:ea typeface="宋体" panose="02010600030101010101" pitchFamily="2" charset="-122"/>
                  </a:rPr>
                  <a:t>;</a:t>
                </a:r>
                <a:r>
                  <a:rPr lang="en-US" altLang="zh-CN" sz="1400" b="0" spc="-25" dirty="0">
                    <a:effectLst/>
                    <a:ea typeface="宋体" panose="02010600030101010101" pitchFamily="2" charset="-122"/>
                  </a:rPr>
                  <a:t> </a:t>
                </a:r>
                <a14:m>
                  <m:oMath xmlns:m="http://schemas.openxmlformats.org/officeDocument/2006/math">
                    <m:sSub>
                      <m:sSubPr>
                        <m:ctrlPr>
                          <a:rPr lang="en-US" altLang="zh-CN" sz="1400" b="0" i="1" spc="-25" smtClean="0">
                            <a:effectLst/>
                            <a:latin typeface="Cambria Math" panose="02040503050406030204" pitchFamily="18" charset="0"/>
                            <a:ea typeface="宋体" panose="02010600030101010101" pitchFamily="2" charset="-122"/>
                          </a:rPr>
                        </m:ctrlPr>
                      </m:sSubPr>
                      <m:e>
                        <m:r>
                          <a:rPr lang="zh-CN" altLang="en-US" sz="1400" b="0" i="1" spc="-25" smtClean="0">
                            <a:effectLst/>
                            <a:latin typeface="Cambria Math" panose="02040503050406030204" pitchFamily="18" charset="0"/>
                            <a:ea typeface="宋体" panose="02010600030101010101" pitchFamily="2" charset="-122"/>
                          </a:rPr>
                          <m:t>𝛽</m:t>
                        </m:r>
                      </m:e>
                      <m:sub>
                        <m:r>
                          <a:rPr lang="en-US" altLang="zh-CN" sz="1400" b="0" i="1" spc="-25" smtClean="0">
                            <a:effectLst/>
                            <a:latin typeface="Cambria Math" panose="02040503050406030204" pitchFamily="18" charset="0"/>
                            <a:ea typeface="宋体" panose="02010600030101010101" pitchFamily="2" charset="-122"/>
                          </a:rPr>
                          <m:t>𝐿</m:t>
                        </m:r>
                      </m:sub>
                    </m:sSub>
                    <m:r>
                      <m:rPr>
                        <m:nor/>
                      </m:rPr>
                      <a:rPr lang="zh-CN" altLang="zh-CN" sz="1400" spc="-25" dirty="0">
                        <a:latin typeface="Times New Roman" panose="02020603050405020304" pitchFamily="18" charset="0"/>
                      </a:rPr>
                      <m:t>为隔壁</m:t>
                    </m:r>
                    <m:r>
                      <a:rPr lang="zh-CN" altLang="en-US" sz="1400" i="1" spc="-25" dirty="0" smtClean="0">
                        <a:latin typeface="Cambria Math" panose="02040503050406030204" pitchFamily="18" charset="0"/>
                      </a:rPr>
                      <m:t>顶</m:t>
                    </m:r>
                    <m:r>
                      <m:rPr>
                        <m:nor/>
                      </m:rPr>
                      <a:rPr lang="zh-CN" altLang="zh-CN" sz="1400" spc="-25" dirty="0">
                        <a:latin typeface="Times New Roman" panose="02020603050405020304" pitchFamily="18" charset="0"/>
                      </a:rPr>
                      <m:t>部</m:t>
                    </m:r>
                    <m:r>
                      <a:rPr lang="zh-CN" altLang="en-US" sz="1400" i="1" spc="-25" dirty="0" smtClean="0">
                        <a:latin typeface="Cambria Math" panose="02040503050406030204" pitchFamily="18" charset="0"/>
                      </a:rPr>
                      <m:t>液</m:t>
                    </m:r>
                    <m:r>
                      <m:rPr>
                        <m:nor/>
                      </m:rPr>
                      <a:rPr lang="zh-CN" altLang="zh-CN" sz="1400" spc="-25" dirty="0">
                        <a:latin typeface="Times New Roman" panose="02020603050405020304" pitchFamily="18" charset="0"/>
                      </a:rPr>
                      <m:t>相分率</m:t>
                    </m:r>
                  </m:oMath>
                </a14:m>
                <a:r>
                  <a:rPr lang="zh-CN" altLang="zh-CN" sz="1400" spc="-25" dirty="0">
                    <a:effectLst/>
                    <a:latin typeface="Times New Roman" panose="02020603050405020304" pitchFamily="18" charset="0"/>
                    <a:ea typeface="宋体" panose="02010600030101010101" pitchFamily="2" charset="-122"/>
                  </a:rPr>
                  <a:t>。矢量</a:t>
                </a:r>
                <a:r>
                  <a:rPr lang="en-US" altLang="zh-CN" sz="1400" spc="-25" dirty="0" err="1">
                    <a:effectLst/>
                    <a:latin typeface="Times New Roman" panose="02020603050405020304" pitchFamily="18" charset="0"/>
                    <a:ea typeface="宋体" panose="02010600030101010101" pitchFamily="2" charset="-122"/>
                  </a:rPr>
                  <a:t>y</a:t>
                </a:r>
                <a:r>
                  <a:rPr lang="en-US" altLang="zh-CN" sz="1400" spc="-25" baseline="-25000" dirty="0" err="1">
                    <a:effectLst/>
                    <a:latin typeface="Times New Roman" panose="02020603050405020304" pitchFamily="18" charset="0"/>
                    <a:ea typeface="宋体" panose="02010600030101010101" pitchFamily="2" charset="-122"/>
                  </a:rPr>
                  <a:t>k</a:t>
                </a:r>
                <a:r>
                  <a:rPr lang="zh-CN" altLang="zh-CN" sz="1400" spc="-25" dirty="0">
                    <a:effectLst/>
                    <a:latin typeface="Times New Roman" panose="02020603050405020304" pitchFamily="18" charset="0"/>
                    <a:ea typeface="宋体" panose="02010600030101010101" pitchFamily="2" charset="-122"/>
                  </a:rPr>
                  <a:t>和</a:t>
                </a:r>
                <a:r>
                  <a:rPr lang="en-US" altLang="zh-CN" sz="1400" spc="-25" dirty="0" err="1">
                    <a:effectLst/>
                    <a:latin typeface="Times New Roman" panose="02020603050405020304" pitchFamily="18" charset="0"/>
                    <a:ea typeface="宋体" panose="02010600030101010101" pitchFamily="2" charset="-122"/>
                  </a:rPr>
                  <a:t>x</a:t>
                </a:r>
                <a:r>
                  <a:rPr lang="en-US" altLang="zh-CN" sz="1400" spc="-25" baseline="-25000" dirty="0" err="1">
                    <a:effectLst/>
                    <a:latin typeface="Times New Roman" panose="02020603050405020304" pitchFamily="18" charset="0"/>
                    <a:ea typeface="宋体" panose="02010600030101010101" pitchFamily="2" charset="-122"/>
                  </a:rPr>
                  <a:t>k</a:t>
                </a:r>
                <a:r>
                  <a:rPr lang="zh-CN" altLang="zh-CN" sz="1400" spc="-25" dirty="0">
                    <a:effectLst/>
                    <a:latin typeface="Times New Roman" panose="02020603050405020304" pitchFamily="18" charset="0"/>
                    <a:ea typeface="宋体" panose="02010600030101010101" pitchFamily="2" charset="-122"/>
                  </a:rPr>
                  <a:t>分别为组分</a:t>
                </a:r>
                <a:r>
                  <a:rPr lang="en-US" altLang="zh-CN" sz="1400" spc="-25" dirty="0">
                    <a:effectLst/>
                    <a:latin typeface="Times New Roman" panose="02020603050405020304" pitchFamily="18" charset="0"/>
                    <a:ea typeface="宋体" panose="02010600030101010101" pitchFamily="2" charset="-122"/>
                  </a:rPr>
                  <a:t>k</a:t>
                </a:r>
                <a:r>
                  <a:rPr lang="zh-CN" altLang="zh-CN" sz="1400" spc="-25" dirty="0">
                    <a:effectLst/>
                    <a:latin typeface="Times New Roman" panose="02020603050405020304" pitchFamily="18" charset="0"/>
                    <a:ea typeface="宋体" panose="02010600030101010101" pitchFamily="2" charset="-122"/>
                  </a:rPr>
                  <a:t>的获得和要求纯度和回收率。</a:t>
                </a: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457200" y="1600201"/>
                <a:ext cx="8229600" cy="3989100"/>
              </a:xfrm>
              <a:blipFill>
                <a:blip r:embed="rId3"/>
                <a:stretch>
                  <a:fillRect r="-222"/>
                </a:stretch>
              </a:blipFill>
            </p:spPr>
            <p:txBody>
              <a:bodyPr/>
              <a:lstStyle/>
              <a:p>
                <a:r>
                  <a:rPr lang="zh-CN" altLang="en-US">
                    <a:noFill/>
                  </a:rPr>
                  <a:t> </a:t>
                </a:r>
              </a:p>
            </p:txBody>
          </p:sp>
        </mc:Fallback>
      </mc:AlternateContent>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23</a:t>
            </a:fld>
            <a:endParaRPr lang="zh-CN" altLang="en-US" dirty="0">
              <a:solidFill>
                <a:srgbClr val="FFFFFF"/>
              </a:solidFill>
              <a:latin typeface="Arial" panose="020B0604020202020204" pitchFamily="34" charset="0"/>
              <a:cs typeface="Arial" panose="020B0604020202020204" pitchFamily="34" charset="0"/>
            </a:endParaRPr>
          </a:p>
        </p:txBody>
      </p:sp>
      <p:sp>
        <p:nvSpPr>
          <p:cNvPr id="5" name="矩形 4">
            <a:extLst>
              <a:ext uri="{FF2B5EF4-FFF2-40B4-BE49-F238E27FC236}">
                <a16:creationId xmlns:a16="http://schemas.microsoft.com/office/drawing/2014/main" id="{23D94A7A-9985-5EA8-DA37-B21BA26A80C7}"/>
              </a:ext>
            </a:extLst>
          </p:cNvPr>
          <p:cNvSpPr/>
          <p:nvPr/>
        </p:nvSpPr>
        <p:spPr>
          <a:xfrm>
            <a:off x="7290140" y="1903244"/>
            <a:ext cx="1031488"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式（</a:t>
            </a:r>
            <a:r>
              <a:rPr lang="en-US" altLang="zh-CN" dirty="0">
                <a:solidFill>
                  <a:schemeClr val="tx1"/>
                </a:solidFill>
              </a:rPr>
              <a:t>1</a:t>
            </a:r>
            <a:r>
              <a:rPr lang="zh-CN" altLang="en-US" dirty="0">
                <a:solidFill>
                  <a:schemeClr val="tx1"/>
                </a:solidFill>
              </a:rPr>
              <a:t>）</a:t>
            </a:r>
          </a:p>
        </p:txBody>
      </p:sp>
      <p:sp>
        <p:nvSpPr>
          <p:cNvPr id="6" name="矩形 5">
            <a:extLst>
              <a:ext uri="{FF2B5EF4-FFF2-40B4-BE49-F238E27FC236}">
                <a16:creationId xmlns:a16="http://schemas.microsoft.com/office/drawing/2014/main" id="{579EFA0D-7EAD-51FD-023C-DE958E51C5D6}"/>
              </a:ext>
            </a:extLst>
          </p:cNvPr>
          <p:cNvSpPr/>
          <p:nvPr/>
        </p:nvSpPr>
        <p:spPr>
          <a:xfrm>
            <a:off x="7308380" y="2889849"/>
            <a:ext cx="1031488"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式（</a:t>
            </a:r>
            <a:r>
              <a:rPr lang="en-US" altLang="zh-CN" dirty="0">
                <a:solidFill>
                  <a:schemeClr val="tx1"/>
                </a:solidFill>
              </a:rPr>
              <a:t>2</a:t>
            </a:r>
            <a:r>
              <a:rPr lang="zh-CN" altLang="en-US" dirty="0">
                <a:solidFill>
                  <a:schemeClr val="tx1"/>
                </a:solidFill>
              </a:rPr>
              <a:t>）</a:t>
            </a:r>
          </a:p>
        </p:txBody>
      </p:sp>
    </p:spTree>
    <p:extLst>
      <p:ext uri="{BB962C8B-B14F-4D97-AF65-F5344CB8AC3E}">
        <p14:creationId xmlns:p14="http://schemas.microsoft.com/office/powerpoint/2010/main" val="1692400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画布 20">
            <a:extLst>
              <a:ext uri="{FF2B5EF4-FFF2-40B4-BE49-F238E27FC236}">
                <a16:creationId xmlns:a16="http://schemas.microsoft.com/office/drawing/2014/main" id="{744BE4B4-80A6-0B11-22B0-CDA733E5BA90}"/>
              </a:ext>
            </a:extLst>
          </p:cNvPr>
          <p:cNvGrpSpPr/>
          <p:nvPr/>
        </p:nvGrpSpPr>
        <p:grpSpPr>
          <a:xfrm>
            <a:off x="2535149" y="167187"/>
            <a:ext cx="6151651" cy="5998193"/>
            <a:chOff x="0" y="0"/>
            <a:chExt cx="5274310" cy="6705600"/>
          </a:xfrm>
        </p:grpSpPr>
        <p:sp>
          <p:nvSpPr>
            <p:cNvPr id="5" name="矩形 4">
              <a:extLst>
                <a:ext uri="{FF2B5EF4-FFF2-40B4-BE49-F238E27FC236}">
                  <a16:creationId xmlns:a16="http://schemas.microsoft.com/office/drawing/2014/main" id="{1ED49836-0380-AEAA-C561-206194179B05}"/>
                </a:ext>
              </a:extLst>
            </p:cNvPr>
            <p:cNvSpPr/>
            <p:nvPr/>
          </p:nvSpPr>
          <p:spPr>
            <a:xfrm>
              <a:off x="0" y="0"/>
              <a:ext cx="5274310" cy="6639560"/>
            </a:xfrm>
            <a:prstGeom prst="rect">
              <a:avLst/>
            </a:prstGeom>
            <a:solidFill>
              <a:prstClr val="white"/>
            </a:solidFill>
          </p:spPr>
        </p:sp>
        <p:sp>
          <p:nvSpPr>
            <p:cNvPr id="6" name="流程图: 数据 5">
              <a:extLst>
                <a:ext uri="{FF2B5EF4-FFF2-40B4-BE49-F238E27FC236}">
                  <a16:creationId xmlns:a16="http://schemas.microsoft.com/office/drawing/2014/main" id="{CBED017B-C336-AB96-F8E2-1664A5DAF558}"/>
                </a:ext>
              </a:extLst>
            </p:cNvPr>
            <p:cNvSpPr/>
            <p:nvPr/>
          </p:nvSpPr>
          <p:spPr>
            <a:xfrm>
              <a:off x="2306398" y="187035"/>
              <a:ext cx="1531311" cy="616529"/>
            </a:xfrm>
            <a:prstGeom prst="flowChartInputOutpu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zh-CN"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初始设计</a:t>
              </a:r>
              <a:r>
                <a:rPr lang="en-US"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GA</a:t>
              </a:r>
              <a:r>
                <a:rPr lang="zh-CN"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参数</a:t>
              </a:r>
              <a:endParaRPr lang="zh-CN" sz="12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流程图: 过程 6">
              <a:extLst>
                <a:ext uri="{FF2B5EF4-FFF2-40B4-BE49-F238E27FC236}">
                  <a16:creationId xmlns:a16="http://schemas.microsoft.com/office/drawing/2014/main" id="{9F459DAE-6A79-0F85-13AB-C2E695025C04}"/>
                </a:ext>
              </a:extLst>
            </p:cNvPr>
            <p:cNvSpPr/>
            <p:nvPr/>
          </p:nvSpPr>
          <p:spPr>
            <a:xfrm>
              <a:off x="2355453" y="1011971"/>
              <a:ext cx="1156307" cy="367145"/>
            </a:xfrm>
            <a:prstGeom prst="flowChart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zh-CN"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产生初始种群</a:t>
              </a:r>
              <a:endParaRPr lang="zh-CN" sz="12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流程图: 过程 7">
              <a:extLst>
                <a:ext uri="{FF2B5EF4-FFF2-40B4-BE49-F238E27FC236}">
                  <a16:creationId xmlns:a16="http://schemas.microsoft.com/office/drawing/2014/main" id="{2EB94722-F25F-F5F8-E4F2-865C52B1A17C}"/>
                </a:ext>
              </a:extLst>
            </p:cNvPr>
            <p:cNvSpPr/>
            <p:nvPr/>
          </p:nvSpPr>
          <p:spPr>
            <a:xfrm>
              <a:off x="2306398" y="1537854"/>
              <a:ext cx="1225964" cy="464127"/>
            </a:xfrm>
            <a:prstGeom prst="flowChart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en-US"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Aspen Hysys</a:t>
              </a:r>
              <a:r>
                <a:rPr lang="zh-CN"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模拟</a:t>
              </a:r>
              <a:endParaRPr lang="zh-CN" sz="12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流程图: 过程 9">
              <a:extLst>
                <a:ext uri="{FF2B5EF4-FFF2-40B4-BE49-F238E27FC236}">
                  <a16:creationId xmlns:a16="http://schemas.microsoft.com/office/drawing/2014/main" id="{560049B4-4D36-480A-B237-18B6141B3447}"/>
                </a:ext>
              </a:extLst>
            </p:cNvPr>
            <p:cNvSpPr/>
            <p:nvPr/>
          </p:nvSpPr>
          <p:spPr>
            <a:xfrm>
              <a:off x="2077642" y="2196812"/>
              <a:ext cx="1704212" cy="464127"/>
            </a:xfrm>
            <a:prstGeom prst="flowChart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zh-CN" sz="105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评价目标参数值和约束</a:t>
              </a:r>
              <a:r>
                <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条件</a:t>
              </a:r>
            </a:p>
          </p:txBody>
        </p:sp>
        <p:cxnSp>
          <p:nvCxnSpPr>
            <p:cNvPr id="11" name="直接箭头连接符 10">
              <a:extLst>
                <a:ext uri="{FF2B5EF4-FFF2-40B4-BE49-F238E27FC236}">
                  <a16:creationId xmlns:a16="http://schemas.microsoft.com/office/drawing/2014/main" id="{8B004B39-D5B3-92DF-9E5D-30BC3E793871}"/>
                </a:ext>
              </a:extLst>
            </p:cNvPr>
            <p:cNvCxnSpPr>
              <a:cxnSpLocks/>
              <a:stCxn id="8" idx="2"/>
              <a:endCxn id="10" idx="0"/>
            </p:cNvCxnSpPr>
            <p:nvPr/>
          </p:nvCxnSpPr>
          <p:spPr>
            <a:xfrm>
              <a:off x="2919380" y="2001981"/>
              <a:ext cx="10368" cy="194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1B5BA965-5F90-14DD-E246-4602EB96660C}"/>
                </a:ext>
              </a:extLst>
            </p:cNvPr>
            <p:cNvCxnSpPr>
              <a:cxnSpLocks/>
              <a:stCxn id="7" idx="2"/>
              <a:endCxn id="8" idx="0"/>
            </p:cNvCxnSpPr>
            <p:nvPr/>
          </p:nvCxnSpPr>
          <p:spPr>
            <a:xfrm flipH="1">
              <a:off x="2919380" y="1379116"/>
              <a:ext cx="14227" cy="158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296AA9FC-8980-9FEF-C9D0-F6D88EDCAD43}"/>
                </a:ext>
              </a:extLst>
            </p:cNvPr>
            <p:cNvCxnSpPr>
              <a:cxnSpLocks/>
              <a:stCxn id="6" idx="3"/>
              <a:endCxn id="7" idx="0"/>
            </p:cNvCxnSpPr>
            <p:nvPr/>
          </p:nvCxnSpPr>
          <p:spPr>
            <a:xfrm>
              <a:off x="2918922" y="803564"/>
              <a:ext cx="14685" cy="208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流程图: 过程 13">
              <a:extLst>
                <a:ext uri="{FF2B5EF4-FFF2-40B4-BE49-F238E27FC236}">
                  <a16:creationId xmlns:a16="http://schemas.microsoft.com/office/drawing/2014/main" id="{1C12BC4E-43D8-F9CA-0841-9531B269C29D}"/>
                </a:ext>
              </a:extLst>
            </p:cNvPr>
            <p:cNvSpPr/>
            <p:nvPr/>
          </p:nvSpPr>
          <p:spPr>
            <a:xfrm>
              <a:off x="1897986" y="2832178"/>
              <a:ext cx="2057488" cy="581891"/>
            </a:xfrm>
            <a:prstGeom prst="flowChart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zh-CN" sz="105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根据约束条件生产</a:t>
              </a:r>
              <a:r>
                <a:rPr lang="en-US" sz="105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sz="105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个子群数</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12B479A5-87E7-68C0-B1D3-A14871A3D9AD}"/>
                </a:ext>
              </a:extLst>
            </p:cNvPr>
            <p:cNvCxnSpPr>
              <a:cxnSpLocks/>
              <a:stCxn id="10" idx="2"/>
              <a:endCxn id="14" idx="0"/>
            </p:cNvCxnSpPr>
            <p:nvPr/>
          </p:nvCxnSpPr>
          <p:spPr>
            <a:xfrm flipH="1">
              <a:off x="2926730" y="2660939"/>
              <a:ext cx="3019" cy="171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流程图: 过程 15">
              <a:extLst>
                <a:ext uri="{FF2B5EF4-FFF2-40B4-BE49-F238E27FC236}">
                  <a16:creationId xmlns:a16="http://schemas.microsoft.com/office/drawing/2014/main" id="{F94273BA-88BE-9685-C44A-41A4A3D639F9}"/>
                </a:ext>
              </a:extLst>
            </p:cNvPr>
            <p:cNvSpPr/>
            <p:nvPr/>
          </p:nvSpPr>
          <p:spPr>
            <a:xfrm>
              <a:off x="2001797" y="3613937"/>
              <a:ext cx="1863621" cy="701753"/>
            </a:xfrm>
            <a:prstGeom prst="flowChart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zh-CN" sz="105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运用带约束的</a:t>
              </a:r>
              <a:r>
                <a:rPr lang="en-US" sz="105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NSGA-II</a:t>
              </a:r>
              <a:r>
                <a:rPr lang="zh-CN" sz="105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评价</a:t>
              </a:r>
              <a:r>
                <a:rPr lang="en-US" sz="105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sz="105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个子群数并排序</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箭头连接符 16">
              <a:extLst>
                <a:ext uri="{FF2B5EF4-FFF2-40B4-BE49-F238E27FC236}">
                  <a16:creationId xmlns:a16="http://schemas.microsoft.com/office/drawing/2014/main" id="{B140160D-8172-88F1-B172-7E6855E83E76}"/>
                </a:ext>
              </a:extLst>
            </p:cNvPr>
            <p:cNvCxnSpPr>
              <a:stCxn id="14" idx="2"/>
              <a:endCxn id="16" idx="0"/>
            </p:cNvCxnSpPr>
            <p:nvPr/>
          </p:nvCxnSpPr>
          <p:spPr>
            <a:xfrm>
              <a:off x="2926730" y="3414069"/>
              <a:ext cx="6878" cy="199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流程图: 决策 17">
              <a:extLst>
                <a:ext uri="{FF2B5EF4-FFF2-40B4-BE49-F238E27FC236}">
                  <a16:creationId xmlns:a16="http://schemas.microsoft.com/office/drawing/2014/main" id="{31D71936-09FE-1BF9-E0BC-7C7D5F47499C}"/>
                </a:ext>
              </a:extLst>
            </p:cNvPr>
            <p:cNvSpPr/>
            <p:nvPr/>
          </p:nvSpPr>
          <p:spPr>
            <a:xfrm>
              <a:off x="1655463" y="4515052"/>
              <a:ext cx="2556319" cy="671946"/>
            </a:xfrm>
            <a:prstGeom prst="flowChartDecision">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zh-CN"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达到最大遗传代数</a:t>
              </a:r>
              <a:endParaRPr lang="zh-CN" sz="12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9" name="直接箭头连接符 18">
              <a:extLst>
                <a:ext uri="{FF2B5EF4-FFF2-40B4-BE49-F238E27FC236}">
                  <a16:creationId xmlns:a16="http://schemas.microsoft.com/office/drawing/2014/main" id="{3F53F4D7-D99E-3E07-B0A8-84743C556C51}"/>
                </a:ext>
              </a:extLst>
            </p:cNvPr>
            <p:cNvCxnSpPr>
              <a:stCxn id="16" idx="2"/>
              <a:endCxn id="18" idx="0"/>
            </p:cNvCxnSpPr>
            <p:nvPr/>
          </p:nvCxnSpPr>
          <p:spPr>
            <a:xfrm>
              <a:off x="2933608" y="4315690"/>
              <a:ext cx="15" cy="199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流程图: 过程 19">
              <a:extLst>
                <a:ext uri="{FF2B5EF4-FFF2-40B4-BE49-F238E27FC236}">
                  <a16:creationId xmlns:a16="http://schemas.microsoft.com/office/drawing/2014/main" id="{403BBF01-E9C7-B661-B014-D829DBC768C3}"/>
                </a:ext>
              </a:extLst>
            </p:cNvPr>
            <p:cNvSpPr/>
            <p:nvPr/>
          </p:nvSpPr>
          <p:spPr>
            <a:xfrm>
              <a:off x="2098964" y="5389418"/>
              <a:ext cx="1655440" cy="574964"/>
            </a:xfrm>
            <a:prstGeom prst="flowChart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zh-CN"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输出满意的</a:t>
              </a:r>
              <a:r>
                <a:rPr lang="en-US"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Pareto</a:t>
              </a:r>
              <a:r>
                <a:rPr lang="zh-CN"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解</a:t>
              </a:r>
              <a:endParaRPr lang="zh-CN" sz="12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流程图: 终止 20">
              <a:extLst>
                <a:ext uri="{FF2B5EF4-FFF2-40B4-BE49-F238E27FC236}">
                  <a16:creationId xmlns:a16="http://schemas.microsoft.com/office/drawing/2014/main" id="{94DD232E-6B86-F229-CA65-339472634A1D}"/>
                </a:ext>
              </a:extLst>
            </p:cNvPr>
            <p:cNvSpPr/>
            <p:nvPr/>
          </p:nvSpPr>
          <p:spPr>
            <a:xfrm>
              <a:off x="2451856" y="6179126"/>
              <a:ext cx="955825" cy="526474"/>
            </a:xfrm>
            <a:prstGeom prst="flowChartTerminator">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zh-CN"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结束</a:t>
              </a:r>
              <a:endParaRPr lang="zh-CN" sz="12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2" name="直接箭头连接符 21">
              <a:extLst>
                <a:ext uri="{FF2B5EF4-FFF2-40B4-BE49-F238E27FC236}">
                  <a16:creationId xmlns:a16="http://schemas.microsoft.com/office/drawing/2014/main" id="{21F52EFB-33A9-0F51-4D2B-55C2612DDB2D}"/>
                </a:ext>
              </a:extLst>
            </p:cNvPr>
            <p:cNvCxnSpPr>
              <a:stCxn id="18" idx="2"/>
              <a:endCxn id="20" idx="0"/>
            </p:cNvCxnSpPr>
            <p:nvPr/>
          </p:nvCxnSpPr>
          <p:spPr>
            <a:xfrm flipH="1">
              <a:off x="2926684" y="5186998"/>
              <a:ext cx="6939" cy="202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91BA5E67-08FF-FA67-5F26-2C319784FD69}"/>
                </a:ext>
              </a:extLst>
            </p:cNvPr>
            <p:cNvCxnSpPr>
              <a:stCxn id="20" idx="2"/>
              <a:endCxn id="21" idx="0"/>
            </p:cNvCxnSpPr>
            <p:nvPr/>
          </p:nvCxnSpPr>
          <p:spPr>
            <a:xfrm>
              <a:off x="2926684" y="5964382"/>
              <a:ext cx="3065" cy="214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流程图: 过程 23">
              <a:extLst>
                <a:ext uri="{FF2B5EF4-FFF2-40B4-BE49-F238E27FC236}">
                  <a16:creationId xmlns:a16="http://schemas.microsoft.com/office/drawing/2014/main" id="{F84EB668-E140-9250-C745-2A0316AF9B23}"/>
                </a:ext>
              </a:extLst>
            </p:cNvPr>
            <p:cNvSpPr/>
            <p:nvPr/>
          </p:nvSpPr>
          <p:spPr>
            <a:xfrm>
              <a:off x="152399" y="3318164"/>
              <a:ext cx="1281481" cy="436418"/>
            </a:xfrm>
            <a:prstGeom prst="flowChart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indent="127000" algn="ctr">
                <a:lnSpc>
                  <a:spcPct val="150000"/>
                </a:lnSpc>
              </a:pPr>
              <a:r>
                <a:rPr lang="zh-CN" sz="105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产生新一代种群</a:t>
              </a:r>
              <a:endParaRPr lang="zh-CN" sz="12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5" name="连接符: 肘形 24">
              <a:extLst>
                <a:ext uri="{FF2B5EF4-FFF2-40B4-BE49-F238E27FC236}">
                  <a16:creationId xmlns:a16="http://schemas.microsoft.com/office/drawing/2014/main" id="{9E574768-A031-F2A4-D70E-D54A1B6DC1AF}"/>
                </a:ext>
              </a:extLst>
            </p:cNvPr>
            <p:cNvCxnSpPr>
              <a:stCxn id="18" idx="1"/>
              <a:endCxn id="24" idx="2"/>
            </p:cNvCxnSpPr>
            <p:nvPr/>
          </p:nvCxnSpPr>
          <p:spPr>
            <a:xfrm rot="10800000">
              <a:off x="793141" y="3754583"/>
              <a:ext cx="862323" cy="109644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77595DAF-DF67-ED2E-ACEA-CAE6624B281D}"/>
                </a:ext>
              </a:extLst>
            </p:cNvPr>
            <p:cNvCxnSpPr>
              <a:cxnSpLocks/>
              <a:stCxn id="24" idx="0"/>
              <a:endCxn id="10" idx="1"/>
            </p:cNvCxnSpPr>
            <p:nvPr/>
          </p:nvCxnSpPr>
          <p:spPr>
            <a:xfrm rot="5400000" flipH="1" flipV="1">
              <a:off x="990747" y="2231268"/>
              <a:ext cx="889288" cy="128450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文本框 50">
              <a:extLst>
                <a:ext uri="{FF2B5EF4-FFF2-40B4-BE49-F238E27FC236}">
                  <a16:creationId xmlns:a16="http://schemas.microsoft.com/office/drawing/2014/main" id="{5510AFF8-59E0-A694-6542-7675F4AF3334}"/>
                </a:ext>
              </a:extLst>
            </p:cNvPr>
            <p:cNvSpPr txBox="1"/>
            <p:nvPr/>
          </p:nvSpPr>
          <p:spPr>
            <a:xfrm>
              <a:off x="1018136" y="4447309"/>
              <a:ext cx="346537" cy="37407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indent="127000" algn="just">
                <a:lnSpc>
                  <a:spcPct val="150000"/>
                </a:lnSpc>
              </a:pPr>
              <a:r>
                <a:rPr lang="zh-CN" sz="1200" kern="100">
                  <a:effectLst/>
                  <a:latin typeface="Times New Roman" panose="02020603050405020304" pitchFamily="18" charset="0"/>
                  <a:ea typeface="宋体" panose="02010600030101010101" pitchFamily="2" charset="-122"/>
                  <a:cs typeface="Times New Roman" panose="02020603050405020304" pitchFamily="18" charset="0"/>
                </a:rPr>
                <a:t>否</a:t>
              </a:r>
            </a:p>
          </p:txBody>
        </p:sp>
      </p:grpSp>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sym typeface="+mn-ea"/>
              </a:rPr>
              <a:t>研究方案</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多目标遗传算法</a:t>
            </a:r>
            <a:br>
              <a:rPr lang="en-US" altLang="zh-CN" sz="2400" b="1" dirty="0">
                <a:solidFill>
                  <a:srgbClr val="C00000"/>
                </a:solidFill>
                <a:latin typeface="微软雅黑" panose="020B0503020204020204" pitchFamily="34" charset="-122"/>
                <a:ea typeface="微软雅黑" panose="020B0503020204020204" pitchFamily="34" charset="-122"/>
              </a:rPr>
            </a:b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优化过程</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24</a:t>
            </a:fld>
            <a:endParaRPr lang="zh-CN" altLang="en-US" dirty="0">
              <a:solidFill>
                <a:srgbClr val="FFFFFF"/>
              </a:solidFill>
              <a:latin typeface="Arial" panose="020B0604020202020204" pitchFamily="34" charset="0"/>
              <a:cs typeface="Arial" panose="020B0604020202020204" pitchFamily="34" charset="0"/>
            </a:endParaRPr>
          </a:p>
        </p:txBody>
      </p:sp>
      <p:sp>
        <p:nvSpPr>
          <p:cNvPr id="3" name="思想气泡: 云 2">
            <a:extLst>
              <a:ext uri="{FF2B5EF4-FFF2-40B4-BE49-F238E27FC236}">
                <a16:creationId xmlns:a16="http://schemas.microsoft.com/office/drawing/2014/main" id="{1757F657-C28D-CDB3-8071-B0E68E7A55CF}"/>
              </a:ext>
            </a:extLst>
          </p:cNvPr>
          <p:cNvSpPr/>
          <p:nvPr/>
        </p:nvSpPr>
        <p:spPr>
          <a:xfrm>
            <a:off x="502327" y="2132246"/>
            <a:ext cx="1987695" cy="1282946"/>
          </a:xfrm>
          <a:prstGeom prst="cloudCallout">
            <a:avLst>
              <a:gd name="adj1" fmla="val 43757"/>
              <a:gd name="adj2" fmla="val 473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遗传算法优化示意图</a:t>
            </a:r>
          </a:p>
        </p:txBody>
      </p:sp>
    </p:spTree>
    <p:extLst>
      <p:ext uri="{BB962C8B-B14F-4D97-AF65-F5344CB8AC3E}">
        <p14:creationId xmlns:p14="http://schemas.microsoft.com/office/powerpoint/2010/main" val="1541766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sym typeface="+mn-ea"/>
              </a:rPr>
              <a:t>研究方案</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建立动态模型</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25</a:t>
            </a:fld>
            <a:endParaRPr lang="zh-CN" altLang="en-US" dirty="0">
              <a:solidFill>
                <a:srgbClr val="FFFFFF"/>
              </a:solidFill>
              <a:latin typeface="Arial" panose="020B0604020202020204" pitchFamily="34" charset="0"/>
              <a:cs typeface="Arial" panose="020B0604020202020204" pitchFamily="34" charset="0"/>
            </a:endParaRPr>
          </a:p>
        </p:txBody>
      </p:sp>
      <p:pic>
        <p:nvPicPr>
          <p:cNvPr id="4" name="内容占位符 3">
            <a:extLst>
              <a:ext uri="{FF2B5EF4-FFF2-40B4-BE49-F238E27FC236}">
                <a16:creationId xmlns:a16="http://schemas.microsoft.com/office/drawing/2014/main" id="{7AB909CD-58F2-5640-1710-E6E682041C98}"/>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755470" y="1417638"/>
            <a:ext cx="4537226" cy="3989388"/>
          </a:xfrm>
          <a:prstGeom prst="rect">
            <a:avLst/>
          </a:prstGeom>
        </p:spPr>
      </p:pic>
      <p:sp>
        <p:nvSpPr>
          <p:cNvPr id="5" name="文本框 4">
            <a:extLst>
              <a:ext uri="{FF2B5EF4-FFF2-40B4-BE49-F238E27FC236}">
                <a16:creationId xmlns:a16="http://schemas.microsoft.com/office/drawing/2014/main" id="{763F7647-24B8-FA51-FFE0-B928A7ADAC7A}"/>
              </a:ext>
            </a:extLst>
          </p:cNvPr>
          <p:cNvSpPr txBox="1"/>
          <p:nvPr/>
        </p:nvSpPr>
        <p:spPr>
          <a:xfrm>
            <a:off x="5148080" y="1669647"/>
            <a:ext cx="3047946" cy="1527469"/>
          </a:xfrm>
          <a:prstGeom prst="rect">
            <a:avLst/>
          </a:prstGeom>
          <a:noFill/>
        </p:spPr>
        <p:txBody>
          <a:bodyPr wrap="square" rtlCol="0">
            <a:spAutoFit/>
          </a:bodyPr>
          <a:lstStyle/>
          <a:p>
            <a:pPr algn="just">
              <a:lnSpc>
                <a:spcPct val="150000"/>
              </a:lnSpc>
            </a:pPr>
            <a:r>
              <a:rPr lang="zh-CN" altLang="en-US" sz="1600" dirty="0"/>
              <a:t>（</a:t>
            </a:r>
            <a:r>
              <a:rPr lang="en-US" altLang="zh-CN" sz="1600" dirty="0"/>
              <a:t>1</a:t>
            </a:r>
            <a:r>
              <a:rPr lang="zh-CN" altLang="en-US" sz="1600" dirty="0"/>
              <a:t>）基于</a:t>
            </a:r>
            <a:r>
              <a:rPr lang="en-US" altLang="zh-CN" sz="1600" dirty="0"/>
              <a:t>Aspen dynamic</a:t>
            </a:r>
            <a:r>
              <a:rPr lang="zh-CN" altLang="en-US" sz="1600" dirty="0"/>
              <a:t>或</a:t>
            </a:r>
            <a:r>
              <a:rPr lang="en-US" altLang="zh-CN" sz="1600" dirty="0" err="1"/>
              <a:t>hysys</a:t>
            </a:r>
            <a:r>
              <a:rPr lang="zh-CN" altLang="en-US" sz="1600" dirty="0"/>
              <a:t>建立动态模型，在最优的稳态结构进行动态模型的建立，对动态模型进行调试。</a:t>
            </a:r>
          </a:p>
        </p:txBody>
      </p:sp>
      <p:sp>
        <p:nvSpPr>
          <p:cNvPr id="6" name="文本框 5">
            <a:extLst>
              <a:ext uri="{FF2B5EF4-FFF2-40B4-BE49-F238E27FC236}">
                <a16:creationId xmlns:a16="http://schemas.microsoft.com/office/drawing/2014/main" id="{296EBE6D-7904-9DBA-5DC1-BC96E393FAC7}"/>
              </a:ext>
            </a:extLst>
          </p:cNvPr>
          <p:cNvSpPr txBox="1"/>
          <p:nvPr/>
        </p:nvSpPr>
        <p:spPr>
          <a:xfrm>
            <a:off x="5148080" y="3293765"/>
            <a:ext cx="3127500" cy="1527469"/>
          </a:xfrm>
          <a:prstGeom prst="rect">
            <a:avLst/>
          </a:prstGeom>
          <a:noFill/>
        </p:spPr>
        <p:txBody>
          <a:bodyPr wrap="square">
            <a:spAutoFit/>
          </a:bodyPr>
          <a:lstStyle/>
          <a:p>
            <a:pPr algn="just">
              <a:lnSpc>
                <a:spcPct val="150000"/>
              </a:lnSpc>
            </a:pPr>
            <a:r>
              <a:rPr lang="zh-CN" altLang="en-US" sz="1600" dirty="0"/>
              <a:t> （</a:t>
            </a:r>
            <a:r>
              <a:rPr lang="en-US" altLang="zh-CN" sz="1600" dirty="0"/>
              <a:t>2</a:t>
            </a:r>
            <a:r>
              <a:rPr lang="zh-CN" altLang="en-US" sz="1600" dirty="0"/>
              <a:t>）采用 </a:t>
            </a:r>
            <a:r>
              <a:rPr lang="en-US" altLang="zh-CN" sz="1600" dirty="0"/>
              <a:t>MATLAB </a:t>
            </a:r>
            <a:r>
              <a:rPr lang="zh-CN" altLang="en-US" sz="1600" dirty="0"/>
              <a:t>基于 </a:t>
            </a:r>
            <a:r>
              <a:rPr lang="en-US" altLang="zh-CN" sz="1600" dirty="0"/>
              <a:t>ActiveX </a:t>
            </a:r>
            <a:r>
              <a:rPr lang="zh-CN" altLang="en-US" sz="1600" dirty="0"/>
              <a:t>控件技术连接</a:t>
            </a:r>
            <a:r>
              <a:rPr lang="en-US" altLang="zh-CN" sz="1600" dirty="0"/>
              <a:t>HYSYS</a:t>
            </a:r>
            <a:r>
              <a:rPr lang="zh-CN" altLang="en-US" sz="1600" dirty="0"/>
              <a:t>，建立</a:t>
            </a:r>
            <a:r>
              <a:rPr lang="en-US" altLang="zh-CN" sz="1600" dirty="0"/>
              <a:t>Aspen dynamic</a:t>
            </a:r>
            <a:r>
              <a:rPr lang="zh-CN" altLang="en-US" sz="1600" dirty="0"/>
              <a:t>或</a:t>
            </a:r>
            <a:r>
              <a:rPr lang="en-US" altLang="zh-CN" sz="1600" dirty="0"/>
              <a:t>HYSYS </a:t>
            </a:r>
            <a:r>
              <a:rPr lang="zh-CN" altLang="en-US" sz="1600" dirty="0"/>
              <a:t>和 </a:t>
            </a:r>
            <a:r>
              <a:rPr lang="en-US" altLang="zh-CN" sz="1600" dirty="0"/>
              <a:t>MATLAB </a:t>
            </a:r>
            <a:r>
              <a:rPr lang="zh-CN" altLang="en-US" sz="1600" dirty="0"/>
              <a:t>通讯，实现软件之间的交互作用。</a:t>
            </a:r>
          </a:p>
        </p:txBody>
      </p:sp>
      <p:sp>
        <p:nvSpPr>
          <p:cNvPr id="3" name="文本框 2">
            <a:extLst>
              <a:ext uri="{FF2B5EF4-FFF2-40B4-BE49-F238E27FC236}">
                <a16:creationId xmlns:a16="http://schemas.microsoft.com/office/drawing/2014/main" id="{218104DD-FA4E-6CFB-BC85-20282F993C34}"/>
              </a:ext>
            </a:extLst>
          </p:cNvPr>
          <p:cNvSpPr txBox="1"/>
          <p:nvPr/>
        </p:nvSpPr>
        <p:spPr>
          <a:xfrm>
            <a:off x="1043510" y="5423694"/>
            <a:ext cx="3384470" cy="369332"/>
          </a:xfrm>
          <a:prstGeom prst="rect">
            <a:avLst/>
          </a:prstGeom>
          <a:noFill/>
        </p:spPr>
        <p:txBody>
          <a:bodyPr wrap="square" rtlCol="0">
            <a:spAutoFit/>
          </a:bodyPr>
          <a:lstStyle/>
          <a:p>
            <a:pPr algn="ctr"/>
            <a:r>
              <a:rPr lang="zh-CN" altLang="en-US" dirty="0"/>
              <a:t>隔壁塔的三塔等效模型</a:t>
            </a:r>
          </a:p>
        </p:txBody>
      </p:sp>
    </p:spTree>
    <p:extLst>
      <p:ext uri="{BB962C8B-B14F-4D97-AF65-F5344CB8AC3E}">
        <p14:creationId xmlns:p14="http://schemas.microsoft.com/office/powerpoint/2010/main" val="3457017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47D1D59-768E-437E-12B4-95B59B8927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8316" y="1059263"/>
            <a:ext cx="2882580" cy="2354443"/>
          </a:xfrm>
          <a:prstGeom prst="rect">
            <a:avLst/>
          </a:prstGeom>
        </p:spPr>
      </p:pic>
      <p:pic>
        <p:nvPicPr>
          <p:cNvPr id="14" name="图片 13">
            <a:extLst>
              <a:ext uri="{FF2B5EF4-FFF2-40B4-BE49-F238E27FC236}">
                <a16:creationId xmlns:a16="http://schemas.microsoft.com/office/drawing/2014/main" id="{FDF7A706-6727-3063-0260-D29483A246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9780" y="1014347"/>
            <a:ext cx="2494571" cy="2657944"/>
          </a:xfrm>
          <a:prstGeom prst="rect">
            <a:avLst/>
          </a:prstGeom>
        </p:spPr>
      </p:pic>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sym typeface="+mn-ea"/>
              </a:rPr>
              <a:t>研究方案</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控制结构</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26</a:t>
            </a:fld>
            <a:endParaRPr lang="zh-CN" altLang="en-US" dirty="0">
              <a:solidFill>
                <a:srgbClr val="FFFFFF"/>
              </a:solidFill>
              <a:latin typeface="Arial" panose="020B0604020202020204" pitchFamily="34" charset="0"/>
              <a:cs typeface="Arial" panose="020B0604020202020204" pitchFamily="34" charset="0"/>
            </a:endParaRPr>
          </a:p>
        </p:txBody>
      </p:sp>
      <p:sp>
        <p:nvSpPr>
          <p:cNvPr id="3" name="矩形 2">
            <a:extLst>
              <a:ext uri="{FF2B5EF4-FFF2-40B4-BE49-F238E27FC236}">
                <a16:creationId xmlns:a16="http://schemas.microsoft.com/office/drawing/2014/main" id="{9D18AD68-045D-0A2E-D3CD-B22937A5C999}"/>
              </a:ext>
            </a:extLst>
          </p:cNvPr>
          <p:cNvSpPr/>
          <p:nvPr/>
        </p:nvSpPr>
        <p:spPr>
          <a:xfrm>
            <a:off x="5036763" y="1685920"/>
            <a:ext cx="559289" cy="57608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9DDFC02C-18D8-BA5C-8929-7AAB83881E12}"/>
              </a:ext>
            </a:extLst>
          </p:cNvPr>
          <p:cNvSpPr/>
          <p:nvPr/>
        </p:nvSpPr>
        <p:spPr>
          <a:xfrm>
            <a:off x="4510018" y="2431101"/>
            <a:ext cx="648090" cy="50407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EF8D5343-0DE8-DB63-DDC2-D2CBFD81F037}"/>
              </a:ext>
            </a:extLst>
          </p:cNvPr>
          <p:cNvSpPr/>
          <p:nvPr/>
        </p:nvSpPr>
        <p:spPr>
          <a:xfrm>
            <a:off x="3644130" y="2945710"/>
            <a:ext cx="559289" cy="50407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958CC77A-9CF9-CC74-5F55-F996A3B5EB20}"/>
              </a:ext>
            </a:extLst>
          </p:cNvPr>
          <p:cNvSpPr/>
          <p:nvPr/>
        </p:nvSpPr>
        <p:spPr>
          <a:xfrm>
            <a:off x="3485777" y="2053500"/>
            <a:ext cx="648090" cy="50407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6C93917-576D-31F1-4B44-BE2425498B82}"/>
              </a:ext>
            </a:extLst>
          </p:cNvPr>
          <p:cNvSpPr/>
          <p:nvPr/>
        </p:nvSpPr>
        <p:spPr>
          <a:xfrm>
            <a:off x="7329606" y="2342332"/>
            <a:ext cx="823430" cy="5591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4AA6558-C0EF-2174-9EE0-FA24C582EA2F}"/>
              </a:ext>
            </a:extLst>
          </p:cNvPr>
          <p:cNvSpPr/>
          <p:nvPr/>
        </p:nvSpPr>
        <p:spPr>
          <a:xfrm>
            <a:off x="6199012" y="1836951"/>
            <a:ext cx="823431" cy="5591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41A9D18-A6F1-32E4-C808-4085CC5677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104" y="930611"/>
            <a:ext cx="2422015" cy="2796339"/>
          </a:xfrm>
          <a:prstGeom prst="rect">
            <a:avLst/>
          </a:prstGeom>
        </p:spPr>
      </p:pic>
      <p:grpSp>
        <p:nvGrpSpPr>
          <p:cNvPr id="18" name="组合 17">
            <a:extLst>
              <a:ext uri="{FF2B5EF4-FFF2-40B4-BE49-F238E27FC236}">
                <a16:creationId xmlns:a16="http://schemas.microsoft.com/office/drawing/2014/main" id="{31C25F47-9C8D-CC3D-FE98-00CB39ACB7B5}"/>
              </a:ext>
            </a:extLst>
          </p:cNvPr>
          <p:cNvGrpSpPr/>
          <p:nvPr/>
        </p:nvGrpSpPr>
        <p:grpSpPr>
          <a:xfrm>
            <a:off x="258137" y="3582807"/>
            <a:ext cx="8853878" cy="1200369"/>
            <a:chOff x="1582468" y="3466095"/>
            <a:chExt cx="10557375" cy="1244600"/>
          </a:xfrm>
          <a:solidFill>
            <a:schemeClr val="accent2">
              <a:lumMod val="20000"/>
              <a:lumOff val="80000"/>
            </a:schemeClr>
          </a:solidFill>
        </p:grpSpPr>
        <p:grpSp>
          <p:nvGrpSpPr>
            <p:cNvPr id="19" name="组合 18">
              <a:extLst>
                <a:ext uri="{FF2B5EF4-FFF2-40B4-BE49-F238E27FC236}">
                  <a16:creationId xmlns:a16="http://schemas.microsoft.com/office/drawing/2014/main" id="{FFFF7D6B-658C-EF5F-EB46-A88E477AFEC9}"/>
                </a:ext>
              </a:extLst>
            </p:cNvPr>
            <p:cNvGrpSpPr/>
            <p:nvPr/>
          </p:nvGrpSpPr>
          <p:grpSpPr>
            <a:xfrm>
              <a:off x="1582468" y="3466095"/>
              <a:ext cx="10557375" cy="1244600"/>
              <a:chOff x="2047254" y="2182850"/>
              <a:chExt cx="10557375" cy="1244600"/>
            </a:xfrm>
            <a:grpFill/>
          </p:grpSpPr>
          <p:sp>
            <p:nvSpPr>
              <p:cNvPr id="24" name="Freeform 14">
                <a:extLst>
                  <a:ext uri="{FF2B5EF4-FFF2-40B4-BE49-F238E27FC236}">
                    <a16:creationId xmlns:a16="http://schemas.microsoft.com/office/drawing/2014/main" id="{944E1560-B4D5-8706-F268-D891995FE1C6}"/>
                  </a:ext>
                </a:extLst>
              </p:cNvPr>
              <p:cNvSpPr>
                <a:spLocks/>
              </p:cNvSpPr>
              <p:nvPr/>
            </p:nvSpPr>
            <p:spPr bwMode="auto">
              <a:xfrm rot="10800000">
                <a:off x="2711329" y="2182850"/>
                <a:ext cx="9893300" cy="1244600"/>
              </a:xfrm>
              <a:custGeom>
                <a:avLst/>
                <a:gdLst>
                  <a:gd name="T0" fmla="*/ 2147483647 w 12294"/>
                  <a:gd name="T1" fmla="*/ 2147483647 h 1546"/>
                  <a:gd name="T2" fmla="*/ 2147483647 w 12294"/>
                  <a:gd name="T3" fmla="*/ 2147483647 h 1546"/>
                  <a:gd name="T4" fmla="*/ 2147483647 w 12294"/>
                  <a:gd name="T5" fmla="*/ 2147483647 h 1546"/>
                  <a:gd name="T6" fmla="*/ 2147483647 w 12294"/>
                  <a:gd name="T7" fmla="*/ 2147483647 h 1546"/>
                  <a:gd name="T8" fmla="*/ 2147483647 w 12294"/>
                  <a:gd name="T9" fmla="*/ 2147483647 h 1546"/>
                  <a:gd name="T10" fmla="*/ 2147483647 w 12294"/>
                  <a:gd name="T11" fmla="*/ 2147483647 h 1546"/>
                  <a:gd name="T12" fmla="*/ 0 w 12294"/>
                  <a:gd name="T13" fmla="*/ 2147483647 h 1546"/>
                  <a:gd name="T14" fmla="*/ 2147483647 w 12294"/>
                  <a:gd name="T15" fmla="*/ 2147483647 h 1546"/>
                  <a:gd name="T16" fmla="*/ 2147483647 w 12294"/>
                  <a:gd name="T17" fmla="*/ 0 h 1546"/>
                  <a:gd name="T18" fmla="*/ 2147483647 w 12294"/>
                  <a:gd name="T19" fmla="*/ 2147483647 h 15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294" h="1546">
                    <a:moveTo>
                      <a:pt x="523" y="203"/>
                    </a:moveTo>
                    <a:lnTo>
                      <a:pt x="12294" y="203"/>
                    </a:lnTo>
                    <a:lnTo>
                      <a:pt x="11153" y="1343"/>
                    </a:lnTo>
                    <a:lnTo>
                      <a:pt x="523" y="1343"/>
                    </a:lnTo>
                    <a:lnTo>
                      <a:pt x="523" y="1546"/>
                    </a:lnTo>
                    <a:lnTo>
                      <a:pt x="261" y="1159"/>
                    </a:lnTo>
                    <a:lnTo>
                      <a:pt x="0" y="773"/>
                    </a:lnTo>
                    <a:lnTo>
                      <a:pt x="261" y="387"/>
                    </a:lnTo>
                    <a:lnTo>
                      <a:pt x="523" y="0"/>
                    </a:lnTo>
                    <a:lnTo>
                      <a:pt x="523" y="2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4C54"/>
                  </a:solidFill>
                  <a:effectLst/>
                  <a:uLnTx/>
                  <a:uFillTx/>
                </a:endParaRPr>
              </a:p>
            </p:txBody>
          </p:sp>
          <p:sp>
            <p:nvSpPr>
              <p:cNvPr id="25" name="Freeform 15">
                <a:extLst>
                  <a:ext uri="{FF2B5EF4-FFF2-40B4-BE49-F238E27FC236}">
                    <a16:creationId xmlns:a16="http://schemas.microsoft.com/office/drawing/2014/main" id="{B030B8D1-F35D-1752-9064-A2415C531C7A}"/>
                  </a:ext>
                </a:extLst>
              </p:cNvPr>
              <p:cNvSpPr>
                <a:spLocks/>
              </p:cNvSpPr>
              <p:nvPr/>
            </p:nvSpPr>
            <p:spPr bwMode="auto">
              <a:xfrm>
                <a:off x="2047254" y="2349500"/>
                <a:ext cx="9883775" cy="915988"/>
              </a:xfrm>
              <a:custGeom>
                <a:avLst/>
                <a:gdLst>
                  <a:gd name="T0" fmla="*/ 0 w 12281"/>
                  <a:gd name="T1" fmla="*/ 0 h 1140"/>
                  <a:gd name="T2" fmla="*/ 2147483647 w 12281"/>
                  <a:gd name="T3" fmla="*/ 0 h 1140"/>
                  <a:gd name="T4" fmla="*/ 2147483647 w 12281"/>
                  <a:gd name="T5" fmla="*/ 2147483647 h 1140"/>
                  <a:gd name="T6" fmla="*/ 0 w 12281"/>
                  <a:gd name="T7" fmla="*/ 2147483647 h 1140"/>
                  <a:gd name="T8" fmla="*/ 2147483647 w 12281"/>
                  <a:gd name="T9" fmla="*/ 2147483647 h 1140"/>
                  <a:gd name="T10" fmla="*/ 0 w 12281"/>
                  <a:gd name="T11" fmla="*/ 0 h 11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281" h="1140">
                    <a:moveTo>
                      <a:pt x="0" y="0"/>
                    </a:moveTo>
                    <a:lnTo>
                      <a:pt x="11140" y="0"/>
                    </a:lnTo>
                    <a:lnTo>
                      <a:pt x="12281" y="1140"/>
                    </a:lnTo>
                    <a:lnTo>
                      <a:pt x="0" y="1140"/>
                    </a:lnTo>
                    <a:lnTo>
                      <a:pt x="570" y="57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4C54"/>
                  </a:solidFill>
                  <a:effectLst/>
                  <a:uLnTx/>
                  <a:uFillTx/>
                </a:endParaRPr>
              </a:p>
            </p:txBody>
          </p:sp>
        </p:grpSp>
        <p:sp>
          <p:nvSpPr>
            <p:cNvPr id="20" name="Oval 17">
              <a:extLst>
                <a:ext uri="{FF2B5EF4-FFF2-40B4-BE49-F238E27FC236}">
                  <a16:creationId xmlns:a16="http://schemas.microsoft.com/office/drawing/2014/main" id="{A4F56905-20BD-F1E4-AD3F-D83D99395800}"/>
                </a:ext>
              </a:extLst>
            </p:cNvPr>
            <p:cNvSpPr>
              <a:spLocks noChangeArrowheads="1"/>
            </p:cNvSpPr>
            <p:nvPr/>
          </p:nvSpPr>
          <p:spPr bwMode="auto">
            <a:xfrm>
              <a:off x="2386856" y="3827615"/>
              <a:ext cx="1840525" cy="5080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200" b="1" kern="0" dirty="0">
                  <a:solidFill>
                    <a:srgbClr val="FF0000"/>
                  </a:solidFill>
                </a:rPr>
                <a:t>组分控制</a:t>
              </a:r>
              <a:endParaRPr kumimoji="0" lang="zh-CN" altLang="en-US" sz="1200" b="1" i="0" u="none" strike="noStrike" kern="0" cap="none" spc="0" normalizeH="0" baseline="0" noProof="0" dirty="0">
                <a:ln>
                  <a:noFill/>
                </a:ln>
                <a:solidFill>
                  <a:srgbClr val="FF0000"/>
                </a:solidFill>
                <a:effectLst/>
                <a:uLnTx/>
                <a:uFillTx/>
              </a:endParaRPr>
            </a:p>
          </p:txBody>
        </p:sp>
        <p:sp>
          <p:nvSpPr>
            <p:cNvPr id="21" name="Oval 17">
              <a:extLst>
                <a:ext uri="{FF2B5EF4-FFF2-40B4-BE49-F238E27FC236}">
                  <a16:creationId xmlns:a16="http://schemas.microsoft.com/office/drawing/2014/main" id="{52D8727C-D8F1-7DEC-9263-78496F418347}"/>
                </a:ext>
              </a:extLst>
            </p:cNvPr>
            <p:cNvSpPr>
              <a:spLocks noChangeArrowheads="1"/>
            </p:cNvSpPr>
            <p:nvPr/>
          </p:nvSpPr>
          <p:spPr bwMode="auto">
            <a:xfrm>
              <a:off x="5791897" y="3827615"/>
              <a:ext cx="1840525" cy="5080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200" b="1" kern="0" dirty="0">
                  <a:solidFill>
                    <a:srgbClr val="0070C0"/>
                  </a:solidFill>
                </a:rPr>
                <a:t>温度控制</a:t>
              </a:r>
              <a:endParaRPr kumimoji="0" lang="zh-CN" altLang="en-US" sz="1200" b="1" i="0" u="none" strike="noStrike" kern="0" cap="none" spc="0" normalizeH="0" baseline="0" noProof="0" dirty="0">
                <a:ln>
                  <a:noFill/>
                </a:ln>
                <a:solidFill>
                  <a:srgbClr val="0070C0"/>
                </a:solidFill>
                <a:effectLst/>
                <a:uLnTx/>
                <a:uFillTx/>
              </a:endParaRPr>
            </a:p>
          </p:txBody>
        </p:sp>
        <p:sp>
          <p:nvSpPr>
            <p:cNvPr id="22" name="Oval 17">
              <a:extLst>
                <a:ext uri="{FF2B5EF4-FFF2-40B4-BE49-F238E27FC236}">
                  <a16:creationId xmlns:a16="http://schemas.microsoft.com/office/drawing/2014/main" id="{C469DE2D-922F-652E-89B1-27BE2472EF74}"/>
                </a:ext>
              </a:extLst>
            </p:cNvPr>
            <p:cNvSpPr>
              <a:spLocks noChangeArrowheads="1"/>
            </p:cNvSpPr>
            <p:nvPr/>
          </p:nvSpPr>
          <p:spPr bwMode="auto">
            <a:xfrm>
              <a:off x="9196937" y="3827615"/>
              <a:ext cx="1840525" cy="5080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200" b="1" kern="0" dirty="0">
                  <a:solidFill>
                    <a:srgbClr val="00B050"/>
                  </a:solidFill>
                </a:rPr>
                <a:t>温差控制</a:t>
              </a:r>
              <a:endParaRPr kumimoji="0" lang="zh-CN" altLang="en-US" sz="1200" b="1" i="0" u="none" strike="noStrike" kern="0" cap="none" spc="0" normalizeH="0" baseline="0" noProof="0" dirty="0">
                <a:ln>
                  <a:noFill/>
                </a:ln>
                <a:solidFill>
                  <a:srgbClr val="00B050"/>
                </a:solidFill>
                <a:effectLst/>
                <a:uLnTx/>
                <a:uFillTx/>
              </a:endParaRPr>
            </a:p>
          </p:txBody>
        </p:sp>
      </p:grpSp>
      <p:sp>
        <p:nvSpPr>
          <p:cNvPr id="26" name="TextBox 14">
            <a:extLst>
              <a:ext uri="{FF2B5EF4-FFF2-40B4-BE49-F238E27FC236}">
                <a16:creationId xmlns:a16="http://schemas.microsoft.com/office/drawing/2014/main" id="{81738C9A-FE9C-B209-4473-E8F7B69B2E21}"/>
              </a:ext>
            </a:extLst>
          </p:cNvPr>
          <p:cNvSpPr txBox="1">
            <a:spLocks noChangeArrowheads="1"/>
          </p:cNvSpPr>
          <p:nvPr/>
        </p:nvSpPr>
        <p:spPr bwMode="auto">
          <a:xfrm>
            <a:off x="744860" y="4810661"/>
            <a:ext cx="1919288" cy="76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lnSpc>
                <a:spcPct val="125000"/>
              </a:lnSpc>
            </a:pPr>
            <a:r>
              <a:rPr lang="zh-CN" altLang="en-US" sz="1200" dirty="0">
                <a:latin typeface="Calibri" panose="020F0502020204030204" pitchFamily="34" charset="0"/>
                <a:cs typeface="Times New Roman" panose="02020603050405020304" pitchFamily="18" charset="0"/>
              </a:rPr>
              <a:t>优点：</a:t>
            </a:r>
            <a:r>
              <a:rPr lang="zh-CN" altLang="zh-CN" sz="1200" dirty="0">
                <a:effectLst/>
                <a:latin typeface="Calibri" panose="020F0502020204030204" pitchFamily="34" charset="0"/>
                <a:cs typeface="Times New Roman" panose="02020603050405020304" pitchFamily="18" charset="0"/>
              </a:rPr>
              <a:t>简单、稳定性</a:t>
            </a:r>
            <a:endParaRPr lang="en-US" altLang="zh-CN" sz="1200" dirty="0">
              <a:effectLst/>
              <a:latin typeface="Calibri" panose="020F0502020204030204" pitchFamily="34" charset="0"/>
              <a:cs typeface="Times New Roman" panose="02020603050405020304" pitchFamily="18" charset="0"/>
            </a:endParaRPr>
          </a:p>
          <a:p>
            <a:pPr algn="just" eaLnBrk="1" hangingPunct="1">
              <a:lnSpc>
                <a:spcPct val="125000"/>
              </a:lnSpc>
            </a:pPr>
            <a:r>
              <a:rPr lang="zh-CN" altLang="en-US" sz="1200" dirty="0">
                <a:latin typeface="Calibri" panose="020F0502020204030204" pitchFamily="34" charset="0"/>
                <a:cs typeface="Times New Roman" panose="02020603050405020304" pitchFamily="18" charset="0"/>
              </a:rPr>
              <a:t>缺点：</a:t>
            </a:r>
            <a:r>
              <a:rPr lang="zh-CN" altLang="zh-CN" sz="1200" dirty="0">
                <a:effectLst/>
                <a:latin typeface="Calibri" panose="020F0502020204030204" pitchFamily="34" charset="0"/>
                <a:cs typeface="Times New Roman" panose="02020603050405020304" pitchFamily="18" charset="0"/>
              </a:rPr>
              <a:t>纯组分控制回路响应时间较长</a:t>
            </a:r>
            <a:endParaRPr lang="zh-CN" altLang="en-US" sz="1200" dirty="0">
              <a:solidFill>
                <a:schemeClr val="accent1"/>
              </a:solidFill>
              <a:latin typeface="微软雅黑" pitchFamily="34" charset="-122"/>
              <a:ea typeface="微软雅黑" pitchFamily="34" charset="-122"/>
            </a:endParaRPr>
          </a:p>
        </p:txBody>
      </p:sp>
      <p:sp>
        <p:nvSpPr>
          <p:cNvPr id="27" name="TextBox 14">
            <a:extLst>
              <a:ext uri="{FF2B5EF4-FFF2-40B4-BE49-F238E27FC236}">
                <a16:creationId xmlns:a16="http://schemas.microsoft.com/office/drawing/2014/main" id="{90F6D5A2-6A33-8286-FCF1-E8CC28333392}"/>
              </a:ext>
            </a:extLst>
          </p:cNvPr>
          <p:cNvSpPr txBox="1">
            <a:spLocks noChangeArrowheads="1"/>
          </p:cNvSpPr>
          <p:nvPr/>
        </p:nvSpPr>
        <p:spPr bwMode="auto">
          <a:xfrm>
            <a:off x="3760504" y="4819489"/>
            <a:ext cx="1919288" cy="145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lnSpc>
                <a:spcPct val="125000"/>
              </a:lnSpc>
            </a:pPr>
            <a:r>
              <a:rPr lang="zh-CN" altLang="en-US" sz="1200" dirty="0">
                <a:latin typeface="Calibri" panose="020F0502020204030204" pitchFamily="34" charset="0"/>
                <a:cs typeface="Times New Roman" panose="02020603050405020304" pitchFamily="18" charset="0"/>
              </a:rPr>
              <a:t>优点：</a:t>
            </a:r>
            <a:r>
              <a:rPr lang="zh-CN" altLang="en-US" sz="1200" dirty="0">
                <a:effectLst/>
                <a:latin typeface="Calibri" panose="020F0502020204030204" pitchFamily="34" charset="0"/>
                <a:cs typeface="Times New Roman" panose="02020603050405020304" pitchFamily="18" charset="0"/>
              </a:rPr>
              <a:t>响应速度快，成本低，操作简单</a:t>
            </a:r>
            <a:endParaRPr lang="en-US" altLang="zh-CN" sz="1200" dirty="0">
              <a:effectLst/>
              <a:latin typeface="Calibri" panose="020F0502020204030204" pitchFamily="34" charset="0"/>
              <a:cs typeface="Times New Roman" panose="02020603050405020304" pitchFamily="18" charset="0"/>
            </a:endParaRPr>
          </a:p>
          <a:p>
            <a:pPr algn="just" eaLnBrk="1" hangingPunct="1">
              <a:lnSpc>
                <a:spcPct val="125000"/>
              </a:lnSpc>
            </a:pPr>
            <a:r>
              <a:rPr lang="zh-CN" altLang="en-US" sz="1200" dirty="0">
                <a:latin typeface="Calibri" panose="020F0502020204030204" pitchFamily="34" charset="0"/>
                <a:cs typeface="Times New Roman" panose="02020603050405020304" pitchFamily="18" charset="0"/>
              </a:rPr>
              <a:t>缺点：</a:t>
            </a:r>
            <a:r>
              <a:rPr lang="zh-CN" altLang="en-US" sz="1200" dirty="0">
                <a:effectLst/>
                <a:latin typeface="Calibri" panose="020F0502020204030204" pitchFamily="34" charset="0"/>
                <a:cs typeface="Times New Roman" panose="02020603050405020304" pitchFamily="18" charset="0"/>
              </a:rPr>
              <a:t>进料组分波动大于</a:t>
            </a:r>
            <a:r>
              <a:rPr lang="en-US" altLang="zh-CN" sz="1200" dirty="0">
                <a:effectLst/>
                <a:latin typeface="Calibri" panose="020F0502020204030204" pitchFamily="34" charset="0"/>
                <a:cs typeface="Times New Roman" panose="02020603050405020304" pitchFamily="18" charset="0"/>
              </a:rPr>
              <a:t>10%</a:t>
            </a:r>
            <a:r>
              <a:rPr lang="zh-CN" altLang="en-US" sz="1200" dirty="0">
                <a:effectLst/>
                <a:latin typeface="Calibri" panose="020F0502020204030204" pitchFamily="34" charset="0"/>
                <a:cs typeface="Times New Roman" panose="02020603050405020304" pitchFamily="18" charset="0"/>
              </a:rPr>
              <a:t>时，不能很好的调节系统至稳定状态</a:t>
            </a:r>
          </a:p>
          <a:p>
            <a:pPr algn="just" eaLnBrk="1" hangingPunct="1">
              <a:lnSpc>
                <a:spcPct val="125000"/>
              </a:lnSpc>
            </a:pPr>
            <a:endParaRPr lang="zh-CN" altLang="en-US" sz="1200" dirty="0">
              <a:solidFill>
                <a:schemeClr val="accent1"/>
              </a:solidFill>
              <a:latin typeface="微软雅黑" pitchFamily="34" charset="-122"/>
              <a:ea typeface="微软雅黑" pitchFamily="34" charset="-122"/>
            </a:endParaRPr>
          </a:p>
        </p:txBody>
      </p:sp>
      <p:sp>
        <p:nvSpPr>
          <p:cNvPr id="28" name="TextBox 14">
            <a:extLst>
              <a:ext uri="{FF2B5EF4-FFF2-40B4-BE49-F238E27FC236}">
                <a16:creationId xmlns:a16="http://schemas.microsoft.com/office/drawing/2014/main" id="{2CBE5457-85FD-413F-1159-23BC9A15C452}"/>
              </a:ext>
            </a:extLst>
          </p:cNvPr>
          <p:cNvSpPr txBox="1">
            <a:spLocks noChangeArrowheads="1"/>
          </p:cNvSpPr>
          <p:nvPr/>
        </p:nvSpPr>
        <p:spPr bwMode="auto">
          <a:xfrm>
            <a:off x="6587260" y="4819489"/>
            <a:ext cx="1919288" cy="997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lnSpc>
                <a:spcPct val="125000"/>
              </a:lnSpc>
            </a:pPr>
            <a:r>
              <a:rPr lang="zh-CN" altLang="en-US" sz="1200" dirty="0">
                <a:latin typeface="Calibri" panose="020F0502020204030204" pitchFamily="34" charset="0"/>
                <a:cs typeface="Times New Roman" panose="02020603050405020304" pitchFamily="18" charset="0"/>
              </a:rPr>
              <a:t>温差控制优于温度控制，其策略能很好的适应进料组分的变化，使系统很快至稳定状态。</a:t>
            </a:r>
            <a:endParaRPr lang="zh-CN" altLang="en-US" sz="1200" dirty="0">
              <a:solidFill>
                <a:schemeClr val="accent1"/>
              </a:solidFill>
              <a:latin typeface="微软雅黑" pitchFamily="34" charset="-122"/>
              <a:ea typeface="微软雅黑" pitchFamily="34" charset="-122"/>
            </a:endParaRPr>
          </a:p>
        </p:txBody>
      </p:sp>
    </p:spTree>
    <p:extLst>
      <p:ext uri="{BB962C8B-B14F-4D97-AF65-F5344CB8AC3E}">
        <p14:creationId xmlns:p14="http://schemas.microsoft.com/office/powerpoint/2010/main" val="1860662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92352" y="1772770"/>
            <a:ext cx="1827143" cy="584776"/>
          </a:xfrm>
          <a:prstGeom prst="rect">
            <a:avLst/>
          </a:prstGeom>
        </p:spPr>
        <p:txBody>
          <a:bodyPr wrap="none">
            <a:spAutoFit/>
          </a:bodyPr>
          <a:lstStyle/>
          <a:p>
            <a:r>
              <a:rPr lang="en-US" altLang="zh-CN" sz="3200" dirty="0">
                <a:solidFill>
                  <a:schemeClr val="bg1"/>
                </a:solidFill>
                <a:latin typeface="Arial" panose="020B0604020202020204"/>
                <a:cs typeface="Arial" panose="020B0604020202020204"/>
              </a:rPr>
              <a:t>Contents</a:t>
            </a:r>
            <a:endParaRPr lang="zh-CN" altLang="en-US" sz="3200" dirty="0">
              <a:solidFill>
                <a:schemeClr val="bg1"/>
              </a:solidFill>
              <a:latin typeface="Arial" panose="020B0604020202020204"/>
              <a:cs typeface="Arial" panose="020B0604020202020204"/>
            </a:endParaRPr>
          </a:p>
        </p:txBody>
      </p:sp>
      <p:sp>
        <p:nvSpPr>
          <p:cNvPr id="3" name="矩形 2"/>
          <p:cNvSpPr/>
          <p:nvPr/>
        </p:nvSpPr>
        <p:spPr>
          <a:xfrm>
            <a:off x="7084373" y="2249460"/>
            <a:ext cx="891591" cy="461665"/>
          </a:xfrm>
          <a:prstGeom prst="rect">
            <a:avLst/>
          </a:prstGeom>
        </p:spPr>
        <p:txBody>
          <a:bodyPr wrap="none">
            <a:spAutoFit/>
          </a:bodyPr>
          <a:lstStyle/>
          <a:p>
            <a:r>
              <a:rPr lang="zh-CN" altLang="en-US" sz="2400" dirty="0">
                <a:solidFill>
                  <a:srgbClr val="FFFFFF"/>
                </a:solidFill>
                <a:latin typeface="方正兰亭中黑简体" panose="02000000000000000000" charset="-122"/>
                <a:ea typeface="方正兰亭中黑简体" panose="02000000000000000000" charset="-122"/>
              </a:rPr>
              <a:t>目 录</a:t>
            </a:r>
          </a:p>
        </p:txBody>
      </p:sp>
      <p:sp>
        <p:nvSpPr>
          <p:cNvPr id="4" name="矩形 3"/>
          <p:cNvSpPr/>
          <p:nvPr/>
        </p:nvSpPr>
        <p:spPr>
          <a:xfrm>
            <a:off x="1115520" y="1754451"/>
            <a:ext cx="5400750" cy="3592587"/>
          </a:xfrm>
          <a:prstGeom prst="rect">
            <a:avLst/>
          </a:prstGeom>
        </p:spPr>
        <p:txBody>
          <a:bodyPr wrap="square">
            <a:spAutoFit/>
          </a:bodyPr>
          <a:lstStyle/>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一、研究背景</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二、文献综述</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三、研究思路</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四、研究方案</a:t>
            </a:r>
            <a:endParaRPr lang="en-US" altLang="zh-CN" sz="2800" b="1" dirty="0">
              <a:latin typeface="微软雅黑" panose="020B0503020204020204" pitchFamily="34" charset="-122"/>
              <a:ea typeface="微软雅黑" panose="020B0503020204020204" pitchFamily="34" charset="-122"/>
            </a:endParaRPr>
          </a:p>
          <a:p>
            <a:pPr marL="257175" indent="-257175" defTabSz="685800">
              <a:lnSpc>
                <a:spcPct val="150000"/>
              </a:lnSpc>
              <a:spcBef>
                <a:spcPct val="20000"/>
              </a:spcBef>
              <a:buFont typeface="Arial" panose="020B0604020202020204" pitchFamily="34" charset="0"/>
              <a:buChar char="•"/>
            </a:pPr>
            <a:r>
              <a:rPr lang="zh-CN" altLang="en-US" sz="2800" b="1" dirty="0">
                <a:solidFill>
                  <a:srgbClr val="C00000"/>
                </a:solidFill>
                <a:latin typeface="微软雅黑" panose="020B0503020204020204" pitchFamily="34" charset="-122"/>
                <a:ea typeface="微软雅黑" panose="020B0503020204020204" pitchFamily="34" charset="-122"/>
              </a:rPr>
              <a:t>五、研究进度</a:t>
            </a:r>
          </a:p>
        </p:txBody>
      </p:sp>
    </p:spTree>
    <p:extLst>
      <p:ext uri="{BB962C8B-B14F-4D97-AF65-F5344CB8AC3E}">
        <p14:creationId xmlns:p14="http://schemas.microsoft.com/office/powerpoint/2010/main" val="3091302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norm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研究进度安排</a:t>
            </a:r>
          </a:p>
        </p:txBody>
      </p:sp>
      <p:sp>
        <p:nvSpPr>
          <p:cNvPr id="9" name="灯片编号占位符 8"/>
          <p:cNvSpPr>
            <a:spLocks noGrp="1"/>
          </p:cNvSpPr>
          <p:nvPr>
            <p:ph type="sldNum" sz="quarter" idx="12"/>
          </p:nvPr>
        </p:nvSpPr>
        <p:spPr>
          <a:xfrm>
            <a:off x="8339868" y="6249456"/>
            <a:ext cx="62139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28</a:t>
            </a:fld>
            <a:endParaRPr lang="zh-CN" altLang="en-US" dirty="0">
              <a:solidFill>
                <a:srgbClr val="FFFFFF"/>
              </a:solidFill>
              <a:latin typeface="Arial" panose="020B0604020202020204" pitchFamily="34" charset="0"/>
              <a:cs typeface="Arial" panose="020B0604020202020204" pitchFamily="34" charset="0"/>
            </a:endParaRPr>
          </a:p>
        </p:txBody>
      </p:sp>
      <p:graphicFrame>
        <p:nvGraphicFramePr>
          <p:cNvPr id="4" name="内容占位符 3">
            <a:extLst>
              <a:ext uri="{FF2B5EF4-FFF2-40B4-BE49-F238E27FC236}">
                <a16:creationId xmlns:a16="http://schemas.microsoft.com/office/drawing/2014/main" id="{4364D6FC-1100-9634-65DD-EA7E6D19AB34}"/>
              </a:ext>
            </a:extLst>
          </p:cNvPr>
          <p:cNvGraphicFramePr>
            <a:graphicFrameLocks noGrp="1"/>
          </p:cNvGraphicFramePr>
          <p:nvPr>
            <p:ph idx="4294967295"/>
            <p:extLst>
              <p:ext uri="{D42A27DB-BD31-4B8C-83A1-F6EECF244321}">
                <p14:modId xmlns:p14="http://schemas.microsoft.com/office/powerpoint/2010/main" val="1126400916"/>
              </p:ext>
            </p:extLst>
          </p:nvPr>
        </p:nvGraphicFramePr>
        <p:xfrm>
          <a:off x="1043510" y="1504199"/>
          <a:ext cx="6408712" cy="3849603"/>
        </p:xfrm>
        <a:graphic>
          <a:graphicData uri="http://schemas.openxmlformats.org/drawingml/2006/table">
            <a:tbl>
              <a:tblPr/>
              <a:tblGrid>
                <a:gridCol w="1800200">
                  <a:extLst>
                    <a:ext uri="{9D8B030D-6E8A-4147-A177-3AD203B41FA5}">
                      <a16:colId xmlns:a16="http://schemas.microsoft.com/office/drawing/2014/main" val="20000"/>
                    </a:ext>
                  </a:extLst>
                </a:gridCol>
                <a:gridCol w="4608512">
                  <a:extLst>
                    <a:ext uri="{9D8B030D-6E8A-4147-A177-3AD203B41FA5}">
                      <a16:colId xmlns:a16="http://schemas.microsoft.com/office/drawing/2014/main" val="20001"/>
                    </a:ext>
                  </a:extLst>
                </a:gridCol>
              </a:tblGrid>
              <a:tr h="397938">
                <a:tc>
                  <a:txBody>
                    <a:bodyPr/>
                    <a:lstStyle/>
                    <a:p>
                      <a:pPr algn="ctr">
                        <a:spcAft>
                          <a:spcPts val="0"/>
                        </a:spcAft>
                      </a:pPr>
                      <a:r>
                        <a:rPr lang="zh-CN" sz="1800" b="1" kern="100" dirty="0">
                          <a:latin typeface="微软雅黑" panose="020B0503020204020204" pitchFamily="34" charset="-122"/>
                          <a:ea typeface="微软雅黑" panose="020B0503020204020204" pitchFamily="34" charset="-122"/>
                          <a:cs typeface="Times New Roman"/>
                        </a:rPr>
                        <a:t>时</a:t>
                      </a:r>
                      <a:r>
                        <a:rPr lang="en-US" sz="1800" b="1" kern="100" dirty="0">
                          <a:latin typeface="微软雅黑" panose="020B0503020204020204" pitchFamily="34" charset="-122"/>
                          <a:ea typeface="微软雅黑" panose="020B0503020204020204" pitchFamily="34" charset="-122"/>
                          <a:cs typeface="Times New Roman"/>
                        </a:rPr>
                        <a:t>  </a:t>
                      </a:r>
                      <a:r>
                        <a:rPr lang="zh-CN" sz="1800" b="1" kern="100" dirty="0">
                          <a:latin typeface="微软雅黑" panose="020B0503020204020204" pitchFamily="34" charset="-122"/>
                          <a:ea typeface="微软雅黑" panose="020B0503020204020204" pitchFamily="34" charset="-122"/>
                          <a:cs typeface="Times New Roman"/>
                        </a:rPr>
                        <a:t>间</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800" b="1" kern="100" dirty="0">
                          <a:latin typeface="微软雅黑" panose="020B0503020204020204" pitchFamily="34" charset="-122"/>
                          <a:ea typeface="微软雅黑" panose="020B0503020204020204" pitchFamily="34" charset="-122"/>
                          <a:cs typeface="Times New Roman"/>
                        </a:rPr>
                        <a:t>工</a:t>
                      </a:r>
                      <a:r>
                        <a:rPr lang="en-US" sz="1800" b="1" kern="100" dirty="0">
                          <a:latin typeface="微软雅黑" panose="020B0503020204020204" pitchFamily="34" charset="-122"/>
                          <a:ea typeface="微软雅黑" panose="020B0503020204020204" pitchFamily="34" charset="-122"/>
                          <a:cs typeface="Times New Roman"/>
                        </a:rPr>
                        <a:t>  </a:t>
                      </a:r>
                      <a:r>
                        <a:rPr lang="zh-CN" sz="1800" b="1" kern="100" dirty="0">
                          <a:latin typeface="微软雅黑" panose="020B0503020204020204" pitchFamily="34" charset="-122"/>
                          <a:ea typeface="微软雅黑" panose="020B0503020204020204" pitchFamily="34" charset="-122"/>
                          <a:cs typeface="Times New Roman"/>
                        </a:rPr>
                        <a:t>作</a:t>
                      </a:r>
                      <a:r>
                        <a:rPr lang="en-US" sz="1800" b="1" kern="100" dirty="0">
                          <a:latin typeface="微软雅黑" panose="020B0503020204020204" pitchFamily="34" charset="-122"/>
                          <a:ea typeface="微软雅黑" panose="020B0503020204020204" pitchFamily="34" charset="-122"/>
                          <a:cs typeface="Times New Roman"/>
                        </a:rPr>
                        <a:t>  </a:t>
                      </a:r>
                      <a:r>
                        <a:rPr lang="zh-CN" sz="1800" b="1" kern="100" dirty="0">
                          <a:latin typeface="微软雅黑" panose="020B0503020204020204" pitchFamily="34" charset="-122"/>
                          <a:ea typeface="微软雅黑" panose="020B0503020204020204" pitchFamily="34" charset="-122"/>
                          <a:cs typeface="Times New Roman"/>
                        </a:rPr>
                        <a:t>内</a:t>
                      </a:r>
                      <a:r>
                        <a:rPr lang="en-US" sz="1800" b="1" kern="100" dirty="0">
                          <a:latin typeface="微软雅黑" panose="020B0503020204020204" pitchFamily="34" charset="-122"/>
                          <a:ea typeface="微软雅黑" panose="020B0503020204020204" pitchFamily="34" charset="-122"/>
                          <a:cs typeface="Times New Roman"/>
                        </a:rPr>
                        <a:t>  </a:t>
                      </a:r>
                      <a:r>
                        <a:rPr lang="zh-CN" sz="1800" b="1" kern="100" dirty="0">
                          <a:latin typeface="微软雅黑" panose="020B0503020204020204" pitchFamily="34" charset="-122"/>
                          <a:ea typeface="微软雅黑" panose="020B0503020204020204" pitchFamily="34" charset="-122"/>
                          <a:cs typeface="Times New Roman"/>
                        </a:rPr>
                        <a:t>容</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594674">
                <a:tc>
                  <a:txBody>
                    <a:bodyPr/>
                    <a:lstStyle/>
                    <a:p>
                      <a:pPr algn="ctr">
                        <a:spcAft>
                          <a:spcPts val="0"/>
                        </a:spcAft>
                      </a:pPr>
                      <a:r>
                        <a:rPr lang="en-US" altLang="zh-CN" sz="1600" b="1" kern="100" dirty="0">
                          <a:latin typeface="微软雅黑" panose="020B0503020204020204" pitchFamily="34" charset="-122"/>
                          <a:ea typeface="微软雅黑" panose="020B0503020204020204" pitchFamily="34" charset="-122"/>
                          <a:cs typeface="Times New Roman"/>
                        </a:rPr>
                        <a:t>2022.7~2022.10</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solidFill>
                      <a:schemeClr val="accent1">
                        <a:alpha val="11000"/>
                      </a:schemeClr>
                    </a:solidFill>
                  </a:tcPr>
                </a:tc>
                <a:tc>
                  <a:txBody>
                    <a:bodyPr/>
                    <a:lstStyle/>
                    <a:p>
                      <a:pPr algn="ctr">
                        <a:spcAft>
                          <a:spcPts val="0"/>
                        </a:spcAft>
                      </a:pPr>
                      <a:r>
                        <a:rPr lang="zh-CN" altLang="en-US" sz="1600" b="1" kern="100" dirty="0">
                          <a:latin typeface="微软雅黑" panose="020B0503020204020204" pitchFamily="34" charset="-122"/>
                          <a:ea typeface="微软雅黑" panose="020B0503020204020204" pitchFamily="34" charset="-122"/>
                          <a:cs typeface="Times New Roman"/>
                        </a:rPr>
                        <a:t>调研、文献综述撰写、完成开题</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solidFill>
                      <a:schemeClr val="accent1">
                        <a:alpha val="11000"/>
                      </a:schemeClr>
                    </a:solidFill>
                  </a:tcPr>
                </a:tc>
                <a:extLst>
                  <a:ext uri="{0D108BD9-81ED-4DB2-BD59-A6C34878D82A}">
                    <a16:rowId xmlns:a16="http://schemas.microsoft.com/office/drawing/2014/main" val="10001"/>
                  </a:ext>
                </a:extLst>
              </a:tr>
              <a:tr h="705119">
                <a:tc>
                  <a:txBody>
                    <a:bodyPr/>
                    <a:lstStyle/>
                    <a:p>
                      <a:pPr algn="ctr">
                        <a:spcAft>
                          <a:spcPts val="0"/>
                        </a:spcAft>
                      </a:pPr>
                      <a:r>
                        <a:rPr lang="en-US" sz="1600" b="1" kern="100" dirty="0">
                          <a:latin typeface="微软雅黑" panose="020B0503020204020204" pitchFamily="34" charset="-122"/>
                          <a:ea typeface="微软雅黑" panose="020B0503020204020204" pitchFamily="34" charset="-122"/>
                          <a:cs typeface="Times New Roman"/>
                        </a:rPr>
                        <a:t>202</a:t>
                      </a:r>
                      <a:r>
                        <a:rPr lang="en-US" altLang="zh-CN" sz="1600" b="1" kern="100" dirty="0">
                          <a:latin typeface="微软雅黑" panose="020B0503020204020204" pitchFamily="34" charset="-122"/>
                          <a:ea typeface="微软雅黑" panose="020B0503020204020204" pitchFamily="34" charset="-122"/>
                          <a:cs typeface="Times New Roman"/>
                        </a:rPr>
                        <a:t>2</a:t>
                      </a:r>
                      <a:r>
                        <a:rPr lang="en-US" sz="1600" b="1" kern="100" dirty="0">
                          <a:latin typeface="微软雅黑" panose="020B0503020204020204" pitchFamily="34" charset="-122"/>
                          <a:ea typeface="微软雅黑" panose="020B0503020204020204" pitchFamily="34" charset="-122"/>
                          <a:cs typeface="Times New Roman"/>
                        </a:rPr>
                        <a:t>.1</a:t>
                      </a:r>
                      <a:r>
                        <a:rPr lang="en-US" altLang="zh-CN" sz="1600" b="1" kern="100" dirty="0">
                          <a:latin typeface="微软雅黑" panose="020B0503020204020204" pitchFamily="34" charset="-122"/>
                          <a:ea typeface="微软雅黑" panose="020B0503020204020204" pitchFamily="34" charset="-122"/>
                          <a:cs typeface="Times New Roman"/>
                        </a:rPr>
                        <a:t>0</a:t>
                      </a:r>
                      <a:r>
                        <a:rPr lang="zh-CN" altLang="en-US" sz="1600" b="1" kern="100" dirty="0">
                          <a:latin typeface="微软雅黑" panose="020B0503020204020204" pitchFamily="34" charset="-122"/>
                          <a:ea typeface="微软雅黑" panose="020B0503020204020204" pitchFamily="34" charset="-122"/>
                          <a:cs typeface="Times New Roman"/>
                        </a:rPr>
                        <a:t>下旬</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a:noFill/>
                    </a:lnT>
                    <a:lnB>
                      <a:noFill/>
                    </a:lnB>
                    <a:noFill/>
                  </a:tcPr>
                </a:tc>
                <a:tc>
                  <a:txBody>
                    <a:bodyPr/>
                    <a:lstStyle/>
                    <a:p>
                      <a:pPr algn="ctr">
                        <a:spcAft>
                          <a:spcPts val="0"/>
                        </a:spcAft>
                      </a:pPr>
                      <a:r>
                        <a:rPr lang="zh-CN" altLang="en-US" sz="1600" b="1" kern="100" dirty="0">
                          <a:latin typeface="微软雅黑" panose="020B0503020204020204" pitchFamily="34" charset="-122"/>
                          <a:ea typeface="微软雅黑" panose="020B0503020204020204" pitchFamily="34" charset="-122"/>
                          <a:cs typeface="Times New Roman"/>
                        </a:rPr>
                        <a:t>熟悉模拟软件</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a:noFill/>
                    </a:lnT>
                    <a:lnB>
                      <a:noFill/>
                    </a:lnB>
                    <a:noFill/>
                  </a:tcPr>
                </a:tc>
                <a:extLst>
                  <a:ext uri="{0D108BD9-81ED-4DB2-BD59-A6C34878D82A}">
                    <a16:rowId xmlns:a16="http://schemas.microsoft.com/office/drawing/2014/main" val="10002"/>
                  </a:ext>
                </a:extLst>
              </a:tr>
              <a:tr h="594674">
                <a:tc>
                  <a:txBody>
                    <a:bodyPr/>
                    <a:lstStyle/>
                    <a:p>
                      <a:pPr algn="ctr">
                        <a:spcAft>
                          <a:spcPts val="0"/>
                        </a:spcAft>
                      </a:pPr>
                      <a:r>
                        <a:rPr lang="en-US" sz="1600" b="1" kern="100" dirty="0">
                          <a:latin typeface="微软雅黑" panose="020B0503020204020204" pitchFamily="34" charset="-122"/>
                          <a:ea typeface="微软雅黑" panose="020B0503020204020204" pitchFamily="34" charset="-122"/>
                          <a:cs typeface="Times New Roman"/>
                        </a:rPr>
                        <a:t>202</a:t>
                      </a:r>
                      <a:r>
                        <a:rPr lang="en-US" altLang="zh-CN" sz="1600" b="1" kern="100" dirty="0">
                          <a:latin typeface="微软雅黑" panose="020B0503020204020204" pitchFamily="34" charset="-122"/>
                          <a:ea typeface="微软雅黑" panose="020B0503020204020204" pitchFamily="34" charset="-122"/>
                          <a:cs typeface="Times New Roman"/>
                        </a:rPr>
                        <a:t>2</a:t>
                      </a:r>
                      <a:r>
                        <a:rPr lang="en-US" sz="1600" b="1" kern="100" dirty="0">
                          <a:latin typeface="微软雅黑" panose="020B0503020204020204" pitchFamily="34" charset="-122"/>
                          <a:ea typeface="微软雅黑" panose="020B0503020204020204" pitchFamily="34" charset="-122"/>
                          <a:cs typeface="Times New Roman"/>
                        </a:rPr>
                        <a:t>.11</a:t>
                      </a:r>
                      <a:r>
                        <a:rPr lang="en-US" altLang="zh-CN" sz="1600" b="1" kern="100" dirty="0">
                          <a:latin typeface="微软雅黑" panose="020B0503020204020204" pitchFamily="34" charset="-122"/>
                          <a:ea typeface="微软雅黑" panose="020B0503020204020204" pitchFamily="34" charset="-122"/>
                          <a:cs typeface="Times New Roman"/>
                        </a:rPr>
                        <a:t>~</a:t>
                      </a:r>
                      <a:r>
                        <a:rPr lang="en-US" sz="1600" b="1" kern="100" dirty="0">
                          <a:latin typeface="微软雅黑" panose="020B0503020204020204" pitchFamily="34" charset="-122"/>
                          <a:ea typeface="微软雅黑" panose="020B0503020204020204" pitchFamily="34" charset="-122"/>
                          <a:cs typeface="Times New Roman"/>
                        </a:rPr>
                        <a:t>202</a:t>
                      </a:r>
                      <a:r>
                        <a:rPr lang="en-US" altLang="zh-CN" sz="1600" b="1" kern="100" dirty="0">
                          <a:latin typeface="微软雅黑" panose="020B0503020204020204" pitchFamily="34" charset="-122"/>
                          <a:ea typeface="微软雅黑" panose="020B0503020204020204" pitchFamily="34" charset="-122"/>
                          <a:cs typeface="Times New Roman"/>
                        </a:rPr>
                        <a:t>3</a:t>
                      </a:r>
                      <a:r>
                        <a:rPr lang="en-US" sz="1600" b="1" kern="100" dirty="0">
                          <a:latin typeface="微软雅黑" panose="020B0503020204020204" pitchFamily="34" charset="-122"/>
                          <a:ea typeface="微软雅黑" panose="020B0503020204020204" pitchFamily="34" charset="-122"/>
                          <a:cs typeface="Times New Roman"/>
                        </a:rPr>
                        <a:t>.9</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a:noFill/>
                    </a:lnT>
                    <a:lnB>
                      <a:noFill/>
                    </a:lnB>
                    <a:solidFill>
                      <a:schemeClr val="accent1">
                        <a:alpha val="11000"/>
                      </a:schemeClr>
                    </a:solidFill>
                  </a:tcPr>
                </a:tc>
                <a:tc>
                  <a:txBody>
                    <a:bodyPr/>
                    <a:lstStyle/>
                    <a:p>
                      <a:pPr algn="ctr">
                        <a:spcAft>
                          <a:spcPts val="0"/>
                        </a:spcAft>
                      </a:pPr>
                      <a:r>
                        <a:rPr lang="zh-CN" altLang="en-US" sz="1600" b="1" kern="100" dirty="0">
                          <a:latin typeface="微软雅黑" panose="020B0503020204020204" pitchFamily="34" charset="-122"/>
                          <a:ea typeface="微软雅黑" panose="020B0503020204020204" pitchFamily="34" charset="-122"/>
                          <a:cs typeface="Times New Roman"/>
                        </a:rPr>
                        <a:t>模型搭建工作初步完成</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a:noFill/>
                    </a:lnT>
                    <a:lnB>
                      <a:noFill/>
                    </a:lnB>
                    <a:solidFill>
                      <a:schemeClr val="accent1">
                        <a:alpha val="11000"/>
                      </a:schemeClr>
                    </a:solidFill>
                  </a:tcPr>
                </a:tc>
                <a:extLst>
                  <a:ext uri="{0D108BD9-81ED-4DB2-BD59-A6C34878D82A}">
                    <a16:rowId xmlns:a16="http://schemas.microsoft.com/office/drawing/2014/main" val="10003"/>
                  </a:ext>
                </a:extLst>
              </a:tr>
              <a:tr h="481262">
                <a:tc>
                  <a:txBody>
                    <a:bodyPr/>
                    <a:lstStyle/>
                    <a:p>
                      <a:pPr algn="ctr">
                        <a:spcAft>
                          <a:spcPts val="0"/>
                        </a:spcAft>
                      </a:pPr>
                      <a:r>
                        <a:rPr lang="en-US" sz="1600" b="1" kern="100" dirty="0">
                          <a:latin typeface="微软雅黑" panose="020B0503020204020204" pitchFamily="34" charset="-122"/>
                          <a:ea typeface="微软雅黑" panose="020B0503020204020204" pitchFamily="34" charset="-122"/>
                          <a:cs typeface="Times New Roman"/>
                        </a:rPr>
                        <a:t>202</a:t>
                      </a:r>
                      <a:r>
                        <a:rPr lang="en-US" altLang="zh-CN" sz="1600" b="1" kern="100" dirty="0">
                          <a:latin typeface="微软雅黑" panose="020B0503020204020204" pitchFamily="34" charset="-122"/>
                          <a:ea typeface="微软雅黑" panose="020B0503020204020204" pitchFamily="34" charset="-122"/>
                          <a:cs typeface="Times New Roman"/>
                        </a:rPr>
                        <a:t>3</a:t>
                      </a:r>
                      <a:r>
                        <a:rPr lang="en-US" sz="1600" b="1" kern="100" dirty="0">
                          <a:latin typeface="微软雅黑" panose="020B0503020204020204" pitchFamily="34" charset="-122"/>
                          <a:ea typeface="微软雅黑" panose="020B0503020204020204" pitchFamily="34" charset="-122"/>
                          <a:cs typeface="Times New Roman"/>
                        </a:rPr>
                        <a:t>.10</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a:noFill/>
                    </a:lnT>
                    <a:lnB>
                      <a:noFill/>
                    </a:lnB>
                    <a:noFill/>
                  </a:tcPr>
                </a:tc>
                <a:tc>
                  <a:txBody>
                    <a:bodyPr/>
                    <a:lstStyle/>
                    <a:p>
                      <a:pPr algn="ctr">
                        <a:spcAft>
                          <a:spcPts val="0"/>
                        </a:spcAft>
                      </a:pPr>
                      <a:r>
                        <a:rPr lang="zh-CN" altLang="en-US" sz="1600" b="1" kern="100" dirty="0">
                          <a:latin typeface="微软雅黑" panose="020B0503020204020204" pitchFamily="34" charset="-122"/>
                          <a:ea typeface="微软雅黑" panose="020B0503020204020204" pitchFamily="34" charset="-122"/>
                          <a:cs typeface="Times New Roman"/>
                        </a:rPr>
                        <a:t>中期审核</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a:noFill/>
                    </a:lnT>
                    <a:lnB>
                      <a:noFill/>
                    </a:lnB>
                    <a:noFill/>
                  </a:tcPr>
                </a:tc>
                <a:extLst>
                  <a:ext uri="{0D108BD9-81ED-4DB2-BD59-A6C34878D82A}">
                    <a16:rowId xmlns:a16="http://schemas.microsoft.com/office/drawing/2014/main" val="10004"/>
                  </a:ext>
                </a:extLst>
              </a:tr>
              <a:tr h="594674">
                <a:tc>
                  <a:txBody>
                    <a:bodyPr/>
                    <a:lstStyle/>
                    <a:p>
                      <a:pPr algn="ctr">
                        <a:spcAft>
                          <a:spcPts val="0"/>
                        </a:spcAft>
                      </a:pPr>
                      <a:r>
                        <a:rPr lang="en-US" sz="1600" b="1" kern="100" dirty="0">
                          <a:latin typeface="微软雅黑" panose="020B0503020204020204" pitchFamily="34" charset="-122"/>
                          <a:ea typeface="微软雅黑" panose="020B0503020204020204" pitchFamily="34" charset="-122"/>
                          <a:cs typeface="Times New Roman"/>
                        </a:rPr>
                        <a:t>202</a:t>
                      </a:r>
                      <a:r>
                        <a:rPr lang="en-US" altLang="zh-CN" sz="1600" b="1" kern="100" dirty="0">
                          <a:latin typeface="微软雅黑" panose="020B0503020204020204" pitchFamily="34" charset="-122"/>
                          <a:ea typeface="微软雅黑" panose="020B0503020204020204" pitchFamily="34" charset="-122"/>
                          <a:cs typeface="Times New Roman"/>
                        </a:rPr>
                        <a:t>3</a:t>
                      </a:r>
                      <a:r>
                        <a:rPr lang="en-US" sz="1600" b="1" kern="100" dirty="0">
                          <a:latin typeface="微软雅黑" panose="020B0503020204020204" pitchFamily="34" charset="-122"/>
                          <a:ea typeface="微软雅黑" panose="020B0503020204020204" pitchFamily="34" charset="-122"/>
                          <a:cs typeface="Times New Roman"/>
                        </a:rPr>
                        <a:t>.11</a:t>
                      </a:r>
                      <a:r>
                        <a:rPr lang="en-US" altLang="zh-CN" sz="1600" b="1" kern="100" dirty="0">
                          <a:latin typeface="微软雅黑" panose="020B0503020204020204" pitchFamily="34" charset="-122"/>
                          <a:ea typeface="微软雅黑" panose="020B0503020204020204" pitchFamily="34" charset="-122"/>
                          <a:cs typeface="Times New Roman"/>
                        </a:rPr>
                        <a:t>~</a:t>
                      </a:r>
                      <a:r>
                        <a:rPr lang="en-US" sz="1600" b="1" kern="100" dirty="0">
                          <a:latin typeface="微软雅黑" panose="020B0503020204020204" pitchFamily="34" charset="-122"/>
                          <a:ea typeface="微软雅黑" panose="020B0503020204020204" pitchFamily="34" charset="-122"/>
                          <a:cs typeface="Times New Roman"/>
                        </a:rPr>
                        <a:t>202</a:t>
                      </a:r>
                      <a:r>
                        <a:rPr lang="en-US" altLang="zh-CN" sz="1600" b="1" kern="100" dirty="0">
                          <a:latin typeface="微软雅黑" panose="020B0503020204020204" pitchFamily="34" charset="-122"/>
                          <a:ea typeface="微软雅黑" panose="020B0503020204020204" pitchFamily="34" charset="-122"/>
                          <a:cs typeface="Times New Roman"/>
                        </a:rPr>
                        <a:t>4</a:t>
                      </a:r>
                      <a:r>
                        <a:rPr lang="en-US" sz="1600" b="1" kern="100" dirty="0">
                          <a:latin typeface="微软雅黑" panose="020B0503020204020204" pitchFamily="34" charset="-122"/>
                          <a:ea typeface="微软雅黑" panose="020B0503020204020204" pitchFamily="34" charset="-122"/>
                          <a:cs typeface="Times New Roman"/>
                        </a:rPr>
                        <a:t>.4</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a:noFill/>
                    </a:lnT>
                    <a:lnB>
                      <a:noFill/>
                    </a:lnB>
                    <a:solidFill>
                      <a:schemeClr val="accent1">
                        <a:alpha val="11000"/>
                      </a:schemeClr>
                    </a:solidFill>
                  </a:tcPr>
                </a:tc>
                <a:tc>
                  <a:txBody>
                    <a:bodyPr/>
                    <a:lstStyle/>
                    <a:p>
                      <a:pPr algn="ctr">
                        <a:spcAft>
                          <a:spcPts val="0"/>
                        </a:spcAft>
                      </a:pPr>
                      <a:r>
                        <a:rPr lang="zh-CN" altLang="en-US" sz="1600" b="1" kern="100" dirty="0">
                          <a:latin typeface="微软雅黑" panose="020B0503020204020204" pitchFamily="34" charset="-122"/>
                          <a:ea typeface="微软雅黑" panose="020B0503020204020204" pitchFamily="34" charset="-122"/>
                          <a:cs typeface="Times New Roman"/>
                        </a:rPr>
                        <a:t>进一步完善实验工作，撰写论文</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a:noFill/>
                    </a:lnT>
                    <a:lnB>
                      <a:noFill/>
                    </a:lnB>
                    <a:solidFill>
                      <a:schemeClr val="accent1">
                        <a:alpha val="11000"/>
                      </a:schemeClr>
                    </a:solidFill>
                  </a:tcPr>
                </a:tc>
                <a:extLst>
                  <a:ext uri="{0D108BD9-81ED-4DB2-BD59-A6C34878D82A}">
                    <a16:rowId xmlns:a16="http://schemas.microsoft.com/office/drawing/2014/main" val="10005"/>
                  </a:ext>
                </a:extLst>
              </a:tr>
              <a:tr h="481262">
                <a:tc>
                  <a:txBody>
                    <a:bodyPr/>
                    <a:lstStyle/>
                    <a:p>
                      <a:pPr algn="ctr">
                        <a:spcAft>
                          <a:spcPts val="0"/>
                        </a:spcAft>
                      </a:pPr>
                      <a:r>
                        <a:rPr lang="en-US" sz="1600" b="1" kern="100" dirty="0">
                          <a:latin typeface="微软雅黑" panose="020B0503020204020204" pitchFamily="34" charset="-122"/>
                          <a:ea typeface="微软雅黑" panose="020B0503020204020204" pitchFamily="34" charset="-122"/>
                          <a:cs typeface="Times New Roman"/>
                        </a:rPr>
                        <a:t>202</a:t>
                      </a:r>
                      <a:r>
                        <a:rPr lang="en-US" altLang="zh-CN" sz="1600" b="1" kern="100" dirty="0">
                          <a:latin typeface="微软雅黑" panose="020B0503020204020204" pitchFamily="34" charset="-122"/>
                          <a:ea typeface="微软雅黑" panose="020B0503020204020204" pitchFamily="34" charset="-122"/>
                          <a:cs typeface="Times New Roman"/>
                        </a:rPr>
                        <a:t>4</a:t>
                      </a:r>
                      <a:r>
                        <a:rPr lang="en-US" sz="1600" b="1" kern="100" dirty="0">
                          <a:latin typeface="微软雅黑" panose="020B0503020204020204" pitchFamily="34" charset="-122"/>
                          <a:ea typeface="微软雅黑" panose="020B0503020204020204" pitchFamily="34" charset="-122"/>
                          <a:cs typeface="Times New Roman"/>
                        </a:rPr>
                        <a:t>.5</a:t>
                      </a:r>
                      <a:endParaRPr lang="zh-CN" sz="1600" b="1" kern="100" dirty="0">
                        <a:latin typeface="微软雅黑" panose="020B0503020204020204" pitchFamily="34" charset="-122"/>
                        <a:ea typeface="微软雅黑" panose="020B0503020204020204" pitchFamily="34" charset="-122"/>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600" b="1" kern="100" dirty="0">
                          <a:latin typeface="微软雅黑" panose="020B0503020204020204" pitchFamily="34" charset="-122"/>
                          <a:ea typeface="微软雅黑" panose="020B0503020204020204" pitchFamily="34" charset="-122"/>
                          <a:cs typeface="Times New Roman"/>
                        </a:rPr>
                        <a:t>答辩准备</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6164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43662" y="2132820"/>
            <a:ext cx="5716627" cy="1754326"/>
          </a:xfrm>
          <a:prstGeom prst="rect">
            <a:avLst/>
          </a:prstGeom>
          <a:noFill/>
        </p:spPr>
        <p:txBody>
          <a:bodyPr wrap="square" rtlCol="0">
            <a:spAutoFit/>
          </a:bodyPr>
          <a:lstStyle/>
          <a:p>
            <a:pPr algn="ctr"/>
            <a:r>
              <a:rPr kumimoji="1" lang="zh-CN" altLang="en-US" sz="5400" b="1" kern="2200" dirty="0">
                <a:solidFill>
                  <a:srgbClr val="CD0A20"/>
                </a:solidFill>
                <a:latin typeface="黑体" panose="02010609060101010101" pitchFamily="49" charset="-122"/>
                <a:ea typeface="黑体" panose="02010609060101010101" pitchFamily="49" charset="-122"/>
                <a:cs typeface="Arial" panose="020B0604020202020204"/>
              </a:rPr>
              <a:t>谢谢各位老师！</a:t>
            </a:r>
            <a:endParaRPr kumimoji="1" lang="en-US" altLang="zh-CN" sz="5400" b="1" kern="2200" dirty="0">
              <a:solidFill>
                <a:srgbClr val="CD0A20"/>
              </a:solidFill>
              <a:latin typeface="黑体" panose="02010609060101010101" pitchFamily="49" charset="-122"/>
              <a:ea typeface="黑体" panose="02010609060101010101" pitchFamily="49" charset="-122"/>
              <a:cs typeface="Arial" panose="020B0604020202020204"/>
            </a:endParaRPr>
          </a:p>
          <a:p>
            <a:pPr algn="ctr"/>
            <a:r>
              <a:rPr kumimoji="1" lang="zh-CN" altLang="en-US" sz="5400" b="1" kern="2200" dirty="0">
                <a:solidFill>
                  <a:srgbClr val="CD0A20"/>
                </a:solidFill>
                <a:latin typeface="黑体" panose="02010609060101010101" pitchFamily="49" charset="-122"/>
                <a:ea typeface="黑体" panose="02010609060101010101" pitchFamily="49" charset="-122"/>
                <a:cs typeface="Arial" panose="020B0604020202020204"/>
              </a:rPr>
              <a:t>欢迎批评和指正！</a:t>
            </a:r>
            <a:endParaRPr kumimoji="1" lang="en-US" altLang="zh-CN" sz="5400" b="1" kern="2200" dirty="0">
              <a:solidFill>
                <a:srgbClr val="CD0A20"/>
              </a:solidFill>
              <a:latin typeface="黑体" panose="02010609060101010101" pitchFamily="49" charset="-122"/>
              <a:ea typeface="黑体" panose="02010609060101010101" pitchFamily="49" charset="-122"/>
              <a:cs typeface="Arial" panose="020B0604020202020204"/>
            </a:endParaRPr>
          </a:p>
        </p:txBody>
      </p:sp>
      <p:pic>
        <p:nvPicPr>
          <p:cNvPr id="9" name="Picture 3" descr="C:\Users\Administrator\Desktop\A1 品牌标识与冬奥会会徽组合-4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1130" y="4941210"/>
            <a:ext cx="2043317" cy="16735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3614</TotalTime>
  <Words>2504</Words>
  <Application>Microsoft Office PowerPoint</Application>
  <PresentationFormat>全屏显示(4:3)</PresentationFormat>
  <Paragraphs>310</Paragraphs>
  <Slides>29</Slides>
  <Notes>29</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29</vt:i4>
      </vt:variant>
    </vt:vector>
  </HeadingPairs>
  <TitlesOfParts>
    <vt:vector size="40" baseType="lpstr">
      <vt:lpstr>方正兰亭中黑简体</vt:lpstr>
      <vt:lpstr>黑体</vt:lpstr>
      <vt:lpstr>微软雅黑</vt:lpstr>
      <vt:lpstr>Arial</vt:lpstr>
      <vt:lpstr>Calibri</vt:lpstr>
      <vt:lpstr>Cambria Math</vt:lpstr>
      <vt:lpstr>Times New Roman</vt:lpstr>
      <vt:lpstr>Wingdings</vt:lpstr>
      <vt:lpstr>Office 主题</vt:lpstr>
      <vt:lpstr>1_自定义设计方案</vt:lpstr>
      <vt:lpstr>自定义设计方案</vt:lpstr>
      <vt:lpstr>PowerPoint 演示文稿</vt:lpstr>
      <vt:lpstr>PowerPoint 演示文稿</vt:lpstr>
      <vt:lpstr>研究背景</vt:lpstr>
      <vt:lpstr>研究背景-DWC</vt:lpstr>
      <vt:lpstr>研究背景-DWC的类型</vt:lpstr>
      <vt:lpstr>研究背景-DWC的经济和节能性</vt:lpstr>
      <vt:lpstr>研究背景-国内外的研究进展</vt:lpstr>
      <vt:lpstr>研究背景-EDWC </vt:lpstr>
      <vt:lpstr>研究背景</vt:lpstr>
      <vt:lpstr>PowerPoint 演示文稿</vt:lpstr>
      <vt:lpstr>文献调研-不同分离体系应用隔壁塔的节能效果</vt:lpstr>
      <vt:lpstr>文献调研-不同分离体系应用隔壁塔的节能效果</vt:lpstr>
      <vt:lpstr>文献调研-隔壁塔的稳态模拟方法</vt:lpstr>
      <vt:lpstr>文献调研-隔壁塔的稳态模拟方法</vt:lpstr>
      <vt:lpstr>文献调研-隔壁塔的控制</vt:lpstr>
      <vt:lpstr>文献调研-隔壁塔的控制</vt:lpstr>
      <vt:lpstr>PowerPoint 演示文稿</vt:lpstr>
      <vt:lpstr>研究思路与内容—研究思路</vt:lpstr>
      <vt:lpstr>PowerPoint 演示文稿</vt:lpstr>
      <vt:lpstr>研究方案—三塔等效模型</vt:lpstr>
      <vt:lpstr>研究方案—设计变量分析</vt:lpstr>
      <vt:lpstr>研究方案—灵敏度分析</vt:lpstr>
      <vt:lpstr>研究方案—多目标遗传算法 ——优化策略</vt:lpstr>
      <vt:lpstr>研究方案—多目标遗传算法 ——优化过程</vt:lpstr>
      <vt:lpstr>研究方案—建立动态模型</vt:lpstr>
      <vt:lpstr>研究方案—控制结构</vt:lpstr>
      <vt:lpstr>PowerPoint 演示文稿</vt:lpstr>
      <vt:lpstr>研究进度安排</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武敏</dc:creator>
  <cp:lastModifiedBy>Dell</cp:lastModifiedBy>
  <cp:revision>329</cp:revision>
  <cp:lastPrinted>2022-10-14T01:06:22Z</cp:lastPrinted>
  <dcterms:created xsi:type="dcterms:W3CDTF">2014-09-04T11:10:00Z</dcterms:created>
  <dcterms:modified xsi:type="dcterms:W3CDTF">2022-10-21T04:48:49Z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2052-10.1.0.6393</vt:lpwstr>
  </property>
</Properties>
</file>