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2"/>
    <p:sldId id="263" r:id="rId3"/>
    <p:sldId id="270" r:id="rId4"/>
    <p:sldId id="25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2024/9/6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297A2AE2-2EA7-79BB-DE85-A4C8A3CFC813}"/>
              </a:ext>
            </a:extLst>
          </p:cNvPr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93646980"/>
              </p:ext>
            </p:extLst>
          </p:nvPr>
        </p:nvGraphicFramePr>
        <p:xfrm>
          <a:off x="1376039" y="276881"/>
          <a:ext cx="9010835" cy="378909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937219">
                  <a:extLst>
                    <a:ext uri="{9D8B030D-6E8A-4147-A177-3AD203B41FA5}">
                      <a16:colId xmlns:a16="http://schemas.microsoft.com/office/drawing/2014/main" val="1101326056"/>
                    </a:ext>
                  </a:extLst>
                </a:gridCol>
                <a:gridCol w="1726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2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6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3221">
                  <a:extLst>
                    <a:ext uri="{9D8B030D-6E8A-4147-A177-3AD203B41FA5}">
                      <a16:colId xmlns:a16="http://schemas.microsoft.com/office/drawing/2014/main" val="1762290077"/>
                    </a:ext>
                  </a:extLst>
                </a:gridCol>
              </a:tblGrid>
              <a:tr h="63731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dirty="0"/>
                        <a:t>样品名称</a:t>
                      </a:r>
                      <a:r>
                        <a:rPr lang="en-US" altLang="zh-CN" sz="1600" dirty="0"/>
                        <a:t> </a:t>
                      </a:r>
                      <a:endParaRPr lang="zh-CN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dirty="0"/>
                        <a:t>峰面积</a:t>
                      </a:r>
                      <a:endParaRPr lang="zh-CN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dirty="0"/>
                        <a:t>含量（mg/ml）</a:t>
                      </a:r>
                      <a:endParaRPr lang="zh-CN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dirty="0"/>
                        <a:t>己内酰胺含量</a:t>
                      </a:r>
                      <a:r>
                        <a:rPr lang="en-US" altLang="zh-CN" sz="1600" dirty="0"/>
                        <a:t>/g</a:t>
                      </a:r>
                      <a:endParaRPr lang="zh-CN" altLang="en-US" sz="1600" dirty="0"/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74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zh-CN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/>
                        <a:t>己内酰胺标样</a:t>
                      </a:r>
                      <a:endParaRPr lang="zh-CN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4.77797E+11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6.75 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600" dirty="0"/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74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dirty="0"/>
                        <a:t>萃取水相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8-20-7 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7.03226E+11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99.41 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dirty="0"/>
                        <a:t>4.47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74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dirty="0"/>
                        <a:t>萃取醇相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8-20-8 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7.74531E+11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109.49 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dirty="0"/>
                        <a:t> 9.42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796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dirty="0"/>
                        <a:t>上清液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1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8.79585E+11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124.34 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dirty="0"/>
                        <a:t>11.002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74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dirty="0"/>
                        <a:t>滤液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2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8.79554E+11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124.33 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dirty="0"/>
                        <a:t>11.0007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274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dirty="0"/>
                        <a:t>萃取醇相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8-14-1 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7.1175E+11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100.61 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dirty="0"/>
                        <a:t>8.64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3731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dirty="0"/>
                        <a:t>己内酰胺</a:t>
                      </a:r>
                      <a:r>
                        <a:rPr lang="en-US" altLang="zh-CN" sz="1600" dirty="0"/>
                        <a:t>-4-</a:t>
                      </a:r>
                      <a:r>
                        <a:rPr lang="zh-CN" altLang="en-US" sz="1600" dirty="0"/>
                        <a:t>甲基</a:t>
                      </a:r>
                      <a:r>
                        <a:rPr lang="en-US" altLang="zh-CN" sz="1600" dirty="0"/>
                        <a:t>-2-</a:t>
                      </a:r>
                      <a:r>
                        <a:rPr lang="zh-CN" altLang="en-US" sz="1600" dirty="0"/>
                        <a:t>戊醇标样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8-14-2 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8.00436E+11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113.15 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dirty="0"/>
                        <a:t>0.966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748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1600" dirty="0"/>
                        <a:t>萃取水相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8-14-4 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6.9663E+11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98.47 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dirty="0"/>
                        <a:t>4.73</a:t>
                      </a:r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23DC3D2-5A5A-ED1A-8346-6C66661EB5C4}"/>
              </a:ext>
            </a:extLst>
          </p:cNvPr>
          <p:cNvSpPr txBox="1"/>
          <p:nvPr/>
        </p:nvSpPr>
        <p:spPr>
          <a:xfrm>
            <a:off x="547846" y="4243526"/>
            <a:ext cx="11096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这里</a:t>
            </a:r>
            <a:r>
              <a:rPr lang="en-US" altLang="zh-CN" dirty="0"/>
              <a:t>8-14</a:t>
            </a:r>
            <a:r>
              <a:rPr lang="zh-CN" altLang="en-US" dirty="0"/>
              <a:t>和</a:t>
            </a:r>
            <a:r>
              <a:rPr lang="en-US" altLang="zh-CN" dirty="0"/>
              <a:t>8-20</a:t>
            </a:r>
            <a:r>
              <a:rPr lang="zh-CN" altLang="en-US" dirty="0"/>
              <a:t>是同一个实验，先用</a:t>
            </a:r>
            <a:r>
              <a:rPr lang="en-US" altLang="zh-CN" dirty="0"/>
              <a:t>50g 4-</a:t>
            </a:r>
            <a:r>
              <a:rPr lang="zh-CN" altLang="en-US" dirty="0"/>
              <a:t>甲基</a:t>
            </a:r>
            <a:r>
              <a:rPr lang="en-US" altLang="zh-CN" dirty="0"/>
              <a:t>-2-</a:t>
            </a:r>
            <a:r>
              <a:rPr lang="zh-CN" altLang="en-US" dirty="0"/>
              <a:t>戊醇溶解</a:t>
            </a:r>
            <a:r>
              <a:rPr lang="en-US" altLang="zh-CN" dirty="0"/>
              <a:t>25g</a:t>
            </a:r>
            <a:r>
              <a:rPr lang="zh-CN" altLang="en-US" dirty="0"/>
              <a:t>的己内酰胺，再用</a:t>
            </a:r>
            <a:r>
              <a:rPr lang="en-US" altLang="zh-CN" dirty="0"/>
              <a:t>50g</a:t>
            </a:r>
            <a:r>
              <a:rPr lang="zh-CN" altLang="en-US" dirty="0"/>
              <a:t>的水反萃，得到萃取醇相</a:t>
            </a:r>
            <a:endParaRPr lang="en-US" altLang="zh-CN" dirty="0"/>
          </a:p>
          <a:p>
            <a:r>
              <a:rPr lang="zh-CN" altLang="en-US" dirty="0"/>
              <a:t>和萃取水相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541D5FE-7556-E53A-3DB7-5229B35BE7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4248319"/>
              </p:ext>
            </p:extLst>
          </p:nvPr>
        </p:nvGraphicFramePr>
        <p:xfrm>
          <a:off x="1597980" y="5255581"/>
          <a:ext cx="7368467" cy="91376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325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20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5030">
                  <a:extLst>
                    <a:ext uri="{9D8B030D-6E8A-4147-A177-3AD203B41FA5}">
                      <a16:colId xmlns:a16="http://schemas.microsoft.com/office/drawing/2014/main" val="213288221"/>
                    </a:ext>
                  </a:extLst>
                </a:gridCol>
              </a:tblGrid>
              <a:tr h="273112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/>
                        <a:t>样品名称</a:t>
                      </a:r>
                      <a:endParaRPr lang="zh-CN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dirty="0"/>
                        <a:t>峰面积</a:t>
                      </a:r>
                      <a:endParaRPr lang="zh-CN" altLang="en-US" sz="1600" dirty="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dirty="0"/>
                        <a:t>含量（mg/ml）</a:t>
                      </a:r>
                      <a:endParaRPr lang="zh-CN" altLang="en-US" sz="1600" dirty="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 dirty="0"/>
                        <a:t>4-</a:t>
                      </a:r>
                      <a:r>
                        <a:rPr lang="zh-CN" altLang="en-US" sz="1600" dirty="0"/>
                        <a:t>甲基</a:t>
                      </a:r>
                      <a:r>
                        <a:rPr lang="en-US" altLang="zh-CN" sz="1600" dirty="0"/>
                        <a:t>-2-</a:t>
                      </a:r>
                      <a:r>
                        <a:rPr lang="zh-CN" altLang="en-US" sz="1600" dirty="0"/>
                        <a:t>戊醇含量</a:t>
                      </a:r>
                      <a:r>
                        <a:rPr lang="en-US" altLang="zh-CN" sz="1600" dirty="0"/>
                        <a:t>/g</a:t>
                      </a:r>
                      <a:endParaRPr lang="zh-CN" altLang="en-US" sz="1600" dirty="0"/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/>
                        <a:t>4-</a:t>
                      </a:r>
                      <a:r>
                        <a:rPr lang="zh-CN" sz="1600"/>
                        <a:t>甲基</a:t>
                      </a:r>
                      <a:r>
                        <a:rPr lang="en-US" altLang="zh-CN" sz="1600"/>
                        <a:t>-2-</a:t>
                      </a:r>
                      <a:r>
                        <a:rPr lang="zh-CN" sz="1600"/>
                        <a:t>戊醇标样</a:t>
                      </a:r>
                      <a:endParaRPr lang="zh-CN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101621424</a:t>
                      </a:r>
                      <a:endParaRPr lang="en-US" altLang="en-US" sz="1600" dirty="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8.60 </a:t>
                      </a:r>
                      <a:endParaRPr lang="en-US" altLang="en-US" sz="1600" dirty="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1600" dirty="0"/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8-20-8 </a:t>
                      </a:r>
                      <a:endParaRPr lang="en-US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69526001</a:t>
                      </a:r>
                      <a:endParaRPr lang="en-US" altLang="en-US" sz="1600" dirty="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588.38 </a:t>
                      </a:r>
                      <a:endParaRPr lang="en-US" altLang="en-US" sz="1600" dirty="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600" dirty="0"/>
                        <a:t>50.6</a:t>
                      </a:r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872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20425447"/>
              </p:ext>
            </p:extLst>
          </p:nvPr>
        </p:nvGraphicFramePr>
        <p:xfrm>
          <a:off x="434340" y="1854835"/>
          <a:ext cx="4995545" cy="27203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4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3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dirty="0"/>
                        <a:t>样品名称</a:t>
                      </a:r>
                      <a:r>
                        <a:rPr lang="en-US" altLang="zh-CN" sz="1600" dirty="0"/>
                        <a:t> </a:t>
                      </a:r>
                      <a:endParaRPr lang="zh-CN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/>
                        <a:t>峰面积</a:t>
                      </a:r>
                      <a:endParaRPr lang="zh-CN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/>
                        <a:t>含量（mg/ml）</a:t>
                      </a:r>
                      <a:endParaRPr lang="zh-CN" altLang="en-US" sz="1600"/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/>
                        <a:t>己内酰胺标样</a:t>
                      </a:r>
                      <a:endParaRPr lang="zh-CN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4.77797E+11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6.75 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8-20-7 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7.03226E+11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99.41 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8-20-8 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7.74531E+11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109.49 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1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8.79585E+11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124.34 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2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8.79554E+11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124.33 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8-14-1 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7.1175E+11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100.61 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8-14-2 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8.00436E+11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113.15 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8-14-4 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6.9663E+11</a:t>
                      </a:r>
                      <a:endParaRPr lang="en-US" altLang="en-US" sz="1600"/>
                    </a:p>
                  </a:txBody>
                  <a:tcPr marL="12700" marR="12700" marT="12700" anchor="b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98.47 </a:t>
                      </a:r>
                      <a:endParaRPr lang="en-US" altLang="en-US" sz="1600" dirty="0"/>
                    </a:p>
                  </a:txBody>
                  <a:tcPr marL="12700" marR="12700" marT="1270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/>
          <p:nvPr/>
        </p:nvGraphicFramePr>
        <p:xfrm>
          <a:off x="6521450" y="2758440"/>
          <a:ext cx="5208270" cy="91376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820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7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/>
                        <a:t>样品名称</a:t>
                      </a:r>
                      <a:endParaRPr lang="zh-CN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 dirty="0"/>
                        <a:t>峰面积</a:t>
                      </a:r>
                      <a:endParaRPr lang="zh-CN" altLang="en-US" sz="1600" dirty="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sz="1600"/>
                        <a:t>含量（mg/ml）</a:t>
                      </a:r>
                      <a:endParaRPr lang="zh-CN" altLang="en-US" sz="1600"/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zh-CN" sz="1600"/>
                        <a:t>4-</a:t>
                      </a:r>
                      <a:r>
                        <a:rPr lang="zh-CN" sz="1600"/>
                        <a:t>甲基</a:t>
                      </a:r>
                      <a:r>
                        <a:rPr lang="en-US" altLang="zh-CN" sz="1600"/>
                        <a:t>-2-</a:t>
                      </a:r>
                      <a:r>
                        <a:rPr lang="zh-CN" sz="1600"/>
                        <a:t>戊醇标样</a:t>
                      </a:r>
                      <a:endParaRPr lang="zh-CN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101621424</a:t>
                      </a:r>
                      <a:endParaRPr lang="en-US" altLang="en-US" sz="1600" dirty="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8.60 </a:t>
                      </a:r>
                      <a:endParaRPr lang="en-US" altLang="en-US" sz="1600" dirty="0"/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/>
                        <a:t>8-20-8 </a:t>
                      </a:r>
                      <a:endParaRPr lang="en-US" altLang="en-US" sz="160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69526001</a:t>
                      </a:r>
                      <a:endParaRPr lang="en-US" altLang="en-US" sz="1600" dirty="0"/>
                    </a:p>
                  </a:txBody>
                  <a:tcPr marL="12700" marR="12700" marT="12700"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600" dirty="0"/>
                        <a:t>588.38 </a:t>
                      </a:r>
                      <a:endParaRPr lang="en-US" altLang="en-US" sz="1600" dirty="0"/>
                    </a:p>
                  </a:txBody>
                  <a:tcPr marL="12700" marR="12700" marT="127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7849870" y="1892300"/>
            <a:ext cx="2292350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C00000"/>
                </a:solidFill>
                <a:sym typeface="+mn-ea"/>
              </a:rPr>
              <a:t>4-甲基-2-戊醇定量</a:t>
            </a:r>
          </a:p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C00000"/>
                </a:solidFill>
                <a:sym typeface="+mn-ea"/>
              </a:rPr>
              <a:t>（气相色谱-质谱）</a:t>
            </a:r>
          </a:p>
        </p:txBody>
      </p:sp>
      <p:sp>
        <p:nvSpPr>
          <p:cNvPr id="7" name="矩形 6"/>
          <p:cNvSpPr/>
          <p:nvPr/>
        </p:nvSpPr>
        <p:spPr>
          <a:xfrm>
            <a:off x="1786255" y="998220"/>
            <a:ext cx="2292350" cy="70675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C00000"/>
                </a:solidFill>
                <a:sym typeface="+mn-ea"/>
              </a:rPr>
              <a:t>己内酰胺定量</a:t>
            </a:r>
          </a:p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C00000"/>
                </a:solidFill>
                <a:sym typeface="+mn-ea"/>
              </a:rPr>
              <a:t>（液相色谱-质谱）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434340" y="4660900"/>
            <a:ext cx="4994910" cy="2066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fontAlgn="auto">
              <a:lnSpc>
                <a:spcPts val="2200"/>
              </a:lnSpc>
              <a:buFont typeface="Wingdings" panose="05000000000000000000" charset="0"/>
              <a:buChar char="Ø"/>
            </a:pPr>
            <a:r>
              <a:rPr lang="zh-CN" altLang="en-US" sz="1400" b="1" dirty="0">
                <a:solidFill>
                  <a:srgbClr val="C00000"/>
                </a:solidFill>
              </a:rPr>
              <a:t>己内酰胺采用液相色谱</a:t>
            </a:r>
            <a:r>
              <a:rPr lang="en-US" altLang="zh-CN" sz="1400" b="1" dirty="0">
                <a:solidFill>
                  <a:srgbClr val="C00000"/>
                </a:solidFill>
              </a:rPr>
              <a:t>-</a:t>
            </a:r>
            <a:r>
              <a:rPr lang="zh-CN" altLang="en-US" sz="1400" b="1" dirty="0">
                <a:solidFill>
                  <a:srgbClr val="C00000"/>
                </a:solidFill>
              </a:rPr>
              <a:t>质谱分析，其定量结果是通过已知浓度的标物进行单点校正得到的。</a:t>
            </a:r>
          </a:p>
          <a:p>
            <a:pPr marL="285750" indent="-285750" fontAlgn="auto">
              <a:lnSpc>
                <a:spcPts val="2200"/>
              </a:lnSpc>
              <a:buFont typeface="Wingdings" panose="05000000000000000000" charset="0"/>
              <a:buChar char="Ø"/>
            </a:pPr>
            <a:r>
              <a:rPr lang="zh-CN" altLang="en-US" sz="1400" b="1" dirty="0">
                <a:solidFill>
                  <a:srgbClr val="C00000"/>
                </a:solidFill>
              </a:rPr>
              <a:t>在做定量分析时，所有样品均稀释了</a:t>
            </a:r>
            <a:r>
              <a:rPr lang="en-US" altLang="zh-CN" sz="1400" b="1" dirty="0">
                <a:solidFill>
                  <a:srgbClr val="C00000"/>
                </a:solidFill>
              </a:rPr>
              <a:t>10</a:t>
            </a:r>
            <a:r>
              <a:rPr lang="zh-CN" altLang="en-US" sz="1400" b="1" dirty="0">
                <a:solidFill>
                  <a:srgbClr val="C00000"/>
                </a:solidFill>
              </a:rPr>
              <a:t>倍，表格中的结果已经乘以稀释倍数，为样品的最终浓度。</a:t>
            </a:r>
          </a:p>
          <a:p>
            <a:pPr marL="285750" indent="-285750" fontAlgn="auto">
              <a:lnSpc>
                <a:spcPts val="2200"/>
              </a:lnSpc>
              <a:buFont typeface="Wingdings" panose="05000000000000000000" charset="0"/>
              <a:buChar char="Ø"/>
            </a:pPr>
            <a:r>
              <a:rPr lang="zh-CN" altLang="en-US" sz="1400" b="1" dirty="0">
                <a:solidFill>
                  <a:srgbClr val="C00000"/>
                </a:solidFill>
              </a:rPr>
              <a:t>样品</a:t>
            </a:r>
            <a:r>
              <a:rPr lang="en-US" altLang="zh-CN" sz="1400" b="1" dirty="0">
                <a:solidFill>
                  <a:srgbClr val="C00000"/>
                </a:solidFill>
              </a:rPr>
              <a:t>8-20-7</a:t>
            </a:r>
            <a:r>
              <a:rPr lang="zh-CN" altLang="en-US" sz="1400" b="1" dirty="0">
                <a:solidFill>
                  <a:srgbClr val="C00000"/>
                </a:solidFill>
              </a:rPr>
              <a:t>、</a:t>
            </a:r>
            <a:r>
              <a:rPr lang="en-US" altLang="zh-CN" sz="1400" b="1" dirty="0">
                <a:solidFill>
                  <a:srgbClr val="C00000"/>
                </a:solidFill>
              </a:rPr>
              <a:t>8-20-8</a:t>
            </a:r>
            <a:r>
              <a:rPr lang="zh-CN" altLang="en-US" sz="1400" b="1" dirty="0">
                <a:solidFill>
                  <a:srgbClr val="C00000"/>
                </a:solidFill>
              </a:rPr>
              <a:t>为本次样品，其余样品为之前样品，由于之前样品没有稀释，结果可能偏低，因此本次实验对其进行稀释后重新测得。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521450" y="3831590"/>
            <a:ext cx="4949190" cy="1501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fontAlgn="auto">
              <a:lnSpc>
                <a:spcPts val="2200"/>
              </a:lnSpc>
              <a:buFont typeface="Wingdings" panose="05000000000000000000" charset="0"/>
              <a:buChar char="Ø"/>
            </a:pPr>
            <a:r>
              <a:rPr lang="zh-CN" altLang="en-US" sz="1400" b="1" dirty="0">
                <a:solidFill>
                  <a:srgbClr val="C00000"/>
                </a:solidFill>
                <a:sym typeface="+mn-ea"/>
              </a:rPr>
              <a:t>4-甲基-2-戊醇</a:t>
            </a:r>
            <a:r>
              <a:rPr lang="zh-CN" altLang="en-US" sz="1400" b="1" dirty="0">
                <a:solidFill>
                  <a:srgbClr val="C00000"/>
                </a:solidFill>
              </a:rPr>
              <a:t>采用气相色谱</a:t>
            </a:r>
            <a:r>
              <a:rPr lang="en-US" altLang="zh-CN" sz="1400" b="1" dirty="0">
                <a:solidFill>
                  <a:srgbClr val="C00000"/>
                </a:solidFill>
              </a:rPr>
              <a:t>-</a:t>
            </a:r>
            <a:r>
              <a:rPr lang="zh-CN" altLang="en-US" sz="1400" b="1" dirty="0">
                <a:solidFill>
                  <a:srgbClr val="C00000"/>
                </a:solidFill>
              </a:rPr>
              <a:t>质谱分析，其定量结果是通过已知浓度的标物进行单点校正得到的。</a:t>
            </a:r>
          </a:p>
          <a:p>
            <a:pPr marL="285750" indent="-285750" fontAlgn="auto">
              <a:lnSpc>
                <a:spcPts val="2200"/>
              </a:lnSpc>
              <a:buFont typeface="Wingdings" panose="05000000000000000000" charset="0"/>
              <a:buChar char="Ø"/>
            </a:pPr>
            <a:r>
              <a:rPr lang="zh-CN" altLang="en-US" sz="1400" b="1" dirty="0">
                <a:solidFill>
                  <a:srgbClr val="C00000"/>
                </a:solidFill>
              </a:rPr>
              <a:t>在做定量分析时，样品</a:t>
            </a:r>
            <a:r>
              <a:rPr lang="en-US" altLang="zh-CN" sz="1400" b="1" dirty="0">
                <a:solidFill>
                  <a:srgbClr val="C00000"/>
                </a:solidFill>
              </a:rPr>
              <a:t>8-20-8</a:t>
            </a:r>
            <a:r>
              <a:rPr lang="zh-CN" altLang="en-US" sz="1400" b="1" dirty="0">
                <a:solidFill>
                  <a:srgbClr val="C00000"/>
                </a:solidFill>
              </a:rPr>
              <a:t>稀释了</a:t>
            </a:r>
            <a:r>
              <a:rPr lang="en-US" altLang="zh-CN" sz="1400" b="1" dirty="0">
                <a:solidFill>
                  <a:srgbClr val="C00000"/>
                </a:solidFill>
              </a:rPr>
              <a:t>100</a:t>
            </a:r>
            <a:r>
              <a:rPr lang="zh-CN" altLang="en-US" sz="1400" b="1" dirty="0">
                <a:solidFill>
                  <a:srgbClr val="C00000"/>
                </a:solidFill>
              </a:rPr>
              <a:t>倍，表格中的结果已经乘以稀释倍数，为样品的最终浓度。</a:t>
            </a:r>
          </a:p>
          <a:p>
            <a:pPr marL="285750" indent="-285750" fontAlgn="auto">
              <a:lnSpc>
                <a:spcPts val="2200"/>
              </a:lnSpc>
              <a:buFont typeface="Wingdings" panose="05000000000000000000" charset="0"/>
              <a:buChar char="Ø"/>
            </a:pPr>
            <a:endParaRPr lang="zh-CN" altLang="en-US" sz="1400" b="1" dirty="0">
              <a:solidFill>
                <a:srgbClr val="C0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87714" y="314026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样品定量结果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 100"/>
          <p:cNvSpPr/>
          <p:nvPr/>
        </p:nvSpPr>
        <p:spPr>
          <a:xfrm>
            <a:off x="4644239" y="121756"/>
            <a:ext cx="1783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8-20-7</a:t>
            </a:r>
          </a:p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总离子流色谱图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731702" y="1309371"/>
            <a:ext cx="1016635" cy="760720"/>
            <a:chOff x="4363041" y="633281"/>
            <a:chExt cx="1016635" cy="1056547"/>
          </a:xfrm>
        </p:grpSpPr>
        <p:sp>
          <p:nvSpPr>
            <p:cNvPr id="7" name="矩形 6"/>
            <p:cNvSpPr/>
            <p:nvPr/>
          </p:nvSpPr>
          <p:spPr>
            <a:xfrm>
              <a:off x="4363041" y="633281"/>
              <a:ext cx="1016635" cy="425976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en-US" sz="1400" b="1">
                  <a:solidFill>
                    <a:srgbClr val="FF0000"/>
                  </a:solidFill>
                  <a:sym typeface="+mn-ea"/>
                </a:rPr>
                <a:t>C6 H11 O N</a:t>
              </a:r>
              <a:endParaRPr lang="en-US" sz="1400" b="1" i="0" u="none" strike="noStrike" dirty="0">
                <a:solidFill>
                  <a:srgbClr val="FF0000"/>
                </a:solidFill>
                <a:effectLst/>
                <a:latin typeface="Calibri" panose="020F0502020204030204" charset="0"/>
                <a:sym typeface="+mn-ea"/>
              </a:endParaRPr>
            </a:p>
          </p:txBody>
        </p:sp>
        <p:cxnSp>
          <p:nvCxnSpPr>
            <p:cNvPr id="8" name="直接箭头连接符 7"/>
            <p:cNvCxnSpPr/>
            <p:nvPr/>
          </p:nvCxnSpPr>
          <p:spPr>
            <a:xfrm>
              <a:off x="4871357" y="1060746"/>
              <a:ext cx="0" cy="6290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" y="1938020"/>
            <a:ext cx="11591925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矩形 100"/>
          <p:cNvSpPr/>
          <p:nvPr/>
        </p:nvSpPr>
        <p:spPr>
          <a:xfrm>
            <a:off x="4644239" y="121756"/>
            <a:ext cx="17830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8-20-</a:t>
            </a:r>
            <a:r>
              <a:rPr lang="en-US" altLang="zh-CN" b="1" dirty="0">
                <a:solidFill>
                  <a:srgbClr val="C00000"/>
                </a:solidFill>
              </a:rPr>
              <a:t>8</a:t>
            </a:r>
            <a:endParaRPr lang="zh-CN" altLang="en-US" b="1" dirty="0">
              <a:solidFill>
                <a:srgbClr val="C00000"/>
              </a:solidFill>
            </a:endParaRPr>
          </a:p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总离子流色谱图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2731702" y="1309371"/>
            <a:ext cx="1016635" cy="760720"/>
            <a:chOff x="4363041" y="633281"/>
            <a:chExt cx="1016635" cy="1056547"/>
          </a:xfrm>
        </p:grpSpPr>
        <p:sp>
          <p:nvSpPr>
            <p:cNvPr id="7" name="矩形 6"/>
            <p:cNvSpPr/>
            <p:nvPr/>
          </p:nvSpPr>
          <p:spPr>
            <a:xfrm>
              <a:off x="4363041" y="633281"/>
              <a:ext cx="1016635" cy="425976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buNone/>
              </a:pPr>
              <a:r>
                <a:rPr lang="en-US" sz="1400" b="1">
                  <a:solidFill>
                    <a:srgbClr val="FF0000"/>
                  </a:solidFill>
                  <a:sym typeface="+mn-ea"/>
                </a:rPr>
                <a:t>C6 H11 O N</a:t>
              </a:r>
              <a:endParaRPr lang="en-US" sz="1400" b="1" i="0" u="none" strike="noStrike" dirty="0">
                <a:solidFill>
                  <a:srgbClr val="FF0000"/>
                </a:solidFill>
                <a:effectLst/>
                <a:latin typeface="Calibri" panose="020F0502020204030204" charset="0"/>
                <a:sym typeface="+mn-ea"/>
              </a:endParaRPr>
            </a:p>
          </p:txBody>
        </p:sp>
        <p:cxnSp>
          <p:nvCxnSpPr>
            <p:cNvPr id="8" name="直接箭头连接符 7"/>
            <p:cNvCxnSpPr/>
            <p:nvPr/>
          </p:nvCxnSpPr>
          <p:spPr>
            <a:xfrm>
              <a:off x="4871357" y="1060746"/>
              <a:ext cx="0" cy="62908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" y="1771650"/>
            <a:ext cx="11591925" cy="33147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0*57"/>
  <p:tag name="TABLE_ENDDRAG_RECT" val="511*251*410*5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10*57"/>
  <p:tag name="TABLE_ENDDRAG_RECT" val="511*251*410*57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426</Words>
  <Application>Microsoft Office PowerPoint</Application>
  <PresentationFormat>宽屏</PresentationFormat>
  <Paragraphs>107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超 戴</cp:lastModifiedBy>
  <cp:revision>18</cp:revision>
  <dcterms:created xsi:type="dcterms:W3CDTF">2024-08-20T02:32:00Z</dcterms:created>
  <dcterms:modified xsi:type="dcterms:W3CDTF">2024-09-06T07:55:31Z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37C04591959249D4ACE55B2F06C96884</vt:lpwstr>
  </property>
  <property fmtid="{D5CDD505-2E9C-101B-9397-08002B2CF9AE}" pid="3" name="KSOProductBuildVer">
    <vt:lpwstr>2052-11.8.0.16970</vt:lpwstr>
  </property>
</Properties>
</file>