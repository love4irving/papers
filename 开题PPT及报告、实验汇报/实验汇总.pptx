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3" r:id="rId2"/>
    <p:sldId id="264" r:id="rId3"/>
    <p:sldId id="26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4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E3A43-2622-47DF-9DE7-85F1807DAACB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85B28-191E-4BE7-B0AE-5FA5D3DC97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57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06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25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4E10E-0D6E-4584-9622-8691374B297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85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F89C0-C321-BBDB-8DFE-7E745C298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3ED8B9-DBD8-E254-99B2-9969E98C4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FE552-4F35-007D-2E19-6586802E1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EFC17D-795F-0C8A-B3FA-F86CB583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2202B8-84C9-0A99-A889-F85BCA06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800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CD128-3A0E-A9F8-626F-67340B26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B16DA0-F248-127D-B5E4-619C1A023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5AF1A7-292A-9F42-D38C-518FF686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E64B1D-4B7D-5B3C-57E5-59B76F43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E70640-360C-2E04-4FDE-A3371B9D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16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83A2B-F32A-9266-BB9E-32E89718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93ABF6-6CAD-3E30-CFA0-690C202F9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DC628-1BB1-ADC3-BF7C-521DBB28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0694D2-C24B-8FC2-DC63-D3F4A907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5635D2-4D15-0074-23F4-F46E60A1F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847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F7C27C-982A-2FB1-3CC2-C272C7A5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A1C4A-5A79-1900-FB84-1B00F6508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5B0A6D-C1B9-869C-9D44-FBC4F3CB1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1D96FA-2D99-F728-7F5F-0655D3CF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72D0AB-1EE0-93D7-BBB8-39E8AABB8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D97F91-00A1-A66C-2553-67FE4A05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77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FB37A-D9C4-DF73-8736-F5AEA629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8CBB90-F0F4-4569-E020-35096F398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B4DA9E-9730-F16E-A319-3A2672C35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544B91-94FC-F4E9-D486-F3FA01125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423434-6C57-CDA5-7370-24987DE1E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05E1F2-2F3B-2050-9310-0579D655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105A99-FC8C-36F1-EF29-1F466BE9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316790B-4F42-6157-AFDE-63CDD2F3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964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D3B03-AD95-129C-35F9-54BF3F99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D12DFE-1F5C-636A-1F9D-A8487DEE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D64563-040A-64AB-C188-BA558E977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8B658-38A4-5AD5-8BD5-B04D275F5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46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0DDECD-9A03-2B7A-32E1-F50546A0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274D60-C6BF-1C04-D8CC-CAB6E03C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59F9C6-D267-BD93-74B2-E2325E3A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83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A490B-6509-F87D-A8E7-6E72F1E5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D3D65-C822-CDD9-F55E-39092F6E2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10C9A3-A130-9235-F8D7-74F71BB06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0F2795-B6BD-2040-E7EC-668EA8D9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8F2B79-DB27-EA01-E1D9-0544EE9A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655EAD-4F79-A44B-303F-B7D57AFC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046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B42AE-CB15-7B91-A410-99341FA1A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8C6AD9-AE81-2A71-53B1-7099E2F931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ABA715-397B-D405-8B63-C96F1D9FE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844B08-A81C-06B9-621C-91ACD3ED1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CAA7CE-A643-45FD-514E-EE242AFB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4E4A4D-E2F2-FFCA-D8FD-29CAE15A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38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AFBF9-0F57-BF0C-BF9F-07F4FBE1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FC4A71-F33C-500C-A150-F89BC814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68228-F97C-40CE-564E-03EB7E86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CAE4D-7E2D-A7A3-684E-2EE10665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59BC9A-1A46-46C2-4F77-93F8F698C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54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0F663A9-592E-0B2E-07D5-CF659C475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615761-D28A-C38F-E7E6-72D7E667D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084EE-0365-AC40-9383-CA275D565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DFEB0-4AC5-D7F9-EAA7-FC444199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2FA63E-DC4C-CEE7-A805-B11E835E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8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2 多媒体办公系统01-09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193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536200" y="5877340"/>
            <a:ext cx="2844800" cy="365125"/>
          </a:xfrm>
        </p:spPr>
        <p:txBody>
          <a:bodyPr/>
          <a:lstStyle/>
          <a:p>
            <a:fld id="{D9DE98FE-917E-4DEF-80D6-9FEA7ECDC804}" type="datetime1">
              <a:rPr lang="zh-CN" altLang="en-US" smtClean="0"/>
              <a:pPr/>
              <a:t>2024/9/18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框 12"/>
          <p:cNvSpPr txBox="1"/>
          <p:nvPr userDrawn="1"/>
        </p:nvSpPr>
        <p:spPr>
          <a:xfrm>
            <a:off x="7536200" y="6226540"/>
            <a:ext cx="3648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dist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FZLanTingHeiS-B-GB"/>
              </a:rPr>
              <a:t>中石化石油化工科学研究院</a:t>
            </a:r>
            <a:r>
              <a:rPr kumimoji="1" lang="zh-CN" altLang="en-US" sz="1400" dirty="0">
                <a:solidFill>
                  <a:srgbClr val="0D0D0D"/>
                </a:solidFill>
                <a:latin typeface="方正兰亭中黑简体" panose="02000000000000000000" charset="-122"/>
                <a:ea typeface="方正兰亭中黑简体" panose="02000000000000000000" charset="-122"/>
                <a:cs typeface="FZLanTingHeiS-B-GB"/>
                <a:sym typeface="+mn-ea"/>
              </a:rPr>
              <a:t>有限公司</a:t>
            </a:r>
          </a:p>
        </p:txBody>
      </p:sp>
      <p:sp>
        <p:nvSpPr>
          <p:cNvPr id="8" name="文本框 16"/>
          <p:cNvSpPr txBox="1"/>
          <p:nvPr userDrawn="1"/>
        </p:nvSpPr>
        <p:spPr>
          <a:xfrm>
            <a:off x="7536200" y="6452242"/>
            <a:ext cx="39721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SINOPEC Research Institute of Petroleum Processing </a:t>
            </a:r>
            <a:r>
              <a:rPr kumimoji="1" lang="en-US" altLang="zh-CN" sz="800" b="1" kern="2200" spc="53" baseline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Co.,Ltd</a:t>
            </a:r>
            <a:r>
              <a:rPr kumimoji="1" lang="en-US" altLang="zh-CN" sz="800" b="1" kern="2200" spc="53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HYDaSongJ"/>
                <a:cs typeface="Arial" panose="020B06040202020202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834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C2F9B9-4A63-7C7F-38D4-A5E50ABF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280778-F50E-51D9-0EDE-465A9C39E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BF12F-7F25-1B55-0966-263F7A274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4F746-7CAE-4E15-836F-92DA94518894}" type="datetimeFigureOut">
              <a:rPr lang="zh-CN" altLang="en-US" smtClean="0"/>
              <a:t>2024/9/18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D404F-C26A-FD27-CB70-6C0ED7E7D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0B1FAB-66B0-2292-EB9C-FD3841F81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7694C-15B3-4176-8211-4F3648252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848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0" y="55033"/>
            <a:ext cx="6149447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实验设计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955AF4-AC8B-B9E9-918D-99B401A9056B}"/>
              </a:ext>
            </a:extLst>
          </p:cNvPr>
          <p:cNvSpPr txBox="1"/>
          <p:nvPr/>
        </p:nvSpPr>
        <p:spPr>
          <a:xfrm>
            <a:off x="156633" y="866140"/>
            <a:ext cx="11957119" cy="87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实验内容：取一定量氨基己酸和己内酰胺用水溶解，再用一定量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4-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甲基</a:t>
            </a:r>
            <a:r>
              <a:rPr lang="en-US" altLang="zh-CN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-2-</a:t>
            </a: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戊醇进行萃取分离得到醇相和水相，再用大</a:t>
            </a:r>
            <a:endParaRPr lang="en-US" altLang="zh-CN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量水对醇相进行反萃。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2FAED59-372B-E84E-2A37-1E88DDAB5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511867"/>
              </p:ext>
            </p:extLst>
          </p:nvPr>
        </p:nvGraphicFramePr>
        <p:xfrm>
          <a:off x="156633" y="1787733"/>
          <a:ext cx="4896134" cy="2194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7177">
                  <a:extLst>
                    <a:ext uri="{9D8B030D-6E8A-4147-A177-3AD203B41FA5}">
                      <a16:colId xmlns:a16="http://schemas.microsoft.com/office/drawing/2014/main" val="814644657"/>
                    </a:ext>
                  </a:extLst>
                </a:gridCol>
                <a:gridCol w="1306912">
                  <a:extLst>
                    <a:ext uri="{9D8B030D-6E8A-4147-A177-3AD203B41FA5}">
                      <a16:colId xmlns:a16="http://schemas.microsoft.com/office/drawing/2014/main" val="3228328787"/>
                    </a:ext>
                  </a:extLst>
                </a:gridCol>
                <a:gridCol w="1632045">
                  <a:extLst>
                    <a:ext uri="{9D8B030D-6E8A-4147-A177-3AD203B41FA5}">
                      <a16:colId xmlns:a16="http://schemas.microsoft.com/office/drawing/2014/main" val="3323453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用量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sz="1800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实际用量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sz="1800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020228"/>
                  </a:ext>
                </a:extLst>
              </a:tr>
              <a:tr h="32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己内酰胺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12.5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12.5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91859"/>
                  </a:ext>
                </a:extLst>
              </a:tr>
              <a:tr h="32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氨基己酸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0.575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0.57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56388"/>
                  </a:ext>
                </a:extLst>
              </a:tr>
              <a:tr h="3292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甲基</a:t>
                      </a:r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-2-</a:t>
                      </a:r>
                      <a:r>
                        <a:rPr lang="zh-CN" altLang="en-US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戊醇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52.3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52.5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933123"/>
                  </a:ext>
                </a:extLst>
              </a:tr>
              <a:tr h="32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溶解用水量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52.3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52.4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792796"/>
                  </a:ext>
                </a:extLst>
              </a:tr>
              <a:tr h="32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反萃用水量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209.2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209.02</a:t>
                      </a:r>
                      <a:endParaRPr lang="zh-CN" altLang="en-US" sz="180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941320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0C5F1F6-6E89-8801-1C23-4391A6FB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540201"/>
              </p:ext>
            </p:extLst>
          </p:nvPr>
        </p:nvGraphicFramePr>
        <p:xfrm>
          <a:off x="156633" y="4191189"/>
          <a:ext cx="113919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26110">
                  <a:extLst>
                    <a:ext uri="{9D8B030D-6E8A-4147-A177-3AD203B41FA5}">
                      <a16:colId xmlns:a16="http://schemas.microsoft.com/office/drawing/2014/main" val="2122203192"/>
                    </a:ext>
                  </a:extLst>
                </a:gridCol>
                <a:gridCol w="2073897">
                  <a:extLst>
                    <a:ext uri="{9D8B030D-6E8A-4147-A177-3AD203B41FA5}">
                      <a16:colId xmlns:a16="http://schemas.microsoft.com/office/drawing/2014/main" val="2405694031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905656717"/>
                    </a:ext>
                  </a:extLst>
                </a:gridCol>
                <a:gridCol w="1866508">
                  <a:extLst>
                    <a:ext uri="{9D8B030D-6E8A-4147-A177-3AD203B41FA5}">
                      <a16:colId xmlns:a16="http://schemas.microsoft.com/office/drawing/2014/main" val="2589255226"/>
                    </a:ext>
                  </a:extLst>
                </a:gridCol>
                <a:gridCol w="2092750">
                  <a:extLst>
                    <a:ext uri="{9D8B030D-6E8A-4147-A177-3AD203B41FA5}">
                      <a16:colId xmlns:a16="http://schemas.microsoft.com/office/drawing/2014/main" val="2283342268"/>
                    </a:ext>
                  </a:extLst>
                </a:gridCol>
                <a:gridCol w="2121031">
                  <a:extLst>
                    <a:ext uri="{9D8B030D-6E8A-4147-A177-3AD203B41FA5}">
                      <a16:colId xmlns:a16="http://schemas.microsoft.com/office/drawing/2014/main" val="525274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质量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己内酰胺浓度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(g/g)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己内酰胺定量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/g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氨基己酸浓度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(g/g)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氨基己酸定量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(g/g)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125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萃取水相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47.64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704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萃取醇相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67.02</a:t>
                      </a:r>
                      <a:r>
                        <a:rPr lang="zh-CN" alt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（取样</a:t>
                      </a:r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3.87g)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0.1405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9.42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447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反萃水相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219.11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908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反萃醇相</a:t>
                      </a:r>
                      <a:endParaRPr lang="zh-CN" altLang="en-US" b="1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50.60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0.0597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3.02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endParaRPr lang="zh-CN" altLang="en-US" b="0" dirty="0"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7378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B90F7F6C-16FA-1234-1747-9ACF52825754}"/>
              </a:ext>
            </a:extLst>
          </p:cNvPr>
          <p:cNvSpPr txBox="1"/>
          <p:nvPr/>
        </p:nvSpPr>
        <p:spPr>
          <a:xfrm>
            <a:off x="5269584" y="1948608"/>
            <a:ext cx="6647974" cy="1689373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萃取水相和反萃水相需要通过液相色谱进行定量，但是液相色谱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用了新方法，需要新配标样进行校正，一时忙不完。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萃取醇相和反萃醇相用气相色谱没法对氨基己酸进行定量，氨基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己酸再气相色谱的高温下会分解。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750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0" y="55033"/>
            <a:ext cx="6149447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实验设计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3C9870-C7AE-5F37-07EA-4EAE6866E923}"/>
              </a:ext>
            </a:extLst>
          </p:cNvPr>
          <p:cNvSpPr txBox="1"/>
          <p:nvPr/>
        </p:nvSpPr>
        <p:spPr>
          <a:xfrm>
            <a:off x="0" y="796976"/>
            <a:ext cx="120837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己内酰胺在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甲基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戊醇中的溶解度测定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实验设计：取一定量的己内酰胺加热使其溶于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甲基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戊醇中成不饱和溶液，然后降温，在析出晶体变成饱和溶液的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瞬间记录温度，即可得到该温度下的溶解度。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D5C1F63-4AEB-EF3C-0B05-5B672CA54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760205"/>
              </p:ext>
            </p:extLst>
          </p:nvPr>
        </p:nvGraphicFramePr>
        <p:xfrm>
          <a:off x="616015" y="2933477"/>
          <a:ext cx="10680570" cy="19272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67787">
                  <a:extLst>
                    <a:ext uri="{9D8B030D-6E8A-4147-A177-3AD203B41FA5}">
                      <a16:colId xmlns:a16="http://schemas.microsoft.com/office/drawing/2014/main" val="2720313269"/>
                    </a:ext>
                  </a:extLst>
                </a:gridCol>
                <a:gridCol w="2221277">
                  <a:extLst>
                    <a:ext uri="{9D8B030D-6E8A-4147-A177-3AD203B41FA5}">
                      <a16:colId xmlns:a16="http://schemas.microsoft.com/office/drawing/2014/main" val="1211499829"/>
                    </a:ext>
                  </a:extLst>
                </a:gridCol>
                <a:gridCol w="1854472">
                  <a:extLst>
                    <a:ext uri="{9D8B030D-6E8A-4147-A177-3AD203B41FA5}">
                      <a16:colId xmlns:a16="http://schemas.microsoft.com/office/drawing/2014/main" val="2591064510"/>
                    </a:ext>
                  </a:extLst>
                </a:gridCol>
                <a:gridCol w="1547047">
                  <a:extLst>
                    <a:ext uri="{9D8B030D-6E8A-4147-A177-3AD203B41FA5}">
                      <a16:colId xmlns:a16="http://schemas.microsoft.com/office/drawing/2014/main" val="3939395135"/>
                    </a:ext>
                  </a:extLst>
                </a:gridCol>
                <a:gridCol w="2389987">
                  <a:extLst>
                    <a:ext uri="{9D8B030D-6E8A-4147-A177-3AD203B41FA5}">
                      <a16:colId xmlns:a16="http://schemas.microsoft.com/office/drawing/2014/main" val="3698599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S1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S2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S3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S4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31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称取己内酰胺质量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15g(15.04)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18g(18.16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20(20.04)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25g(25.03)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77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称取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甲基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戊醇质量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20g(20.05)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20g(20.14)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20(20.02)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20g(20.20)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020421"/>
                  </a:ext>
                </a:extLst>
              </a:tr>
              <a:tr h="81469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溶解温度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℃（不太准确，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℃时已有晶体析出）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28-30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48-50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≥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46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778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50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294967295"/>
          </p:nvPr>
        </p:nvSpPr>
        <p:spPr>
          <a:xfrm>
            <a:off x="11296585" y="6272026"/>
            <a:ext cx="828520" cy="365125"/>
          </a:xfrm>
        </p:spPr>
        <p:txBody>
          <a:bodyPr/>
          <a:lstStyle/>
          <a:p>
            <a:fld id="{4F48B3E8-95D7-4EDB-B09B-1EE74EE19A10}" type="slidenum">
              <a:rPr lang="zh-CN" altLang="en-US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DD1C2B8C-83FB-EF9D-8C02-62D0038E4C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6633" y="191347"/>
            <a:ext cx="338667" cy="3386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09714D29-9374-67FB-3CE5-29EDDB02BE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7773" y="342053"/>
            <a:ext cx="237067" cy="2370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D1DE86A-2808-030A-53B7-BF0A2A2C4AEF}"/>
              </a:ext>
            </a:extLst>
          </p:cNvPr>
          <p:cNvCxnSpPr/>
          <p:nvPr/>
        </p:nvCxnSpPr>
        <p:spPr>
          <a:xfrm>
            <a:off x="0" y="587587"/>
            <a:ext cx="12192000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>
            <a:extLst>
              <a:ext uri="{FF2B5EF4-FFF2-40B4-BE49-F238E27FC236}">
                <a16:creationId xmlns:a16="http://schemas.microsoft.com/office/drawing/2014/main" id="{4C656F8D-E90D-D111-C8CC-399442A117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24840" y="55033"/>
            <a:ext cx="6149447" cy="1085041"/>
          </a:xfrm>
          <a:prstGeom prst="rect">
            <a:avLst/>
          </a:prstGeom>
          <a:noFill/>
          <a:ln w="31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lIns="96000" tIns="48260" rIns="96000" bIns="48260" anchor="t" anchorCtr="0">
            <a:sp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r>
              <a:rPr lang="zh-CN" altLang="en-US" sz="2667" b="1" spc="212" dirty="0">
                <a:ln w="3175">
                  <a:noFill/>
                  <a:prstDash val="dash"/>
                </a:ln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实验设计</a:t>
            </a:r>
            <a:endParaRPr lang="en-US" altLang="zh-CN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1333"/>
              </a:spcBef>
              <a:buSzPct val="100000"/>
            </a:pPr>
            <a:endParaRPr lang="zh-CN" altLang="en-US" sz="2667" b="1" spc="212" dirty="0">
              <a:ln w="3175">
                <a:noFill/>
                <a:prstDash val="dash"/>
              </a:ln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3C9870-C7AE-5F37-07EA-4EAE6866E923}"/>
              </a:ext>
            </a:extLst>
          </p:cNvPr>
          <p:cNvSpPr txBox="1"/>
          <p:nvPr/>
        </p:nvSpPr>
        <p:spPr>
          <a:xfrm>
            <a:off x="0" y="796976"/>
            <a:ext cx="118529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测定在室温和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℃下水在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甲基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戊醇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己内酰胺饱和溶液中的溶解度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实验设计：取一定量的己内酰胺加热使其溶于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甲基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戊醇中成饱和溶液，然后往溶液里加水，直至出现分层现象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D5C1F63-4AEB-EF3C-0B05-5B672CA54F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607312"/>
              </p:ext>
            </p:extLst>
          </p:nvPr>
        </p:nvGraphicFramePr>
        <p:xfrm>
          <a:off x="156633" y="2440110"/>
          <a:ext cx="4889064" cy="27419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21074">
                  <a:extLst>
                    <a:ext uri="{9D8B030D-6E8A-4147-A177-3AD203B41FA5}">
                      <a16:colId xmlns:a16="http://schemas.microsoft.com/office/drawing/2014/main" val="2720313269"/>
                    </a:ext>
                  </a:extLst>
                </a:gridCol>
                <a:gridCol w="2167990">
                  <a:extLst>
                    <a:ext uri="{9D8B030D-6E8A-4147-A177-3AD203B41FA5}">
                      <a16:colId xmlns:a16="http://schemas.microsoft.com/office/drawing/2014/main" val="1211499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室温下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31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称取己内酰胺质量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1.8g(1.83)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77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称取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甲基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戊醇质量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2g(2.19g)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020421"/>
                  </a:ext>
                </a:extLst>
              </a:tr>
              <a:tr h="81469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溶解的水质量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0.6g-0.8g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778968"/>
                  </a:ext>
                </a:extLst>
              </a:tr>
              <a:tr h="81469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水在饱和体系中的溶解度约为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14.9%-19.9%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151271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FC34E46-97F7-7390-4B76-F293A1424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976251"/>
              </p:ext>
            </p:extLst>
          </p:nvPr>
        </p:nvGraphicFramePr>
        <p:xfrm>
          <a:off x="6081402" y="2435239"/>
          <a:ext cx="4889064" cy="274191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21074">
                  <a:extLst>
                    <a:ext uri="{9D8B030D-6E8A-4147-A177-3AD203B41FA5}">
                      <a16:colId xmlns:a16="http://schemas.microsoft.com/office/drawing/2014/main" val="2720313269"/>
                    </a:ext>
                  </a:extLst>
                </a:gridCol>
                <a:gridCol w="2167990">
                  <a:extLst>
                    <a:ext uri="{9D8B030D-6E8A-4147-A177-3AD203B41FA5}">
                      <a16:colId xmlns:a16="http://schemas.microsoft.com/office/drawing/2014/main" val="12114998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60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℃下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31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称取己内酰胺质量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1.8g(1.81)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277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称取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甲基</a:t>
                      </a:r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-2-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戊醇质量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2g(2.01g)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1020421"/>
                  </a:ext>
                </a:extLst>
              </a:tr>
              <a:tr h="81469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溶解的水质量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1g-1.2g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8778968"/>
                  </a:ext>
                </a:extLst>
              </a:tr>
              <a:tr h="81469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水在饱和体系中的溶解度约为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26.2%-31.4%</a:t>
                      </a:r>
                      <a:endParaRPr lang="zh-CN" altLang="en-US" dirty="0"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8151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0335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32.7"/>
  <p:tag name="KSO_WM_UNIT_TEXTBOXSTYLE_ADJUSTTOP" val="0_6.650002"/>
  <p:tag name="KSO_WM_UNIT_TEXTBOXSTYLE_ADJUSTHEIGTH" val="100_-8.99984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mixed20201883_18*i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-0.25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1"/>
  <p:tag name="KSO_WM_UNIT_TEXTBOXSTYLE_ADJUSTLEFT" val="0_-19.06827"/>
  <p:tag name="KSO_WM_UNIT_TEXTBOXSTYLE_ADJUSTTOP" val="50_1.059998"/>
  <p:tag name="KSO_WM_UNIT_TEXTBOXSTYLE_ADJUSTHEIGTH" val="100_-14.9999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mixed20201883_18*i*2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BOXSTYLE_SHAPETYPE" val="0"/>
  <p:tag name="KSO_WM_UNIT_TEXTBOXSTYLE_TEMPLATETYPE" val="1"/>
  <p:tag name="KSO_WM_UNIT_ISCONTENTSTITLE" val="0"/>
  <p:tag name="KSO_WM_UNIT_PRESET_TEXT" val="单击此处输入正文标题内容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mixed20201883_18*a*1"/>
  <p:tag name="KSO_WM_TEMPLATE_CATEGORY" val="mixed"/>
  <p:tag name="KSO_WM_TEMPLATE_INDEX" val="20201883"/>
  <p:tag name="KSO_WM_UNIT_LAYERLEVEL" val="1"/>
  <p:tag name="KSO_WM_TAG_VERSION" val="1.0"/>
  <p:tag name="KSO_WM_BEAUTIFY_FLAG" val="#wm#"/>
  <p:tag name="KSO_WM_UNIT_TEXTBOXSTYLE_GUID" val="{bba0877e-d8f8-4b3c-86bf-afb409e98db4}"/>
  <p:tag name="KSO_WM_UNIT_TEXTBOXSTYLE_TYPE" val="3"/>
  <p:tag name="KSO_WM_UNIT_TEXT_FILL_FORE_SCHEMECOLOR_INDEX_BRIGHTNESS" val="0.25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2401</TotalTime>
  <Words>486</Words>
  <Application>Microsoft Office PowerPoint</Application>
  <PresentationFormat>宽屏</PresentationFormat>
  <Paragraphs>105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等线</vt:lpstr>
      <vt:lpstr>等线 Light</vt:lpstr>
      <vt:lpstr>方正兰亭中黑简体</vt:lpstr>
      <vt:lpstr>黑体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超 戴</dc:creator>
  <cp:lastModifiedBy>超 戴</cp:lastModifiedBy>
  <cp:revision>16</cp:revision>
  <dcterms:created xsi:type="dcterms:W3CDTF">2024-06-13T01:47:18Z</dcterms:created>
  <dcterms:modified xsi:type="dcterms:W3CDTF">2024-09-18T06:25:01Z</dcterms:modified>
</cp:coreProperties>
</file>