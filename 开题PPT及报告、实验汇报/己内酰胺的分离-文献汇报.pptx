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63" r:id="rId3"/>
    <p:sldId id="261" r:id="rId4"/>
    <p:sldId id="262" r:id="rId5"/>
    <p:sldId id="264" r:id="rId6"/>
    <p:sldId id="265" r:id="rId7"/>
    <p:sldId id="266" r:id="rId8"/>
    <p:sldId id="267" r:id="rId9"/>
    <p:sldId id="25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9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F03E30-6279-4746-B33B-0C9EFFF16877}" type="doc">
      <dgm:prSet loTypeId="urn:microsoft.com/office/officeart/2005/8/layout/process5" loCatId="process" qsTypeId="urn:microsoft.com/office/officeart/2005/8/quickstyle/simple3" qsCatId="simple" csTypeId="urn:microsoft.com/office/officeart/2005/8/colors/accent6_2" csCatId="accent6" phldr="1"/>
      <dgm:spPr/>
      <dgm:t>
        <a:bodyPr/>
        <a:lstStyle/>
        <a:p>
          <a:endParaRPr lang="zh-CN" altLang="en-US"/>
        </a:p>
      </dgm:t>
    </dgm:pt>
    <dgm:pt modelId="{38864ED0-D5C1-4718-AA3C-A474BCB7DE3E}">
      <dgm:prSet phldrT="[文本]" custT="1"/>
      <dgm:spPr/>
      <dgm:t>
        <a:bodyPr/>
        <a:lstStyle/>
        <a:p>
          <a:r>
            <a:rPr lang="zh-CN" altLang="en-US" sz="1400" dirty="0">
              <a:latin typeface="微软雅黑" panose="020B0503020204020204" pitchFamily="34" charset="-122"/>
              <a:ea typeface="微软雅黑" panose="020B0503020204020204" pitchFamily="34" charset="-122"/>
            </a:rPr>
            <a:t>从发酵产物中回收得到含</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氨基己酸的混合物</a:t>
          </a:r>
        </a:p>
      </dgm:t>
    </dgm:pt>
    <dgm:pt modelId="{4AC85F09-D652-412C-922F-533D7C6F65F0}" type="parTrans" cxnId="{A6ED6941-3607-430D-B8A4-B61EB21E8F2E}">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1508AFE-C3F9-424D-A53A-28BAE93F609F}" type="sibTrans" cxnId="{A6ED6941-3607-430D-B8A4-B61EB21E8F2E}">
      <dgm:prSet custT="1"/>
      <dgm:spPr/>
      <dgm:t>
        <a:bodyPr/>
        <a:lstStyle/>
        <a:p>
          <a:endParaRPr lang="zh-CN" altLang="en-US" sz="1400">
            <a:latin typeface="微软雅黑" panose="020B0503020204020204" pitchFamily="34" charset="-122"/>
            <a:ea typeface="微软雅黑" panose="020B0503020204020204" pitchFamily="34" charset="-122"/>
          </a:endParaRPr>
        </a:p>
      </dgm:t>
    </dgm:pt>
    <dgm:pt modelId="{D5B9DC95-63C6-4B17-A901-4A51F126D496}">
      <dgm:prSet phldrT="[文本]" custT="1"/>
      <dgm:spPr/>
      <dgm:t>
        <a:bodyPr/>
        <a:lstStyle/>
        <a:p>
          <a:r>
            <a:rPr lang="zh-CN" altLang="en-US" sz="1400" dirty="0">
              <a:latin typeface="微软雅黑" panose="020B0503020204020204" pitchFamily="34" charset="-122"/>
              <a:ea typeface="微软雅黑" panose="020B0503020204020204" pitchFamily="34" charset="-122"/>
            </a:rPr>
            <a:t>在过热蒸汽下使</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氨基己酸环化形成己内酰胺</a:t>
          </a:r>
        </a:p>
      </dgm:t>
    </dgm:pt>
    <dgm:pt modelId="{B08C670D-9C25-44F1-8C6E-A4754B6F01DE}" type="parTrans" cxnId="{6BF3AA94-E912-4DF6-8B0E-C32B6DE24C73}">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EE235025-FF09-431B-8897-4A34356242A4}" type="sibTrans" cxnId="{6BF3AA94-E912-4DF6-8B0E-C32B6DE24C73}">
      <dgm:prSet custT="1"/>
      <dgm:spPr/>
      <dgm:t>
        <a:bodyPr/>
        <a:lstStyle/>
        <a:p>
          <a:endParaRPr lang="zh-CN" altLang="en-US" sz="1400">
            <a:latin typeface="微软雅黑" panose="020B0503020204020204" pitchFamily="34" charset="-122"/>
            <a:ea typeface="微软雅黑" panose="020B0503020204020204" pitchFamily="34" charset="-122"/>
          </a:endParaRPr>
        </a:p>
      </dgm:t>
    </dgm:pt>
    <dgm:pt modelId="{8C36A423-2806-420D-874D-9423DB1A2ADF}">
      <dgm:prSet phldrT="[文本]" custT="1"/>
      <dgm:spPr/>
      <dgm:t>
        <a:bodyPr/>
        <a:lstStyle/>
        <a:p>
          <a:r>
            <a:rPr lang="zh-CN" altLang="en-US" sz="1400" dirty="0">
              <a:latin typeface="微软雅黑" panose="020B0503020204020204" pitchFamily="34" charset="-122"/>
              <a:ea typeface="微软雅黑" panose="020B0503020204020204" pitchFamily="34" charset="-122"/>
            </a:rPr>
            <a:t>产物经过</a:t>
          </a:r>
          <a:r>
            <a:rPr lang="zh-CN" altLang="en-US" sz="1400" dirty="0">
              <a:solidFill>
                <a:srgbClr val="C00000"/>
              </a:solidFill>
              <a:latin typeface="微软雅黑" panose="020B0503020204020204" pitchFamily="34" charset="-122"/>
              <a:ea typeface="微软雅黑" panose="020B0503020204020204" pitchFamily="34" charset="-122"/>
            </a:rPr>
            <a:t>蒸馏</a:t>
          </a:r>
          <a:r>
            <a:rPr lang="zh-CN" altLang="en-US" sz="1400" dirty="0">
              <a:latin typeface="微软雅黑" panose="020B0503020204020204" pitchFamily="34" charset="-122"/>
              <a:ea typeface="微软雅黑" panose="020B0503020204020204" pitchFamily="34" charset="-122"/>
            </a:rPr>
            <a:t>除去轻馏分和重馏分</a:t>
          </a:r>
        </a:p>
      </dgm:t>
    </dgm:pt>
    <dgm:pt modelId="{6AE3E53B-D9A1-41D2-9BAE-D8E0B4BA4525}" type="parTrans" cxnId="{7C4D9F24-843E-4846-8376-F3734EA58C02}">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2E26537-2CEA-41F0-AC8C-D9EFA1294BF1}" type="sibTrans" cxnId="{7C4D9F24-843E-4846-8376-F3734EA58C02}">
      <dgm:prSet custT="1"/>
      <dgm:spPr/>
      <dgm:t>
        <a:bodyPr/>
        <a:lstStyle/>
        <a:p>
          <a:endParaRPr lang="zh-CN" altLang="en-US" sz="1400">
            <a:latin typeface="微软雅黑" panose="020B0503020204020204" pitchFamily="34" charset="-122"/>
            <a:ea typeface="微软雅黑" panose="020B0503020204020204" pitchFamily="34" charset="-122"/>
          </a:endParaRPr>
        </a:p>
      </dgm:t>
    </dgm:pt>
    <dgm:pt modelId="{4B309C92-AF2C-40AF-95F1-9F4A0CC13771}">
      <dgm:prSet phldrT="[文本]" custT="1"/>
      <dgm:spPr/>
      <dgm:t>
        <a:bodyPr/>
        <a:lstStyle/>
        <a:p>
          <a:r>
            <a:rPr lang="zh-CN" altLang="en-US" sz="1400" dirty="0">
              <a:latin typeface="微软雅黑" panose="020B0503020204020204" pitchFamily="34" charset="-122"/>
              <a:ea typeface="微软雅黑" panose="020B0503020204020204" pitchFamily="34" charset="-122"/>
            </a:rPr>
            <a:t>得到的富含己内酰胺的馏分经过</a:t>
          </a:r>
          <a:r>
            <a:rPr lang="zh-CN" altLang="en-US" sz="1400" dirty="0">
              <a:solidFill>
                <a:srgbClr val="C00000"/>
              </a:solidFill>
              <a:latin typeface="微软雅黑" panose="020B0503020204020204" pitchFamily="34" charset="-122"/>
              <a:ea typeface="微软雅黑" panose="020B0503020204020204" pitchFamily="34" charset="-122"/>
            </a:rPr>
            <a:t>结晶</a:t>
          </a:r>
          <a:r>
            <a:rPr lang="zh-CN" altLang="en-US" sz="1400" dirty="0">
              <a:latin typeface="微软雅黑" panose="020B0503020204020204" pitchFamily="34" charset="-122"/>
              <a:ea typeface="微软雅黑" panose="020B0503020204020204" pitchFamily="34" charset="-122"/>
            </a:rPr>
            <a:t>得到己内酰胺晶体</a:t>
          </a:r>
        </a:p>
      </dgm:t>
    </dgm:pt>
    <dgm:pt modelId="{FFC908FB-58ED-410E-B8D5-56263BB8F967}" type="parTrans" cxnId="{459BAC7A-872E-431C-A4F4-3C6DA9B114AD}">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07D226F3-15CF-4E70-BC44-B7F4EFF57455}" type="sibTrans" cxnId="{459BAC7A-872E-431C-A4F4-3C6DA9B114AD}">
      <dgm:prSet custT="1"/>
      <dgm:spPr/>
      <dgm:t>
        <a:bodyPr/>
        <a:lstStyle/>
        <a:p>
          <a:endParaRPr lang="zh-CN" altLang="en-US" sz="1400">
            <a:latin typeface="微软雅黑" panose="020B0503020204020204" pitchFamily="34" charset="-122"/>
            <a:ea typeface="微软雅黑" panose="020B0503020204020204" pitchFamily="34" charset="-122"/>
          </a:endParaRPr>
        </a:p>
      </dgm:t>
    </dgm:pt>
    <dgm:pt modelId="{7AD3C68B-5790-4FF3-85E9-E0B4B0163632}">
      <dgm:prSet phldrT="[文本]" custT="1"/>
      <dgm:spPr/>
      <dgm:t>
        <a:bodyPr/>
        <a:lstStyle/>
        <a:p>
          <a:r>
            <a:rPr lang="zh-CN" altLang="en-US" sz="1400" dirty="0">
              <a:latin typeface="微软雅黑" panose="020B0503020204020204" pitchFamily="34" charset="-122"/>
              <a:ea typeface="微软雅黑" panose="020B0503020204020204" pitchFamily="34" charset="-122"/>
            </a:rPr>
            <a:t>通过</a:t>
          </a:r>
          <a:r>
            <a:rPr lang="zh-CN" altLang="en-US" sz="1400" dirty="0">
              <a:solidFill>
                <a:srgbClr val="C00000"/>
              </a:solidFill>
              <a:latin typeface="微软雅黑" panose="020B0503020204020204" pitchFamily="34" charset="-122"/>
              <a:ea typeface="微软雅黑" panose="020B0503020204020204" pitchFamily="34" charset="-122"/>
            </a:rPr>
            <a:t>熔融和闪蒸</a:t>
          </a:r>
          <a:r>
            <a:rPr lang="zh-CN" altLang="en-US" sz="1400" dirty="0">
              <a:latin typeface="微软雅黑" panose="020B0503020204020204" pitchFamily="34" charset="-122"/>
              <a:ea typeface="微软雅黑" panose="020B0503020204020204" pitchFamily="34" charset="-122"/>
            </a:rPr>
            <a:t>进一步纯化</a:t>
          </a:r>
        </a:p>
      </dgm:t>
    </dgm:pt>
    <dgm:pt modelId="{C0AEF98F-A489-4E7E-B971-94D9BB3D4767}" type="parTrans" cxnId="{B3FC7980-CB54-46F8-9831-BC1FD3BB2078}">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DFF2E74F-FF74-426B-8E36-795743392B78}" type="sibTrans" cxnId="{B3FC7980-CB54-46F8-9831-BC1FD3BB2078}">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74C847A-A76E-4C1F-886D-0CD582140622}" type="pres">
      <dgm:prSet presAssocID="{EFF03E30-6279-4746-B33B-0C9EFFF16877}" presName="diagram" presStyleCnt="0">
        <dgm:presLayoutVars>
          <dgm:dir/>
          <dgm:resizeHandles val="exact"/>
        </dgm:presLayoutVars>
      </dgm:prSet>
      <dgm:spPr/>
    </dgm:pt>
    <dgm:pt modelId="{9F3F9C1B-9DFD-4481-862B-57D924F9CC82}" type="pres">
      <dgm:prSet presAssocID="{38864ED0-D5C1-4718-AA3C-A474BCB7DE3E}" presName="node" presStyleLbl="node1" presStyleIdx="0" presStyleCnt="5">
        <dgm:presLayoutVars>
          <dgm:bulletEnabled val="1"/>
        </dgm:presLayoutVars>
      </dgm:prSet>
      <dgm:spPr/>
    </dgm:pt>
    <dgm:pt modelId="{2A4BF148-3168-4A17-9A0A-3048C61690D5}" type="pres">
      <dgm:prSet presAssocID="{71508AFE-C3F9-424D-A53A-28BAE93F609F}" presName="sibTrans" presStyleLbl="sibTrans2D1" presStyleIdx="0" presStyleCnt="4"/>
      <dgm:spPr/>
    </dgm:pt>
    <dgm:pt modelId="{6E64FCE1-92F4-477C-AC89-9271505CB5C6}" type="pres">
      <dgm:prSet presAssocID="{71508AFE-C3F9-424D-A53A-28BAE93F609F}" presName="connectorText" presStyleLbl="sibTrans2D1" presStyleIdx="0" presStyleCnt="4"/>
      <dgm:spPr/>
    </dgm:pt>
    <dgm:pt modelId="{E825B7CE-0583-453C-A0AE-E883F87B42F8}" type="pres">
      <dgm:prSet presAssocID="{D5B9DC95-63C6-4B17-A901-4A51F126D496}" presName="node" presStyleLbl="node1" presStyleIdx="1" presStyleCnt="5">
        <dgm:presLayoutVars>
          <dgm:bulletEnabled val="1"/>
        </dgm:presLayoutVars>
      </dgm:prSet>
      <dgm:spPr/>
    </dgm:pt>
    <dgm:pt modelId="{375A855B-B680-45AC-ACE0-E77743657819}" type="pres">
      <dgm:prSet presAssocID="{EE235025-FF09-431B-8897-4A34356242A4}" presName="sibTrans" presStyleLbl="sibTrans2D1" presStyleIdx="1" presStyleCnt="4"/>
      <dgm:spPr/>
    </dgm:pt>
    <dgm:pt modelId="{0C9DD402-1447-4A2F-B6D8-3B8EA84BCF22}" type="pres">
      <dgm:prSet presAssocID="{EE235025-FF09-431B-8897-4A34356242A4}" presName="connectorText" presStyleLbl="sibTrans2D1" presStyleIdx="1" presStyleCnt="4"/>
      <dgm:spPr/>
    </dgm:pt>
    <dgm:pt modelId="{1294A87D-116B-4BBC-96E9-AD1EB5BF7288}" type="pres">
      <dgm:prSet presAssocID="{8C36A423-2806-420D-874D-9423DB1A2ADF}" presName="node" presStyleLbl="node1" presStyleIdx="2" presStyleCnt="5">
        <dgm:presLayoutVars>
          <dgm:bulletEnabled val="1"/>
        </dgm:presLayoutVars>
      </dgm:prSet>
      <dgm:spPr/>
    </dgm:pt>
    <dgm:pt modelId="{4C9335E3-769F-4DE5-95BD-8603FB1298EC}" type="pres">
      <dgm:prSet presAssocID="{92E26537-2CEA-41F0-AC8C-D9EFA1294BF1}" presName="sibTrans" presStyleLbl="sibTrans2D1" presStyleIdx="2" presStyleCnt="4"/>
      <dgm:spPr/>
    </dgm:pt>
    <dgm:pt modelId="{D824AF2C-F0D1-42C1-878A-5497A53F6E55}" type="pres">
      <dgm:prSet presAssocID="{92E26537-2CEA-41F0-AC8C-D9EFA1294BF1}" presName="connectorText" presStyleLbl="sibTrans2D1" presStyleIdx="2" presStyleCnt="4"/>
      <dgm:spPr/>
    </dgm:pt>
    <dgm:pt modelId="{D4797897-AF29-4483-9D00-95F918D5A125}" type="pres">
      <dgm:prSet presAssocID="{4B309C92-AF2C-40AF-95F1-9F4A0CC13771}" presName="node" presStyleLbl="node1" presStyleIdx="3" presStyleCnt="5">
        <dgm:presLayoutVars>
          <dgm:bulletEnabled val="1"/>
        </dgm:presLayoutVars>
      </dgm:prSet>
      <dgm:spPr/>
    </dgm:pt>
    <dgm:pt modelId="{973A2F83-D7F0-4847-8A6A-226D98784251}" type="pres">
      <dgm:prSet presAssocID="{07D226F3-15CF-4E70-BC44-B7F4EFF57455}" presName="sibTrans" presStyleLbl="sibTrans2D1" presStyleIdx="3" presStyleCnt="4"/>
      <dgm:spPr/>
    </dgm:pt>
    <dgm:pt modelId="{AF91212C-944E-48F3-B3AE-A11787548272}" type="pres">
      <dgm:prSet presAssocID="{07D226F3-15CF-4E70-BC44-B7F4EFF57455}" presName="connectorText" presStyleLbl="sibTrans2D1" presStyleIdx="3" presStyleCnt="4"/>
      <dgm:spPr/>
    </dgm:pt>
    <dgm:pt modelId="{6A227874-0134-41B4-A897-49717F830FFB}" type="pres">
      <dgm:prSet presAssocID="{7AD3C68B-5790-4FF3-85E9-E0B4B0163632}" presName="node" presStyleLbl="node1" presStyleIdx="4" presStyleCnt="5">
        <dgm:presLayoutVars>
          <dgm:bulletEnabled val="1"/>
        </dgm:presLayoutVars>
      </dgm:prSet>
      <dgm:spPr/>
    </dgm:pt>
  </dgm:ptLst>
  <dgm:cxnLst>
    <dgm:cxn modelId="{58018500-8A94-4D20-846C-C20F014DD7C6}" type="presOf" srcId="{D5B9DC95-63C6-4B17-A901-4A51F126D496}" destId="{E825B7CE-0583-453C-A0AE-E883F87B42F8}" srcOrd="0" destOrd="0" presId="urn:microsoft.com/office/officeart/2005/8/layout/process5"/>
    <dgm:cxn modelId="{05593A0C-BD20-474C-95D2-D66D0540A9D7}" type="presOf" srcId="{92E26537-2CEA-41F0-AC8C-D9EFA1294BF1}" destId="{D824AF2C-F0D1-42C1-878A-5497A53F6E55}" srcOrd="1" destOrd="0" presId="urn:microsoft.com/office/officeart/2005/8/layout/process5"/>
    <dgm:cxn modelId="{FBDCC622-A4EC-4EFA-8F19-0AD3DCE66B30}" type="presOf" srcId="{07D226F3-15CF-4E70-BC44-B7F4EFF57455}" destId="{AF91212C-944E-48F3-B3AE-A11787548272}" srcOrd="1" destOrd="0" presId="urn:microsoft.com/office/officeart/2005/8/layout/process5"/>
    <dgm:cxn modelId="{7C4D9F24-843E-4846-8376-F3734EA58C02}" srcId="{EFF03E30-6279-4746-B33B-0C9EFFF16877}" destId="{8C36A423-2806-420D-874D-9423DB1A2ADF}" srcOrd="2" destOrd="0" parTransId="{6AE3E53B-D9A1-41D2-9BAE-D8E0B4BA4525}" sibTransId="{92E26537-2CEA-41F0-AC8C-D9EFA1294BF1}"/>
    <dgm:cxn modelId="{A6ED6941-3607-430D-B8A4-B61EB21E8F2E}" srcId="{EFF03E30-6279-4746-B33B-0C9EFFF16877}" destId="{38864ED0-D5C1-4718-AA3C-A474BCB7DE3E}" srcOrd="0" destOrd="0" parTransId="{4AC85F09-D652-412C-922F-533D7C6F65F0}" sibTransId="{71508AFE-C3F9-424D-A53A-28BAE93F609F}"/>
    <dgm:cxn modelId="{446FBD69-3BD2-4846-9007-975FFE419941}" type="presOf" srcId="{07D226F3-15CF-4E70-BC44-B7F4EFF57455}" destId="{973A2F83-D7F0-4847-8A6A-226D98784251}" srcOrd="0" destOrd="0" presId="urn:microsoft.com/office/officeart/2005/8/layout/process5"/>
    <dgm:cxn modelId="{459BAC7A-872E-431C-A4F4-3C6DA9B114AD}" srcId="{EFF03E30-6279-4746-B33B-0C9EFFF16877}" destId="{4B309C92-AF2C-40AF-95F1-9F4A0CC13771}" srcOrd="3" destOrd="0" parTransId="{FFC908FB-58ED-410E-B8D5-56263BB8F967}" sibTransId="{07D226F3-15CF-4E70-BC44-B7F4EFF57455}"/>
    <dgm:cxn modelId="{B3FC7980-CB54-46F8-9831-BC1FD3BB2078}" srcId="{EFF03E30-6279-4746-B33B-0C9EFFF16877}" destId="{7AD3C68B-5790-4FF3-85E9-E0B4B0163632}" srcOrd="4" destOrd="0" parTransId="{C0AEF98F-A489-4E7E-B971-94D9BB3D4767}" sibTransId="{DFF2E74F-FF74-426B-8E36-795743392B78}"/>
    <dgm:cxn modelId="{2847D68C-5B58-4885-8C80-340F7B783B1E}" type="presOf" srcId="{38864ED0-D5C1-4718-AA3C-A474BCB7DE3E}" destId="{9F3F9C1B-9DFD-4481-862B-57D924F9CC82}" srcOrd="0" destOrd="0" presId="urn:microsoft.com/office/officeart/2005/8/layout/process5"/>
    <dgm:cxn modelId="{80013B93-592D-431B-9767-D5A2563B3609}" type="presOf" srcId="{8C36A423-2806-420D-874D-9423DB1A2ADF}" destId="{1294A87D-116B-4BBC-96E9-AD1EB5BF7288}" srcOrd="0" destOrd="0" presId="urn:microsoft.com/office/officeart/2005/8/layout/process5"/>
    <dgm:cxn modelId="{6BF3AA94-E912-4DF6-8B0E-C32B6DE24C73}" srcId="{EFF03E30-6279-4746-B33B-0C9EFFF16877}" destId="{D5B9DC95-63C6-4B17-A901-4A51F126D496}" srcOrd="1" destOrd="0" parTransId="{B08C670D-9C25-44F1-8C6E-A4754B6F01DE}" sibTransId="{EE235025-FF09-431B-8897-4A34356242A4}"/>
    <dgm:cxn modelId="{AF5CFB96-3203-4EB3-A804-D9537B903C3A}" type="presOf" srcId="{EE235025-FF09-431B-8897-4A34356242A4}" destId="{375A855B-B680-45AC-ACE0-E77743657819}" srcOrd="0" destOrd="0" presId="urn:microsoft.com/office/officeart/2005/8/layout/process5"/>
    <dgm:cxn modelId="{ABC3409E-7E57-4B45-AC1D-DCE8E16B365E}" type="presOf" srcId="{71508AFE-C3F9-424D-A53A-28BAE93F609F}" destId="{6E64FCE1-92F4-477C-AC89-9271505CB5C6}" srcOrd="1" destOrd="0" presId="urn:microsoft.com/office/officeart/2005/8/layout/process5"/>
    <dgm:cxn modelId="{87287DB5-23C5-48DE-9DFB-D9298C4B9412}" type="presOf" srcId="{71508AFE-C3F9-424D-A53A-28BAE93F609F}" destId="{2A4BF148-3168-4A17-9A0A-3048C61690D5}" srcOrd="0" destOrd="0" presId="urn:microsoft.com/office/officeart/2005/8/layout/process5"/>
    <dgm:cxn modelId="{BEE91CB9-4124-4B61-8A15-C2BB6F9F3A3D}" type="presOf" srcId="{EE235025-FF09-431B-8897-4A34356242A4}" destId="{0C9DD402-1447-4A2F-B6D8-3B8EA84BCF22}" srcOrd="1" destOrd="0" presId="urn:microsoft.com/office/officeart/2005/8/layout/process5"/>
    <dgm:cxn modelId="{5B3DBBE7-1693-4D28-BD06-4410B574567D}" type="presOf" srcId="{92E26537-2CEA-41F0-AC8C-D9EFA1294BF1}" destId="{4C9335E3-769F-4DE5-95BD-8603FB1298EC}" srcOrd="0" destOrd="0" presId="urn:microsoft.com/office/officeart/2005/8/layout/process5"/>
    <dgm:cxn modelId="{6579B5EB-4D37-44EF-BF2E-22D518841E05}" type="presOf" srcId="{4B309C92-AF2C-40AF-95F1-9F4A0CC13771}" destId="{D4797897-AF29-4483-9D00-95F918D5A125}" srcOrd="0" destOrd="0" presId="urn:microsoft.com/office/officeart/2005/8/layout/process5"/>
    <dgm:cxn modelId="{A16E59F5-7A4B-4E89-8C62-B3EE46170750}" type="presOf" srcId="{7AD3C68B-5790-4FF3-85E9-E0B4B0163632}" destId="{6A227874-0134-41B4-A897-49717F830FFB}" srcOrd="0" destOrd="0" presId="urn:microsoft.com/office/officeart/2005/8/layout/process5"/>
    <dgm:cxn modelId="{A3867AF5-3DBC-415B-90DE-9ABF54036761}" type="presOf" srcId="{EFF03E30-6279-4746-B33B-0C9EFFF16877}" destId="{974C847A-A76E-4C1F-886D-0CD582140622}" srcOrd="0" destOrd="0" presId="urn:microsoft.com/office/officeart/2005/8/layout/process5"/>
    <dgm:cxn modelId="{20908EA0-30B4-46F8-8A4E-B3C65D81C0BC}" type="presParOf" srcId="{974C847A-A76E-4C1F-886D-0CD582140622}" destId="{9F3F9C1B-9DFD-4481-862B-57D924F9CC82}" srcOrd="0" destOrd="0" presId="urn:microsoft.com/office/officeart/2005/8/layout/process5"/>
    <dgm:cxn modelId="{1C68AD25-D21C-4C9C-9D58-97A1345429F3}" type="presParOf" srcId="{974C847A-A76E-4C1F-886D-0CD582140622}" destId="{2A4BF148-3168-4A17-9A0A-3048C61690D5}" srcOrd="1" destOrd="0" presId="urn:microsoft.com/office/officeart/2005/8/layout/process5"/>
    <dgm:cxn modelId="{3B50C6DE-159E-4194-B8BA-EF01250E3C78}" type="presParOf" srcId="{2A4BF148-3168-4A17-9A0A-3048C61690D5}" destId="{6E64FCE1-92F4-477C-AC89-9271505CB5C6}" srcOrd="0" destOrd="0" presId="urn:microsoft.com/office/officeart/2005/8/layout/process5"/>
    <dgm:cxn modelId="{7B247A46-0BCE-4AEA-ABB7-D735A2F2FEA6}" type="presParOf" srcId="{974C847A-A76E-4C1F-886D-0CD582140622}" destId="{E825B7CE-0583-453C-A0AE-E883F87B42F8}" srcOrd="2" destOrd="0" presId="urn:microsoft.com/office/officeart/2005/8/layout/process5"/>
    <dgm:cxn modelId="{EE7723B9-820B-471A-B806-0AD19A16AA67}" type="presParOf" srcId="{974C847A-A76E-4C1F-886D-0CD582140622}" destId="{375A855B-B680-45AC-ACE0-E77743657819}" srcOrd="3" destOrd="0" presId="urn:microsoft.com/office/officeart/2005/8/layout/process5"/>
    <dgm:cxn modelId="{78998258-599B-4FAE-B13A-78995F9343FC}" type="presParOf" srcId="{375A855B-B680-45AC-ACE0-E77743657819}" destId="{0C9DD402-1447-4A2F-B6D8-3B8EA84BCF22}" srcOrd="0" destOrd="0" presId="urn:microsoft.com/office/officeart/2005/8/layout/process5"/>
    <dgm:cxn modelId="{143AC9EA-2A33-4E8E-A5A8-A8C166BD54D6}" type="presParOf" srcId="{974C847A-A76E-4C1F-886D-0CD582140622}" destId="{1294A87D-116B-4BBC-96E9-AD1EB5BF7288}" srcOrd="4" destOrd="0" presId="urn:microsoft.com/office/officeart/2005/8/layout/process5"/>
    <dgm:cxn modelId="{CF5B158D-9B66-4FF5-A457-BFD78CD59F25}" type="presParOf" srcId="{974C847A-A76E-4C1F-886D-0CD582140622}" destId="{4C9335E3-769F-4DE5-95BD-8603FB1298EC}" srcOrd="5" destOrd="0" presId="urn:microsoft.com/office/officeart/2005/8/layout/process5"/>
    <dgm:cxn modelId="{F09CD8A3-3523-4697-8FA2-57B6C04E0B82}" type="presParOf" srcId="{4C9335E3-769F-4DE5-95BD-8603FB1298EC}" destId="{D824AF2C-F0D1-42C1-878A-5497A53F6E55}" srcOrd="0" destOrd="0" presId="urn:microsoft.com/office/officeart/2005/8/layout/process5"/>
    <dgm:cxn modelId="{2AAE789B-FCD1-4D96-B067-34D7C083D10D}" type="presParOf" srcId="{974C847A-A76E-4C1F-886D-0CD582140622}" destId="{D4797897-AF29-4483-9D00-95F918D5A125}" srcOrd="6" destOrd="0" presId="urn:microsoft.com/office/officeart/2005/8/layout/process5"/>
    <dgm:cxn modelId="{B50D5813-7751-41AB-9F74-EE0AA374FC12}" type="presParOf" srcId="{974C847A-A76E-4C1F-886D-0CD582140622}" destId="{973A2F83-D7F0-4847-8A6A-226D98784251}" srcOrd="7" destOrd="0" presId="urn:microsoft.com/office/officeart/2005/8/layout/process5"/>
    <dgm:cxn modelId="{CFC16678-EBFC-4427-8A40-B9DDA7135135}" type="presParOf" srcId="{973A2F83-D7F0-4847-8A6A-226D98784251}" destId="{AF91212C-944E-48F3-B3AE-A11787548272}" srcOrd="0" destOrd="0" presId="urn:microsoft.com/office/officeart/2005/8/layout/process5"/>
    <dgm:cxn modelId="{C7CBFF85-A908-4146-843A-3D62BE2C5E97}" type="presParOf" srcId="{974C847A-A76E-4C1F-886D-0CD582140622}" destId="{6A227874-0134-41B4-A897-49717F830FFB}" srcOrd="8" destOrd="0" presId="urn:microsoft.com/office/officeart/2005/8/layout/process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3F9C1B-9DFD-4481-862B-57D924F9CC82}">
      <dsp:nvSpPr>
        <dsp:cNvPr id="0" name=""/>
        <dsp:cNvSpPr/>
      </dsp:nvSpPr>
      <dsp:spPr>
        <a:xfrm>
          <a:off x="284018" y="505"/>
          <a:ext cx="1680739" cy="100844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从发酵产物中回收得到含</a:t>
          </a:r>
          <a:r>
            <a:rPr lang="en-US" altLang="zh-CN" sz="1400" kern="1200" dirty="0">
              <a:latin typeface="微软雅黑" panose="020B0503020204020204" pitchFamily="34" charset="-122"/>
              <a:ea typeface="微软雅黑" panose="020B0503020204020204" pitchFamily="34" charset="-122"/>
            </a:rPr>
            <a:t>6-</a:t>
          </a:r>
          <a:r>
            <a:rPr lang="zh-CN" altLang="en-US" sz="1400" kern="1200" dirty="0">
              <a:latin typeface="微软雅黑" panose="020B0503020204020204" pitchFamily="34" charset="-122"/>
              <a:ea typeface="微软雅黑" panose="020B0503020204020204" pitchFamily="34" charset="-122"/>
            </a:rPr>
            <a:t>氨基己酸的混合物</a:t>
          </a:r>
        </a:p>
      </dsp:txBody>
      <dsp:txXfrm>
        <a:off x="313554" y="30041"/>
        <a:ext cx="1621667" cy="949371"/>
      </dsp:txXfrm>
    </dsp:sp>
    <dsp:sp modelId="{2A4BF148-3168-4A17-9A0A-3048C61690D5}">
      <dsp:nvSpPr>
        <dsp:cNvPr id="0" name=""/>
        <dsp:cNvSpPr/>
      </dsp:nvSpPr>
      <dsp:spPr>
        <a:xfrm>
          <a:off x="2112662" y="296315"/>
          <a:ext cx="356316" cy="416823"/>
        </a:xfrm>
        <a:prstGeom prst="rightArrow">
          <a:avLst>
            <a:gd name="adj1" fmla="val 60000"/>
            <a:gd name="adj2" fmla="val 50000"/>
          </a:avLst>
        </a:prstGeom>
        <a:gradFill rotWithShape="0">
          <a:gsLst>
            <a:gs pos="0">
              <a:schemeClr val="accent6">
                <a:tint val="60000"/>
                <a:hueOff val="0"/>
                <a:satOff val="0"/>
                <a:lumOff val="0"/>
                <a:alphaOff val="0"/>
                <a:lumMod val="110000"/>
                <a:satMod val="105000"/>
                <a:tint val="67000"/>
              </a:schemeClr>
            </a:gs>
            <a:gs pos="50000">
              <a:schemeClr val="accent6">
                <a:tint val="60000"/>
                <a:hueOff val="0"/>
                <a:satOff val="0"/>
                <a:lumOff val="0"/>
                <a:alphaOff val="0"/>
                <a:lumMod val="105000"/>
                <a:satMod val="103000"/>
                <a:tint val="73000"/>
              </a:schemeClr>
            </a:gs>
            <a:gs pos="100000">
              <a:schemeClr val="accent6">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latin typeface="微软雅黑" panose="020B0503020204020204" pitchFamily="34" charset="-122"/>
            <a:ea typeface="微软雅黑" panose="020B0503020204020204" pitchFamily="34" charset="-122"/>
          </a:endParaRPr>
        </a:p>
      </dsp:txBody>
      <dsp:txXfrm>
        <a:off x="2112662" y="379680"/>
        <a:ext cx="249421" cy="250093"/>
      </dsp:txXfrm>
    </dsp:sp>
    <dsp:sp modelId="{E825B7CE-0583-453C-A0AE-E883F87B42F8}">
      <dsp:nvSpPr>
        <dsp:cNvPr id="0" name=""/>
        <dsp:cNvSpPr/>
      </dsp:nvSpPr>
      <dsp:spPr>
        <a:xfrm>
          <a:off x="2637053" y="505"/>
          <a:ext cx="1680739" cy="100844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在过热蒸汽下使</a:t>
          </a:r>
          <a:r>
            <a:rPr lang="en-US" altLang="zh-CN" sz="1400" kern="1200" dirty="0">
              <a:latin typeface="微软雅黑" panose="020B0503020204020204" pitchFamily="34" charset="-122"/>
              <a:ea typeface="微软雅黑" panose="020B0503020204020204" pitchFamily="34" charset="-122"/>
            </a:rPr>
            <a:t>6-</a:t>
          </a:r>
          <a:r>
            <a:rPr lang="zh-CN" altLang="en-US" sz="1400" kern="1200" dirty="0">
              <a:latin typeface="微软雅黑" panose="020B0503020204020204" pitchFamily="34" charset="-122"/>
              <a:ea typeface="微软雅黑" panose="020B0503020204020204" pitchFamily="34" charset="-122"/>
            </a:rPr>
            <a:t>氨基己酸环化形成己内酰胺</a:t>
          </a:r>
        </a:p>
      </dsp:txBody>
      <dsp:txXfrm>
        <a:off x="2666589" y="30041"/>
        <a:ext cx="1621667" cy="949371"/>
      </dsp:txXfrm>
    </dsp:sp>
    <dsp:sp modelId="{375A855B-B680-45AC-ACE0-E77743657819}">
      <dsp:nvSpPr>
        <dsp:cNvPr id="0" name=""/>
        <dsp:cNvSpPr/>
      </dsp:nvSpPr>
      <dsp:spPr>
        <a:xfrm rot="5400000">
          <a:off x="3299264" y="1126600"/>
          <a:ext cx="356316" cy="416823"/>
        </a:xfrm>
        <a:prstGeom prst="rightArrow">
          <a:avLst>
            <a:gd name="adj1" fmla="val 60000"/>
            <a:gd name="adj2" fmla="val 50000"/>
          </a:avLst>
        </a:prstGeom>
        <a:gradFill rotWithShape="0">
          <a:gsLst>
            <a:gs pos="0">
              <a:schemeClr val="accent6">
                <a:tint val="60000"/>
                <a:hueOff val="0"/>
                <a:satOff val="0"/>
                <a:lumOff val="0"/>
                <a:alphaOff val="0"/>
                <a:lumMod val="110000"/>
                <a:satMod val="105000"/>
                <a:tint val="67000"/>
              </a:schemeClr>
            </a:gs>
            <a:gs pos="50000">
              <a:schemeClr val="accent6">
                <a:tint val="60000"/>
                <a:hueOff val="0"/>
                <a:satOff val="0"/>
                <a:lumOff val="0"/>
                <a:alphaOff val="0"/>
                <a:lumMod val="105000"/>
                <a:satMod val="103000"/>
                <a:tint val="73000"/>
              </a:schemeClr>
            </a:gs>
            <a:gs pos="100000">
              <a:schemeClr val="accent6">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latin typeface="微软雅黑" panose="020B0503020204020204" pitchFamily="34" charset="-122"/>
            <a:ea typeface="微软雅黑" panose="020B0503020204020204" pitchFamily="34" charset="-122"/>
          </a:endParaRPr>
        </a:p>
      </dsp:txBody>
      <dsp:txXfrm rot="-5400000">
        <a:off x="3352376" y="1156854"/>
        <a:ext cx="250093" cy="249421"/>
      </dsp:txXfrm>
    </dsp:sp>
    <dsp:sp modelId="{1294A87D-116B-4BBC-96E9-AD1EB5BF7288}">
      <dsp:nvSpPr>
        <dsp:cNvPr id="0" name=""/>
        <dsp:cNvSpPr/>
      </dsp:nvSpPr>
      <dsp:spPr>
        <a:xfrm>
          <a:off x="2637053" y="1681244"/>
          <a:ext cx="1680739" cy="100844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产物经过</a:t>
          </a:r>
          <a:r>
            <a:rPr lang="zh-CN" altLang="en-US" sz="1400" kern="1200" dirty="0">
              <a:solidFill>
                <a:srgbClr val="C00000"/>
              </a:solidFill>
              <a:latin typeface="微软雅黑" panose="020B0503020204020204" pitchFamily="34" charset="-122"/>
              <a:ea typeface="微软雅黑" panose="020B0503020204020204" pitchFamily="34" charset="-122"/>
            </a:rPr>
            <a:t>蒸馏</a:t>
          </a:r>
          <a:r>
            <a:rPr lang="zh-CN" altLang="en-US" sz="1400" kern="1200" dirty="0">
              <a:latin typeface="微软雅黑" panose="020B0503020204020204" pitchFamily="34" charset="-122"/>
              <a:ea typeface="微软雅黑" panose="020B0503020204020204" pitchFamily="34" charset="-122"/>
            </a:rPr>
            <a:t>除去轻馏分和重馏分</a:t>
          </a:r>
        </a:p>
      </dsp:txBody>
      <dsp:txXfrm>
        <a:off x="2666589" y="1710780"/>
        <a:ext cx="1621667" cy="949371"/>
      </dsp:txXfrm>
    </dsp:sp>
    <dsp:sp modelId="{4C9335E3-769F-4DE5-95BD-8603FB1298EC}">
      <dsp:nvSpPr>
        <dsp:cNvPr id="0" name=""/>
        <dsp:cNvSpPr/>
      </dsp:nvSpPr>
      <dsp:spPr>
        <a:xfrm rot="10800000">
          <a:off x="2132831" y="1977054"/>
          <a:ext cx="356316" cy="416823"/>
        </a:xfrm>
        <a:prstGeom prst="rightArrow">
          <a:avLst>
            <a:gd name="adj1" fmla="val 60000"/>
            <a:gd name="adj2" fmla="val 50000"/>
          </a:avLst>
        </a:prstGeom>
        <a:gradFill rotWithShape="0">
          <a:gsLst>
            <a:gs pos="0">
              <a:schemeClr val="accent6">
                <a:tint val="60000"/>
                <a:hueOff val="0"/>
                <a:satOff val="0"/>
                <a:lumOff val="0"/>
                <a:alphaOff val="0"/>
                <a:lumMod val="110000"/>
                <a:satMod val="105000"/>
                <a:tint val="67000"/>
              </a:schemeClr>
            </a:gs>
            <a:gs pos="50000">
              <a:schemeClr val="accent6">
                <a:tint val="60000"/>
                <a:hueOff val="0"/>
                <a:satOff val="0"/>
                <a:lumOff val="0"/>
                <a:alphaOff val="0"/>
                <a:lumMod val="105000"/>
                <a:satMod val="103000"/>
                <a:tint val="73000"/>
              </a:schemeClr>
            </a:gs>
            <a:gs pos="100000">
              <a:schemeClr val="accent6">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latin typeface="微软雅黑" panose="020B0503020204020204" pitchFamily="34" charset="-122"/>
            <a:ea typeface="微软雅黑" panose="020B0503020204020204" pitchFamily="34" charset="-122"/>
          </a:endParaRPr>
        </a:p>
      </dsp:txBody>
      <dsp:txXfrm rot="10800000">
        <a:off x="2239726" y="2060419"/>
        <a:ext cx="249421" cy="250093"/>
      </dsp:txXfrm>
    </dsp:sp>
    <dsp:sp modelId="{D4797897-AF29-4483-9D00-95F918D5A125}">
      <dsp:nvSpPr>
        <dsp:cNvPr id="0" name=""/>
        <dsp:cNvSpPr/>
      </dsp:nvSpPr>
      <dsp:spPr>
        <a:xfrm>
          <a:off x="284018" y="1681244"/>
          <a:ext cx="1680739" cy="100844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得到的富含己内酰胺的馏分经过</a:t>
          </a:r>
          <a:r>
            <a:rPr lang="zh-CN" altLang="en-US" sz="1400" kern="1200" dirty="0">
              <a:solidFill>
                <a:srgbClr val="C00000"/>
              </a:solidFill>
              <a:latin typeface="微软雅黑" panose="020B0503020204020204" pitchFamily="34" charset="-122"/>
              <a:ea typeface="微软雅黑" panose="020B0503020204020204" pitchFamily="34" charset="-122"/>
            </a:rPr>
            <a:t>结晶</a:t>
          </a:r>
          <a:r>
            <a:rPr lang="zh-CN" altLang="en-US" sz="1400" kern="1200" dirty="0">
              <a:latin typeface="微软雅黑" panose="020B0503020204020204" pitchFamily="34" charset="-122"/>
              <a:ea typeface="微软雅黑" panose="020B0503020204020204" pitchFamily="34" charset="-122"/>
            </a:rPr>
            <a:t>得到己内酰胺晶体</a:t>
          </a:r>
        </a:p>
      </dsp:txBody>
      <dsp:txXfrm>
        <a:off x="313554" y="1710780"/>
        <a:ext cx="1621667" cy="949371"/>
      </dsp:txXfrm>
    </dsp:sp>
    <dsp:sp modelId="{973A2F83-D7F0-4847-8A6A-226D98784251}">
      <dsp:nvSpPr>
        <dsp:cNvPr id="0" name=""/>
        <dsp:cNvSpPr/>
      </dsp:nvSpPr>
      <dsp:spPr>
        <a:xfrm rot="5400000">
          <a:off x="946229" y="2807340"/>
          <a:ext cx="356316" cy="416823"/>
        </a:xfrm>
        <a:prstGeom prst="rightArrow">
          <a:avLst>
            <a:gd name="adj1" fmla="val 60000"/>
            <a:gd name="adj2" fmla="val 50000"/>
          </a:avLst>
        </a:prstGeom>
        <a:gradFill rotWithShape="0">
          <a:gsLst>
            <a:gs pos="0">
              <a:schemeClr val="accent6">
                <a:tint val="60000"/>
                <a:hueOff val="0"/>
                <a:satOff val="0"/>
                <a:lumOff val="0"/>
                <a:alphaOff val="0"/>
                <a:lumMod val="110000"/>
                <a:satMod val="105000"/>
                <a:tint val="67000"/>
              </a:schemeClr>
            </a:gs>
            <a:gs pos="50000">
              <a:schemeClr val="accent6">
                <a:tint val="60000"/>
                <a:hueOff val="0"/>
                <a:satOff val="0"/>
                <a:lumOff val="0"/>
                <a:alphaOff val="0"/>
                <a:lumMod val="105000"/>
                <a:satMod val="103000"/>
                <a:tint val="73000"/>
              </a:schemeClr>
            </a:gs>
            <a:gs pos="100000">
              <a:schemeClr val="accent6">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latin typeface="微软雅黑" panose="020B0503020204020204" pitchFamily="34" charset="-122"/>
            <a:ea typeface="微软雅黑" panose="020B0503020204020204" pitchFamily="34" charset="-122"/>
          </a:endParaRPr>
        </a:p>
      </dsp:txBody>
      <dsp:txXfrm rot="-5400000">
        <a:off x="999341" y="2837594"/>
        <a:ext cx="250093" cy="249421"/>
      </dsp:txXfrm>
    </dsp:sp>
    <dsp:sp modelId="{6A227874-0134-41B4-A897-49717F830FFB}">
      <dsp:nvSpPr>
        <dsp:cNvPr id="0" name=""/>
        <dsp:cNvSpPr/>
      </dsp:nvSpPr>
      <dsp:spPr>
        <a:xfrm>
          <a:off x="284018" y="3361984"/>
          <a:ext cx="1680739" cy="1008443"/>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通过</a:t>
          </a:r>
          <a:r>
            <a:rPr lang="zh-CN" altLang="en-US" sz="1400" kern="1200" dirty="0">
              <a:solidFill>
                <a:srgbClr val="C00000"/>
              </a:solidFill>
              <a:latin typeface="微软雅黑" panose="020B0503020204020204" pitchFamily="34" charset="-122"/>
              <a:ea typeface="微软雅黑" panose="020B0503020204020204" pitchFamily="34" charset="-122"/>
            </a:rPr>
            <a:t>熔融和闪蒸</a:t>
          </a:r>
          <a:r>
            <a:rPr lang="zh-CN" altLang="en-US" sz="1400" kern="1200" dirty="0">
              <a:latin typeface="微软雅黑" panose="020B0503020204020204" pitchFamily="34" charset="-122"/>
              <a:ea typeface="微软雅黑" panose="020B0503020204020204" pitchFamily="34" charset="-122"/>
            </a:rPr>
            <a:t>进一步纯化</a:t>
          </a:r>
        </a:p>
      </dsp:txBody>
      <dsp:txXfrm>
        <a:off x="313554" y="3391520"/>
        <a:ext cx="1621667" cy="94937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E3A43-2622-47DF-9DE7-85F1807DAACB}" type="datetimeFigureOut">
              <a:rPr lang="zh-CN" altLang="en-US" smtClean="0"/>
              <a:t>2024/6/15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85B28-191E-4BE7-B0AE-5FA5D3DC974A}" type="slidenum">
              <a:rPr lang="zh-CN" altLang="en-US" smtClean="0"/>
              <a:t>‹#›</a:t>
            </a:fld>
            <a:endParaRPr lang="zh-CN" altLang="en-US"/>
          </a:p>
        </p:txBody>
      </p:sp>
    </p:spTree>
    <p:extLst>
      <p:ext uri="{BB962C8B-B14F-4D97-AF65-F5344CB8AC3E}">
        <p14:creationId xmlns:p14="http://schemas.microsoft.com/office/powerpoint/2010/main" val="1351571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a:t>
            </a:fld>
            <a:endParaRPr lang="zh-CN" altLang="en-US"/>
          </a:p>
        </p:txBody>
      </p:sp>
    </p:spTree>
    <p:extLst>
      <p:ext uri="{BB962C8B-B14F-4D97-AF65-F5344CB8AC3E}">
        <p14:creationId xmlns:p14="http://schemas.microsoft.com/office/powerpoint/2010/main" val="790992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a:t>
            </a:fld>
            <a:endParaRPr lang="zh-CN" altLang="en-US"/>
          </a:p>
        </p:txBody>
      </p:sp>
    </p:spTree>
    <p:extLst>
      <p:ext uri="{BB962C8B-B14F-4D97-AF65-F5344CB8AC3E}">
        <p14:creationId xmlns:p14="http://schemas.microsoft.com/office/powerpoint/2010/main" val="95006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3</a:t>
            </a:fld>
            <a:endParaRPr lang="zh-CN" altLang="en-US"/>
          </a:p>
        </p:txBody>
      </p:sp>
    </p:spTree>
    <p:extLst>
      <p:ext uri="{BB962C8B-B14F-4D97-AF65-F5344CB8AC3E}">
        <p14:creationId xmlns:p14="http://schemas.microsoft.com/office/powerpoint/2010/main" val="1927936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4</a:t>
            </a:fld>
            <a:endParaRPr lang="zh-CN" altLang="en-US"/>
          </a:p>
        </p:txBody>
      </p:sp>
    </p:spTree>
    <p:extLst>
      <p:ext uri="{BB962C8B-B14F-4D97-AF65-F5344CB8AC3E}">
        <p14:creationId xmlns:p14="http://schemas.microsoft.com/office/powerpoint/2010/main" val="298844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5</a:t>
            </a:fld>
            <a:endParaRPr lang="zh-CN" altLang="en-US"/>
          </a:p>
        </p:txBody>
      </p:sp>
    </p:spTree>
    <p:extLst>
      <p:ext uri="{BB962C8B-B14F-4D97-AF65-F5344CB8AC3E}">
        <p14:creationId xmlns:p14="http://schemas.microsoft.com/office/powerpoint/2010/main" val="4236340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6</a:t>
            </a:fld>
            <a:endParaRPr lang="zh-CN" altLang="en-US"/>
          </a:p>
        </p:txBody>
      </p:sp>
    </p:spTree>
    <p:extLst>
      <p:ext uri="{BB962C8B-B14F-4D97-AF65-F5344CB8AC3E}">
        <p14:creationId xmlns:p14="http://schemas.microsoft.com/office/powerpoint/2010/main" val="2549274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7</a:t>
            </a:fld>
            <a:endParaRPr lang="zh-CN" altLang="en-US"/>
          </a:p>
        </p:txBody>
      </p:sp>
    </p:spTree>
    <p:extLst>
      <p:ext uri="{BB962C8B-B14F-4D97-AF65-F5344CB8AC3E}">
        <p14:creationId xmlns:p14="http://schemas.microsoft.com/office/powerpoint/2010/main" val="1628611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8</a:t>
            </a:fld>
            <a:endParaRPr lang="zh-CN" altLang="en-US"/>
          </a:p>
        </p:txBody>
      </p:sp>
    </p:spTree>
    <p:extLst>
      <p:ext uri="{BB962C8B-B14F-4D97-AF65-F5344CB8AC3E}">
        <p14:creationId xmlns:p14="http://schemas.microsoft.com/office/powerpoint/2010/main" val="1913153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BF89C0-C321-BBDB-8DFE-7E745C298D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F3ED8B9-DBD8-E254-99B2-9969E98C43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E1FE552-4F35-007D-2E19-6586802E1604}"/>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5" name="页脚占位符 4">
            <a:extLst>
              <a:ext uri="{FF2B5EF4-FFF2-40B4-BE49-F238E27FC236}">
                <a16:creationId xmlns:a16="http://schemas.microsoft.com/office/drawing/2014/main" id="{85EFC17D-795F-0C8A-B3FA-F86CB583C4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2202B8-84C9-0A99-A889-F85BCA06F11C}"/>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2002800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CD128-3A0E-A9F8-626F-67340B2695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5B16DA0-F248-127D-B5E4-619C1A023E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5AF1A7-292A-9F42-D38C-518FF68639D6}"/>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5" name="页脚占位符 4">
            <a:extLst>
              <a:ext uri="{FF2B5EF4-FFF2-40B4-BE49-F238E27FC236}">
                <a16:creationId xmlns:a16="http://schemas.microsoft.com/office/drawing/2014/main" id="{E7E64B1D-4B7D-5B3C-57E5-59B76F4337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E70640-360C-2E04-4FDE-A3371B9DDC6F}"/>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1701164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C83A2B-F32A-9266-BB9E-32E89718460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A93ABF6-6CAD-3E30-CFA0-690C202F99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F3DC628-1BB1-ADC3-BF7C-521DBB28CD8C}"/>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5" name="页脚占位符 4">
            <a:extLst>
              <a:ext uri="{FF2B5EF4-FFF2-40B4-BE49-F238E27FC236}">
                <a16:creationId xmlns:a16="http://schemas.microsoft.com/office/drawing/2014/main" id="{600694D2-C24B-8FC2-DC63-D3F4A907A1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5635D2-4D15-0074-23F4-F46E60A1FACC}"/>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2090847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7C27C-982A-2FB1-3CC2-C272C7A57C4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7A1C4A-5A79-1900-FB84-1B00F6508CA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D5B0A6D-C1B9-869C-9D44-FBC4F3CB1DF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D1D96FA-2D99-F728-7F5F-0655D3CF2BF0}"/>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6" name="页脚占位符 5">
            <a:extLst>
              <a:ext uri="{FF2B5EF4-FFF2-40B4-BE49-F238E27FC236}">
                <a16:creationId xmlns:a16="http://schemas.microsoft.com/office/drawing/2014/main" id="{6E72D0AB-1EE0-93D7-BBB8-39E8AABB8FF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1D97F91-00A1-A66C-2553-67FE4A05554B}"/>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141277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FB37A-D9C4-DF73-8736-F5AEA629050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68CBB90-F0F4-4569-E020-35096F3988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B4DA9E-9730-F16E-A319-3A2672C35C1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C544B91-94FC-F4E9-D486-F3FA01125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3423434-6C57-CDA5-7370-24987DE1E6B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705E1F2-2F3B-2050-9310-0579D655532F}"/>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8" name="页脚占位符 7">
            <a:extLst>
              <a:ext uri="{FF2B5EF4-FFF2-40B4-BE49-F238E27FC236}">
                <a16:creationId xmlns:a16="http://schemas.microsoft.com/office/drawing/2014/main" id="{47105A99-FC8C-36F1-EF29-1F466BE9ADE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316790B-4F42-6157-AFDE-63CDD2F3323E}"/>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1986964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D3B03-AD95-129C-35F9-54BF3F9940C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FD12DFE-1F5C-636A-1F9D-A8487DEEAA96}"/>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4" name="页脚占位符 3">
            <a:extLst>
              <a:ext uri="{FF2B5EF4-FFF2-40B4-BE49-F238E27FC236}">
                <a16:creationId xmlns:a16="http://schemas.microsoft.com/office/drawing/2014/main" id="{0ED64563-040A-64AB-C188-BA558E977F1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2C8B658-38A4-5AD5-8BD5-B04D275F5BCF}"/>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4024466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20DDECD-9A03-2B7A-32E1-F50546A0CAC5}"/>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3" name="页脚占位符 2">
            <a:extLst>
              <a:ext uri="{FF2B5EF4-FFF2-40B4-BE49-F238E27FC236}">
                <a16:creationId xmlns:a16="http://schemas.microsoft.com/office/drawing/2014/main" id="{5F274D60-C6BF-1C04-D8CC-CAB6E03C00D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E59F9C6-D267-BD93-74B2-E2325E3A5D48}"/>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63483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A490B-6509-F87D-A8E7-6E72F1E5EA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09D3D65-C822-CDD9-F55E-39092F6E2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510C9A3-A130-9235-F8D7-74F71BB067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F0F2795-B6BD-2040-E7EC-668EA8D90BC8}"/>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6" name="页脚占位符 5">
            <a:extLst>
              <a:ext uri="{FF2B5EF4-FFF2-40B4-BE49-F238E27FC236}">
                <a16:creationId xmlns:a16="http://schemas.microsoft.com/office/drawing/2014/main" id="{908F2B79-DB27-EA01-E1D9-0544EE9A07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655EAD-4F79-A44B-303F-B7D57AFC20BB}"/>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217804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DB42AE-CB15-7B91-A410-99341FA1AD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F8C6AD9-AE81-2A71-53B1-7099E2F931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7ABA715-397B-D405-8B63-C96F1D9FE6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6844B08-A81C-06B9-621C-91ACD3ED1795}"/>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6" name="页脚占位符 5">
            <a:extLst>
              <a:ext uri="{FF2B5EF4-FFF2-40B4-BE49-F238E27FC236}">
                <a16:creationId xmlns:a16="http://schemas.microsoft.com/office/drawing/2014/main" id="{E9CAA7CE-A643-45FD-514E-EE242AFBF0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34E4A4D-E2F2-FFCA-D8FD-29CAE15AECDF}"/>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3773380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4AFBF9-0F57-BF0C-BF9F-07F4FBE1970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1FC4A71-F33C-500C-A150-F89BC81447F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68228-F97C-40CE-564E-03EB7E86CEDA}"/>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5" name="页脚占位符 4">
            <a:extLst>
              <a:ext uri="{FF2B5EF4-FFF2-40B4-BE49-F238E27FC236}">
                <a16:creationId xmlns:a16="http://schemas.microsoft.com/office/drawing/2014/main" id="{BC5CAE4D-7E2D-A7A3-684E-2EE106652D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59BC9A-1A46-46C2-4F77-93F8F698C90D}"/>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96454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0F663A9-592E-0B2E-07D5-CF659C4752A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3615761-D28A-C38F-E7E6-72D7E667D65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2084EE-0365-AC40-9383-CA275D565773}"/>
              </a:ext>
            </a:extLst>
          </p:cNvPr>
          <p:cNvSpPr>
            <a:spLocks noGrp="1"/>
          </p:cNvSpPr>
          <p:nvPr>
            <p:ph type="dt" sz="half" idx="10"/>
          </p:nvPr>
        </p:nvSpPr>
        <p:spPr/>
        <p:txBody>
          <a:bodyPr/>
          <a:lstStyle/>
          <a:p>
            <a:fld id="{FE44F746-7CAE-4E15-836F-92DA94518894}" type="datetimeFigureOut">
              <a:rPr lang="zh-CN" altLang="en-US" smtClean="0"/>
              <a:t>2024/6/15</a:t>
            </a:fld>
            <a:endParaRPr lang="zh-CN" altLang="en-US"/>
          </a:p>
        </p:txBody>
      </p:sp>
      <p:sp>
        <p:nvSpPr>
          <p:cNvPr id="5" name="页脚占位符 4">
            <a:extLst>
              <a:ext uri="{FF2B5EF4-FFF2-40B4-BE49-F238E27FC236}">
                <a16:creationId xmlns:a16="http://schemas.microsoft.com/office/drawing/2014/main" id="{FF1DFEB0-4AC5-D7F9-EAA7-FC4441994F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2FA63E-DC4C-CEE7-A805-B11E835E846E}"/>
              </a:ext>
            </a:extLst>
          </p:cNvPr>
          <p:cNvSpPr>
            <a:spLocks noGrp="1"/>
          </p:cNvSpPr>
          <p:nvPr>
            <p:ph type="sldNum" sz="quarter" idx="12"/>
          </p:nvPr>
        </p:nvSpPr>
        <p:spPr/>
        <p:txBody>
          <a:body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200478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4" name="图片 3" descr="C2 多媒体办公系统01-07.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808"/>
            <a:ext cx="12192000" cy="6857193"/>
          </a:xfrm>
          <a:prstGeom prst="rect">
            <a:avLst/>
          </a:prstGeom>
        </p:spPr>
      </p:pic>
    </p:spTree>
    <p:extLst>
      <p:ext uri="{BB962C8B-B14F-4D97-AF65-F5344CB8AC3E}">
        <p14:creationId xmlns:p14="http://schemas.microsoft.com/office/powerpoint/2010/main" val="688006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 name="图片 1" descr="C2 多媒体办公系统01-0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7193"/>
          </a:xfrm>
          <a:prstGeom prst="rect">
            <a:avLst/>
          </a:prstGeom>
        </p:spPr>
      </p:pic>
      <p:sp>
        <p:nvSpPr>
          <p:cNvPr id="4" name="日期占位符 3"/>
          <p:cNvSpPr>
            <a:spLocks noGrp="1"/>
          </p:cNvSpPr>
          <p:nvPr>
            <p:ph type="dt" sz="half" idx="10"/>
          </p:nvPr>
        </p:nvSpPr>
        <p:spPr>
          <a:xfrm>
            <a:off x="7536200" y="5877340"/>
            <a:ext cx="2844800" cy="365125"/>
          </a:xfrm>
        </p:spPr>
        <p:txBody>
          <a:bodyPr/>
          <a:lstStyle/>
          <a:p>
            <a:fld id="{D9DE98FE-917E-4DEF-80D6-9FEA7ECDC804}" type="datetime1">
              <a:rPr lang="zh-CN" altLang="en-US" smtClean="0"/>
              <a:pPr/>
              <a:t>2024/6/15</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dirty="0"/>
          </a:p>
        </p:txBody>
      </p:sp>
      <p:sp>
        <p:nvSpPr>
          <p:cNvPr id="7" name="文本框 12"/>
          <p:cNvSpPr txBox="1"/>
          <p:nvPr userDrawn="1"/>
        </p:nvSpPr>
        <p:spPr>
          <a:xfrm>
            <a:off x="7536200" y="6226540"/>
            <a:ext cx="3648507" cy="307777"/>
          </a:xfrm>
          <a:prstGeom prst="rect">
            <a:avLst/>
          </a:prstGeom>
          <a:noFill/>
        </p:spPr>
        <p:txBody>
          <a:bodyPr wrap="square" rtlCol="0">
            <a:spAutoFit/>
          </a:bodyPr>
          <a:lstStyle/>
          <a:p>
            <a:pPr marL="0" marR="0" indent="0" algn="dist" defTabSz="1219170" rtl="0" eaLnBrk="1" fontAlgn="auto" latinLnBrk="0" hangingPunct="1">
              <a:lnSpc>
                <a:spcPct val="100000"/>
              </a:lnSpc>
              <a:spcBef>
                <a:spcPts val="0"/>
              </a:spcBef>
              <a:spcAft>
                <a:spcPts val="0"/>
              </a:spcAft>
              <a:buClrTx/>
              <a:buSzTx/>
              <a:buFontTx/>
              <a:buNone/>
              <a:tabLst/>
              <a:defRPr/>
            </a:pPr>
            <a:r>
              <a:rPr kumimoji="1" lang="zh-CN" altLang="en-US" sz="1400" dirty="0">
                <a:solidFill>
                  <a:srgbClr val="0D0D0D"/>
                </a:solidFill>
                <a:latin typeface="方正兰亭中黑简体" panose="02000000000000000000" charset="-122"/>
                <a:ea typeface="方正兰亭中黑简体" panose="02000000000000000000" charset="-122"/>
                <a:cs typeface="FZLanTingHeiS-B-GB"/>
              </a:rPr>
              <a:t>中石化石油化工科学研究院</a:t>
            </a:r>
            <a:r>
              <a:rPr kumimoji="1" lang="zh-CN" altLang="en-US" sz="1400" dirty="0">
                <a:solidFill>
                  <a:srgbClr val="0D0D0D"/>
                </a:solidFill>
                <a:latin typeface="方正兰亭中黑简体" panose="02000000000000000000" charset="-122"/>
                <a:ea typeface="方正兰亭中黑简体" panose="02000000000000000000" charset="-122"/>
                <a:cs typeface="FZLanTingHeiS-B-GB"/>
                <a:sym typeface="+mn-ea"/>
              </a:rPr>
              <a:t>有限公司</a:t>
            </a:r>
          </a:p>
        </p:txBody>
      </p:sp>
      <p:sp>
        <p:nvSpPr>
          <p:cNvPr id="8" name="文本框 16"/>
          <p:cNvSpPr txBox="1"/>
          <p:nvPr userDrawn="1"/>
        </p:nvSpPr>
        <p:spPr>
          <a:xfrm>
            <a:off x="7536200" y="6452242"/>
            <a:ext cx="3972147" cy="215444"/>
          </a:xfrm>
          <a:prstGeom prst="rect">
            <a:avLst/>
          </a:prstGeom>
          <a:noFill/>
        </p:spPr>
        <p:txBody>
          <a:bodyPr wrap="square" rtlCol="0">
            <a:spAutoFit/>
          </a:bodyPr>
          <a:lstStyle/>
          <a:p>
            <a:r>
              <a:rPr kumimoji="1" lang="en-US" altLang="zh-CN" sz="800" b="1" kern="2200" spc="53" baseline="0" dirty="0">
                <a:solidFill>
                  <a:schemeClr val="tx1">
                    <a:lumMod val="95000"/>
                    <a:lumOff val="5000"/>
                  </a:schemeClr>
                </a:solidFill>
                <a:latin typeface="Arial" panose="020B0604020202020204"/>
                <a:ea typeface="HYDaSongJ"/>
                <a:cs typeface="Arial" panose="020B0604020202020204"/>
              </a:rPr>
              <a:t>SINOPEC Research Institute of Petroleum Processing </a:t>
            </a:r>
            <a:r>
              <a:rPr kumimoji="1" lang="en-US" altLang="zh-CN" sz="800" b="1" kern="2200" spc="53" baseline="0" dirty="0" err="1">
                <a:solidFill>
                  <a:schemeClr val="tx1">
                    <a:lumMod val="95000"/>
                    <a:lumOff val="5000"/>
                  </a:schemeClr>
                </a:solidFill>
                <a:latin typeface="Arial" panose="020B0604020202020204"/>
                <a:ea typeface="HYDaSongJ"/>
                <a:cs typeface="Arial" panose="020B0604020202020204"/>
              </a:rPr>
              <a:t>Co.,Ltd</a:t>
            </a:r>
            <a:r>
              <a:rPr kumimoji="1" lang="en-US" altLang="zh-CN" sz="800" b="1" kern="2200" spc="53" baseline="0" dirty="0">
                <a:solidFill>
                  <a:schemeClr val="tx1">
                    <a:lumMod val="95000"/>
                    <a:lumOff val="5000"/>
                  </a:schemeClr>
                </a:solidFill>
                <a:latin typeface="Arial" panose="020B0604020202020204"/>
                <a:ea typeface="HYDaSongJ"/>
                <a:cs typeface="Arial" panose="020B0604020202020204"/>
              </a:rPr>
              <a:t>.</a:t>
            </a:r>
          </a:p>
        </p:txBody>
      </p:sp>
    </p:spTree>
    <p:extLst>
      <p:ext uri="{BB962C8B-B14F-4D97-AF65-F5344CB8AC3E}">
        <p14:creationId xmlns:p14="http://schemas.microsoft.com/office/powerpoint/2010/main" val="2948345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3" name="图片 2" descr="C2 多媒体办公系统01-10.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7193"/>
          </a:xfrm>
          <a:prstGeom prst="rect">
            <a:avLst/>
          </a:prstGeom>
        </p:spPr>
      </p:pic>
    </p:spTree>
    <p:extLst>
      <p:ext uri="{BB962C8B-B14F-4D97-AF65-F5344CB8AC3E}">
        <p14:creationId xmlns:p14="http://schemas.microsoft.com/office/powerpoint/2010/main" val="2123923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2C2F9B9-4A63-7C7F-38D4-A5E50ABF1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C280778-F50E-51D9-0EDE-465A9C39E3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1BF12F-7F25-1B55-0966-263F7A2747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4F746-7CAE-4E15-836F-92DA94518894}" type="datetimeFigureOut">
              <a:rPr lang="zh-CN" altLang="en-US" smtClean="0"/>
              <a:t>2024/6/15</a:t>
            </a:fld>
            <a:endParaRPr lang="zh-CN" altLang="en-US"/>
          </a:p>
        </p:txBody>
      </p:sp>
      <p:sp>
        <p:nvSpPr>
          <p:cNvPr id="5" name="页脚占位符 4">
            <a:extLst>
              <a:ext uri="{FF2B5EF4-FFF2-40B4-BE49-F238E27FC236}">
                <a16:creationId xmlns:a16="http://schemas.microsoft.com/office/drawing/2014/main" id="{053D404F-C26A-FD27-CB70-6C0ED7E7D9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B0B1FAB-66B0-2292-EB9C-FD3841F813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67694C-15B3-4176-8211-4F3648252B61}" type="slidenum">
              <a:rPr lang="zh-CN" altLang="en-US" smtClean="0"/>
              <a:t>‹#›</a:t>
            </a:fld>
            <a:endParaRPr lang="zh-CN" altLang="en-US"/>
          </a:p>
        </p:txBody>
      </p:sp>
    </p:spTree>
    <p:extLst>
      <p:ext uri="{BB962C8B-B14F-4D97-AF65-F5344CB8AC3E}">
        <p14:creationId xmlns:p14="http://schemas.microsoft.com/office/powerpoint/2010/main" val="3290848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2.xml"/><Relationship Id="rId4"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notesSlide" Target="../notesSlides/notesSlide3.xml"/><Relationship Id="rId4"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7.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6.png"/><Relationship Id="rId5" Type="http://schemas.openxmlformats.org/officeDocument/2006/relationships/notesSlide" Target="../notesSlides/notesSlide4.xml"/><Relationship Id="rId4"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tags" Target="../tags/tag13.xml"/><Relationship Id="rId7" Type="http://schemas.openxmlformats.org/officeDocument/2006/relationships/diagramLayout" Target="../diagrams/layout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diagramData" Target="../diagrams/data1.xml"/><Relationship Id="rId5" Type="http://schemas.openxmlformats.org/officeDocument/2006/relationships/notesSlide" Target="../notesSlides/notesSlide5.xml"/><Relationship Id="rId10" Type="http://schemas.microsoft.com/office/2007/relationships/diagramDrawing" Target="../diagrams/drawing1.xml"/><Relationship Id="rId4" Type="http://schemas.openxmlformats.org/officeDocument/2006/relationships/slideLayout" Target="../slideLayouts/slideLayout13.xml"/><Relationship Id="rId9" Type="http://schemas.openxmlformats.org/officeDocument/2006/relationships/diagramColors" Target="../diagrams/colors1.xml"/></Relationships>
</file>

<file path=ppt/slides/_rels/slide6.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notesSlide" Target="../notesSlides/notesSlide6.xml"/><Relationship Id="rId4"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7.xml"/><Relationship Id="rId4"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notesSlide" Target="../notesSlides/notesSlide8.xml"/><Relationship Id="rId4"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873787" y="5661311"/>
            <a:ext cx="3499907" cy="318100"/>
          </a:xfrm>
          <a:prstGeom prst="rect">
            <a:avLst/>
          </a:prstGeom>
          <a:noFill/>
        </p:spPr>
        <p:txBody>
          <a:bodyPr wrap="square" rtlCol="0">
            <a:spAutoFit/>
          </a:bodyPr>
          <a:lstStyle/>
          <a:p>
            <a:pPr algn="dist"/>
            <a:r>
              <a:rPr kumimoji="1" lang="zh-CN" altLang="en-US" sz="1467" dirty="0">
                <a:solidFill>
                  <a:srgbClr val="0D0D0D"/>
                </a:solidFill>
                <a:latin typeface="方正兰亭中黑简体" panose="02000000000000000000" charset="-122"/>
                <a:ea typeface="方正兰亭中黑简体" panose="02000000000000000000" charset="-122"/>
                <a:cs typeface="FZLanTingHeiS-B-GB"/>
              </a:rPr>
              <a:t>中石化石油化工科学研究院</a:t>
            </a:r>
            <a:r>
              <a:rPr kumimoji="1" lang="zh-CN" altLang="en-US" sz="1467" dirty="0">
                <a:solidFill>
                  <a:srgbClr val="0D0D0D"/>
                </a:solidFill>
                <a:latin typeface="方正兰亭中黑简体" panose="02000000000000000000" charset="-122"/>
                <a:ea typeface="方正兰亭中黑简体" panose="02000000000000000000" charset="-122"/>
                <a:cs typeface="FZLanTingHeiS-B-GB"/>
                <a:sym typeface="+mn-ea"/>
              </a:rPr>
              <a:t>有限公司</a:t>
            </a:r>
          </a:p>
        </p:txBody>
      </p:sp>
      <p:sp>
        <p:nvSpPr>
          <p:cNvPr id="29" name="文本框 28"/>
          <p:cNvSpPr txBox="1"/>
          <p:nvPr/>
        </p:nvSpPr>
        <p:spPr>
          <a:xfrm>
            <a:off x="873787" y="5944228"/>
            <a:ext cx="3691933" cy="215444"/>
          </a:xfrm>
          <a:prstGeom prst="rect">
            <a:avLst/>
          </a:prstGeom>
          <a:noFill/>
        </p:spPr>
        <p:txBody>
          <a:bodyPr wrap="square" rtlCol="0">
            <a:spAutoFit/>
          </a:bodyPr>
          <a:lstStyle/>
          <a:p>
            <a:r>
              <a:rPr kumimoji="1" lang="en-US" altLang="zh-CN" sz="800" b="1" kern="1600" spc="40" dirty="0">
                <a:solidFill>
                  <a:schemeClr val="tx1">
                    <a:lumMod val="95000"/>
                    <a:lumOff val="5000"/>
                  </a:schemeClr>
                </a:solidFill>
                <a:latin typeface="Arial" panose="020B0604020202020204"/>
                <a:ea typeface="HYDaSongJ"/>
                <a:cs typeface="Arial" panose="020B0604020202020204"/>
              </a:rPr>
              <a:t>SINOPEC Research Institute of Petroleum Processing </a:t>
            </a:r>
            <a:r>
              <a:rPr kumimoji="1" lang="en-US" altLang="zh-CN" sz="800" b="1" kern="1600" spc="40" dirty="0" err="1">
                <a:solidFill>
                  <a:schemeClr val="tx1">
                    <a:lumMod val="95000"/>
                    <a:lumOff val="5000"/>
                  </a:schemeClr>
                </a:solidFill>
                <a:latin typeface="Arial" panose="020B0604020202020204"/>
                <a:ea typeface="HYDaSongJ"/>
                <a:cs typeface="Arial" panose="020B0604020202020204"/>
              </a:rPr>
              <a:t>Co.,Ltd</a:t>
            </a:r>
            <a:r>
              <a:rPr kumimoji="1" lang="en-US" altLang="zh-CN" sz="800" b="1" kern="1600" spc="40" dirty="0">
                <a:solidFill>
                  <a:schemeClr val="tx1">
                    <a:lumMod val="95000"/>
                    <a:lumOff val="5000"/>
                  </a:schemeClr>
                </a:solidFill>
                <a:latin typeface="Arial" panose="020B0604020202020204"/>
                <a:ea typeface="HYDaSongJ"/>
                <a:cs typeface="Arial" panose="020B0604020202020204"/>
              </a:rPr>
              <a:t>.</a:t>
            </a:r>
          </a:p>
        </p:txBody>
      </p:sp>
      <p:pic>
        <p:nvPicPr>
          <p:cNvPr id="3" name="图片 2" descr="中国石化标识-01.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40520" y="452588"/>
            <a:ext cx="1967427" cy="720721"/>
          </a:xfrm>
          <a:prstGeom prst="rect">
            <a:avLst/>
          </a:prstGeom>
        </p:spPr>
      </p:pic>
      <p:sp>
        <p:nvSpPr>
          <p:cNvPr id="2" name="文本框 25">
            <a:extLst>
              <a:ext uri="{FF2B5EF4-FFF2-40B4-BE49-F238E27FC236}">
                <a16:creationId xmlns:a16="http://schemas.microsoft.com/office/drawing/2014/main" id="{94A77D88-A624-7ADE-CF5B-F5E8410DCB87}"/>
              </a:ext>
            </a:extLst>
          </p:cNvPr>
          <p:cNvSpPr txBox="1"/>
          <p:nvPr/>
        </p:nvSpPr>
        <p:spPr>
          <a:xfrm>
            <a:off x="1182370" y="1057613"/>
            <a:ext cx="9827260" cy="797200"/>
          </a:xfrm>
          <a:prstGeom prst="rect">
            <a:avLst/>
          </a:prstGeom>
          <a:noFill/>
        </p:spPr>
        <p:txBody>
          <a:bodyPr wrap="square" lIns="121916" tIns="60957" rIns="121916" bIns="60957" rtlCol="0">
            <a:spAutoFit/>
          </a:bodyPr>
          <a:lstStyle/>
          <a:p>
            <a:pPr algn="ctr">
              <a:lnSpc>
                <a:spcPct val="130000"/>
              </a:lnSpc>
            </a:pPr>
            <a:r>
              <a:rPr kumimoji="1" lang="zh-CN" altLang="en-US" sz="3733" b="1" dirty="0">
                <a:solidFill>
                  <a:srgbClr val="FF0000"/>
                </a:solidFill>
                <a:latin typeface="微软雅黑" panose="020B0503020204020204" pitchFamily="34" charset="-122"/>
                <a:ea typeface="微软雅黑" panose="020B0503020204020204" pitchFamily="34" charset="-122"/>
                <a:cs typeface="思源黑体 CN Medium" panose="020B0600000000000000" charset="-122"/>
              </a:rPr>
              <a:t>废尼龙</a:t>
            </a:r>
            <a:r>
              <a:rPr kumimoji="1" lang="en-US" altLang="zh-CN" sz="3733" b="1" dirty="0">
                <a:solidFill>
                  <a:srgbClr val="FF0000"/>
                </a:solidFill>
                <a:latin typeface="微软雅黑" panose="020B0503020204020204" pitchFamily="34" charset="-122"/>
                <a:ea typeface="微软雅黑" panose="020B0503020204020204" pitchFamily="34" charset="-122"/>
                <a:cs typeface="思源黑体 CN Medium" panose="020B0600000000000000" charset="-122"/>
              </a:rPr>
              <a:t>6</a:t>
            </a:r>
            <a:r>
              <a:rPr kumimoji="1" lang="zh-CN" altLang="en-US" sz="3733" b="1" dirty="0">
                <a:solidFill>
                  <a:srgbClr val="FF0000"/>
                </a:solidFill>
                <a:latin typeface="微软雅黑" panose="020B0503020204020204" pitchFamily="34" charset="-122"/>
                <a:ea typeface="微软雅黑" panose="020B0503020204020204" pitchFamily="34" charset="-122"/>
                <a:cs typeface="思源黑体 CN Medium" panose="020B0600000000000000" charset="-122"/>
              </a:rPr>
              <a:t>中己内酰胺单体的回收</a:t>
            </a:r>
          </a:p>
        </p:txBody>
      </p:sp>
      <p:sp>
        <p:nvSpPr>
          <p:cNvPr id="4" name="矩形 3">
            <a:extLst>
              <a:ext uri="{FF2B5EF4-FFF2-40B4-BE49-F238E27FC236}">
                <a16:creationId xmlns:a16="http://schemas.microsoft.com/office/drawing/2014/main" id="{E6BE27D3-C87D-BE92-A9C2-63DE19F79AAB}"/>
              </a:ext>
            </a:extLst>
          </p:cNvPr>
          <p:cNvSpPr/>
          <p:nvPr>
            <p:custDataLst>
              <p:tags r:id="rId1"/>
            </p:custDataLst>
          </p:nvPr>
        </p:nvSpPr>
        <p:spPr>
          <a:xfrm>
            <a:off x="5127108" y="2296929"/>
            <a:ext cx="7441353" cy="1004121"/>
          </a:xfrm>
          <a:prstGeom prst="rect">
            <a:avLst/>
          </a:prstGeom>
        </p:spPr>
        <p:txBody>
          <a:bodyPr wrap="square">
            <a:spAutoFit/>
          </a:bodyPr>
          <a:lstStyle/>
          <a:p>
            <a:pPr>
              <a:lnSpc>
                <a:spcPct val="170000"/>
              </a:lnSpc>
            </a:pPr>
            <a:r>
              <a:rPr kumimoji="1" lang="zh-CN" altLang="en-US"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汇报人：戴超</a:t>
            </a:r>
            <a:endParaRPr kumimoji="1" lang="en-US" altLang="zh-CN"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70000"/>
              </a:lnSpc>
            </a:pPr>
            <a:r>
              <a:rPr kumimoji="1" lang="en-US" altLang="zh-CN"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2024</a:t>
            </a:r>
            <a:r>
              <a:rPr kumimoji="1" lang="zh-CN" altLang="en-US"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kumimoji="1" lang="en-US" altLang="zh-CN"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zh-CN" altLang="en-US"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r>
              <a:rPr kumimoji="1" lang="en-US" altLang="zh-CN"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24</a:t>
            </a:r>
            <a:r>
              <a:rPr kumimoji="1" lang="zh-CN" altLang="en-US" sz="1867"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日</a:t>
            </a:r>
          </a:p>
        </p:txBody>
      </p:sp>
    </p:spTree>
    <p:extLst>
      <p:ext uri="{BB962C8B-B14F-4D97-AF65-F5344CB8AC3E}">
        <p14:creationId xmlns:p14="http://schemas.microsoft.com/office/powerpoint/2010/main" val="3855009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296585" y="6272026"/>
            <a:ext cx="82852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6">
            <a:extLst>
              <a:ext uri="{FF2B5EF4-FFF2-40B4-BE49-F238E27FC236}">
                <a16:creationId xmlns:a16="http://schemas.microsoft.com/office/drawing/2014/main" id="{4C656F8D-E90D-D111-C8CC-399442A117B9}"/>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graphicFrame>
        <p:nvGraphicFramePr>
          <p:cNvPr id="2" name="表格 1">
            <a:extLst>
              <a:ext uri="{FF2B5EF4-FFF2-40B4-BE49-F238E27FC236}">
                <a16:creationId xmlns:a16="http://schemas.microsoft.com/office/drawing/2014/main" id="{17253715-7B21-D134-BC86-0F01BF8DB548}"/>
              </a:ext>
            </a:extLst>
          </p:cNvPr>
          <p:cNvGraphicFramePr>
            <a:graphicFrameLocks noGrp="1"/>
          </p:cNvGraphicFramePr>
          <p:nvPr>
            <p:extLst>
              <p:ext uri="{D42A27DB-BD31-4B8C-83A1-F6EECF244321}">
                <p14:modId xmlns:p14="http://schemas.microsoft.com/office/powerpoint/2010/main" val="1760344951"/>
              </p:ext>
            </p:extLst>
          </p:nvPr>
        </p:nvGraphicFramePr>
        <p:xfrm>
          <a:off x="1813059" y="956627"/>
          <a:ext cx="8127999" cy="357194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93527345"/>
                    </a:ext>
                  </a:extLst>
                </a:gridCol>
                <a:gridCol w="2709333">
                  <a:extLst>
                    <a:ext uri="{9D8B030D-6E8A-4147-A177-3AD203B41FA5}">
                      <a16:colId xmlns:a16="http://schemas.microsoft.com/office/drawing/2014/main" val="3062800579"/>
                    </a:ext>
                  </a:extLst>
                </a:gridCol>
                <a:gridCol w="2709333">
                  <a:extLst>
                    <a:ext uri="{9D8B030D-6E8A-4147-A177-3AD203B41FA5}">
                      <a16:colId xmlns:a16="http://schemas.microsoft.com/office/drawing/2014/main" val="4088977183"/>
                    </a:ext>
                  </a:extLst>
                </a:gridCol>
              </a:tblGrid>
              <a:tr h="370840">
                <a:tc>
                  <a:txBody>
                    <a:bodyPr/>
                    <a:lstStyle/>
                    <a:p>
                      <a:pPr algn="ct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a:t>
                      </a:r>
                    </a:p>
                  </a:txBody>
                  <a:tcPr anchor="ctr"/>
                </a:tc>
                <a:tc>
                  <a:txBody>
                    <a:bodyPr/>
                    <a:lstStyle/>
                    <a:p>
                      <a:pPr algn="ctr"/>
                      <a:r>
                        <a:rPr lang="zh-CN" altLang="en-US" sz="1600" dirty="0">
                          <a:latin typeface="微软雅黑" panose="020B0503020204020204" pitchFamily="34" charset="-122"/>
                          <a:ea typeface="微软雅黑" panose="020B0503020204020204" pitchFamily="34" charset="-122"/>
                        </a:rPr>
                        <a:t>己内酰胺</a:t>
                      </a:r>
                    </a:p>
                  </a:txBody>
                  <a:tcPr anchor="ctr"/>
                </a:tc>
                <a:extLst>
                  <a:ext uri="{0D108BD9-81ED-4DB2-BD59-A6C34878D82A}">
                    <a16:rowId xmlns:a16="http://schemas.microsoft.com/office/drawing/2014/main" val="1175877300"/>
                  </a:ext>
                </a:extLst>
              </a:tr>
              <a:tr h="370840">
                <a:tc>
                  <a:txBody>
                    <a:bodyPr/>
                    <a:lstStyle/>
                    <a:p>
                      <a:pPr algn="ctr"/>
                      <a:r>
                        <a:rPr lang="zh-CN" altLang="en-US" sz="1600" dirty="0">
                          <a:latin typeface="微软雅黑" panose="020B0503020204020204" pitchFamily="34" charset="-122"/>
                          <a:ea typeface="微软雅黑" panose="020B0503020204020204" pitchFamily="34" charset="-122"/>
                        </a:rPr>
                        <a:t>化学式</a:t>
                      </a: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C</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6</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H</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13</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O</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2</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N</a:t>
                      </a:r>
                      <a:r>
                        <a:rPr lang="zh-CN" altLang="en-US" sz="1600" b="0" i="0"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NH</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2</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(CH</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2</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5</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COOH</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C</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6</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H</a:t>
                      </a:r>
                      <a:r>
                        <a:rPr lang="en-US" altLang="zh-CN" sz="1600" b="0" i="0" kern="1200" baseline="-25000" dirty="0">
                          <a:solidFill>
                            <a:schemeClr val="dk1"/>
                          </a:solidFill>
                          <a:effectLst/>
                          <a:latin typeface="微软雅黑" panose="020B0503020204020204" pitchFamily="34" charset="-122"/>
                          <a:ea typeface="微软雅黑" panose="020B0503020204020204" pitchFamily="34" charset="-122"/>
                          <a:cs typeface="+mn-cs"/>
                        </a:rPr>
                        <a:t>11</a:t>
                      </a: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NO</a:t>
                      </a:r>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552326010"/>
                  </a:ext>
                </a:extLst>
              </a:tr>
              <a:tr h="370840">
                <a:tc>
                  <a:txBody>
                    <a:bodyPr/>
                    <a:lstStyle/>
                    <a:p>
                      <a:pPr algn="ctr"/>
                      <a:r>
                        <a:rPr lang="zh-CN" altLang="en-US" sz="1600" dirty="0">
                          <a:latin typeface="微软雅黑" panose="020B0503020204020204" pitchFamily="34" charset="-122"/>
                          <a:ea typeface="微软雅黑" panose="020B0503020204020204" pitchFamily="34" charset="-122"/>
                        </a:rPr>
                        <a:t>分子量</a:t>
                      </a: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131.1729</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113.158</a:t>
                      </a:r>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821081106"/>
                  </a:ext>
                </a:extLst>
              </a:tr>
              <a:tr h="370840">
                <a:tc>
                  <a:txBody>
                    <a:bodyPr/>
                    <a:lstStyle/>
                    <a:p>
                      <a:pPr algn="ctr"/>
                      <a:r>
                        <a:rPr lang="zh-CN" altLang="en-US" sz="1600" dirty="0">
                          <a:latin typeface="微软雅黑" panose="020B0503020204020204" pitchFamily="34" charset="-122"/>
                          <a:ea typeface="微软雅黑" panose="020B0503020204020204" pitchFamily="34" charset="-122"/>
                        </a:rPr>
                        <a:t>熔点</a:t>
                      </a: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207-209</a:t>
                      </a:r>
                      <a:r>
                        <a:rPr lang="zh-CN" altLang="en-US" sz="1600" dirty="0">
                          <a:latin typeface="微软雅黑" panose="020B0503020204020204" pitchFamily="34" charset="-122"/>
                          <a:ea typeface="微软雅黑" panose="020B0503020204020204" pitchFamily="34" charset="-122"/>
                        </a:rPr>
                        <a:t>℃</a:t>
                      </a:r>
                    </a:p>
                  </a:txBody>
                  <a:tcPr anchor="ctr"/>
                </a:tc>
                <a:tc>
                  <a:txBody>
                    <a:bodyPr/>
                    <a:lstStyle/>
                    <a:p>
                      <a:pPr algn="ctr"/>
                      <a:r>
                        <a:rPr lang="en-US" altLang="zh-CN" sz="1600" dirty="0">
                          <a:latin typeface="微软雅黑" panose="020B0503020204020204" pitchFamily="34" charset="-122"/>
                          <a:ea typeface="微软雅黑" panose="020B0503020204020204" pitchFamily="34" charset="-122"/>
                        </a:rPr>
                        <a:t>68-71</a:t>
                      </a:r>
                      <a:r>
                        <a:rPr lang="zh-CN" altLang="en-US" sz="16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2793307564"/>
                  </a:ext>
                </a:extLst>
              </a:tr>
              <a:tr h="442663">
                <a:tc>
                  <a:txBody>
                    <a:bodyPr/>
                    <a:lstStyle/>
                    <a:p>
                      <a:pPr algn="ctr"/>
                      <a:r>
                        <a:rPr lang="zh-CN" altLang="en-US" sz="1600" dirty="0">
                          <a:latin typeface="微软雅黑" panose="020B0503020204020204" pitchFamily="34" charset="-122"/>
                          <a:ea typeface="微软雅黑" panose="020B0503020204020204" pitchFamily="34" charset="-122"/>
                        </a:rPr>
                        <a:t>密度</a:t>
                      </a: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1.042 g/cm³</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1.023 g/cm³</a:t>
                      </a:r>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32824157"/>
                  </a:ext>
                </a:extLst>
              </a:tr>
              <a:tr h="370840">
                <a:tc>
                  <a:txBody>
                    <a:bodyPr/>
                    <a:lstStyle/>
                    <a:p>
                      <a:pPr algn="ctr"/>
                      <a:r>
                        <a:rPr lang="zh-CN" altLang="en-US" sz="1600" dirty="0">
                          <a:latin typeface="微软雅黑" panose="020B0503020204020204" pitchFamily="34" charset="-122"/>
                          <a:ea typeface="微软雅黑" panose="020B0503020204020204" pitchFamily="34" charset="-122"/>
                        </a:rPr>
                        <a:t>沸点</a:t>
                      </a: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255.64 ℃</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600" b="0" i="0" kern="1200" dirty="0">
                          <a:solidFill>
                            <a:schemeClr val="dk1"/>
                          </a:solidFill>
                          <a:effectLst/>
                          <a:latin typeface="微软雅黑" panose="020B0503020204020204" pitchFamily="34" charset="-122"/>
                          <a:ea typeface="微软雅黑" panose="020B0503020204020204" pitchFamily="34" charset="-122"/>
                          <a:cs typeface="+mn-cs"/>
                        </a:rPr>
                        <a:t>268 ℃</a:t>
                      </a:r>
                      <a:endParaRPr lang="zh-CN" altLang="en-US" sz="16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15535652"/>
                  </a:ext>
                </a:extLst>
              </a:tr>
              <a:tr h="370840">
                <a:tc>
                  <a:txBody>
                    <a:bodyPr/>
                    <a:lstStyle/>
                    <a:p>
                      <a:pPr algn="ctr"/>
                      <a:r>
                        <a:rPr lang="zh-CN" altLang="en-US" sz="1600" dirty="0">
                          <a:latin typeface="微软雅黑" panose="020B0503020204020204" pitchFamily="34" charset="-122"/>
                          <a:ea typeface="微软雅黑" panose="020B0503020204020204" pitchFamily="34" charset="-122"/>
                        </a:rPr>
                        <a:t>溶解性</a:t>
                      </a:r>
                    </a:p>
                  </a:txBody>
                  <a:tcPr anchor="ctr"/>
                </a:tc>
                <a:tc>
                  <a:txBody>
                    <a:bodyPr/>
                    <a:lstStyle/>
                    <a:p>
                      <a:pPr algn="l"/>
                      <a:r>
                        <a:rPr lang="zh-CN" altLang="en-US" sz="1600" dirty="0">
                          <a:latin typeface="微软雅黑" panose="020B0503020204020204" pitchFamily="34" charset="-122"/>
                          <a:ea typeface="微软雅黑" panose="020B0503020204020204" pitchFamily="34" charset="-122"/>
                        </a:rPr>
                        <a:t>易溶于水，微溶于甲醇，不溶于乙醇和乙醚</a:t>
                      </a:r>
                    </a:p>
                  </a:txBody>
                  <a:tcPr anchor="ctr"/>
                </a:tc>
                <a:tc>
                  <a:txBody>
                    <a:bodyPr/>
                    <a:lstStyle/>
                    <a:p>
                      <a:pPr algn="l"/>
                      <a:r>
                        <a:rPr lang="zh-CN" altLang="en-US" sz="1600" b="0" i="0" u="none" strike="noStrike" kern="1200" dirty="0">
                          <a:solidFill>
                            <a:schemeClr val="dk1"/>
                          </a:solidFill>
                          <a:effectLst/>
                          <a:latin typeface="微软雅黑" panose="020B0503020204020204" pitchFamily="34" charset="-122"/>
                          <a:ea typeface="微软雅黑" panose="020B0503020204020204" pitchFamily="34" charset="-122"/>
                          <a:cs typeface="+mn-cs"/>
                        </a:rPr>
                        <a:t>溶于水、石油烃、环己烯、苯、甲苯、乙醇、乙醚、四氢糠醛、二甲基甲酰胺和氯代烃</a:t>
                      </a:r>
                    </a:p>
                  </a:txBody>
                  <a:tcPr anchor="ctr"/>
                </a:tc>
                <a:extLst>
                  <a:ext uri="{0D108BD9-81ED-4DB2-BD59-A6C34878D82A}">
                    <a16:rowId xmlns:a16="http://schemas.microsoft.com/office/drawing/2014/main" val="1467660137"/>
                  </a:ext>
                </a:extLst>
              </a:tr>
            </a:tbl>
          </a:graphicData>
        </a:graphic>
      </p:graphicFrame>
      <p:sp>
        <p:nvSpPr>
          <p:cNvPr id="3" name="文本框 2">
            <a:extLst>
              <a:ext uri="{FF2B5EF4-FFF2-40B4-BE49-F238E27FC236}">
                <a16:creationId xmlns:a16="http://schemas.microsoft.com/office/drawing/2014/main" id="{6027994E-735B-EA31-2C39-ED282CA04777}"/>
              </a:ext>
            </a:extLst>
          </p:cNvPr>
          <p:cNvSpPr txBox="1"/>
          <p:nvPr/>
        </p:nvSpPr>
        <p:spPr>
          <a:xfrm>
            <a:off x="3889419" y="5054958"/>
            <a:ext cx="3877985" cy="369332"/>
          </a:xfrm>
          <a:prstGeom prst="rect">
            <a:avLst/>
          </a:prstGeom>
          <a:noFill/>
        </p:spPr>
        <p:txBody>
          <a:bodyPr wrap="none" rtlCol="0">
            <a:spAutoFit/>
          </a:bodyPr>
          <a:lstStyle/>
          <a:p>
            <a:r>
              <a:rPr lang="zh-CN" altLang="en-US" dirty="0">
                <a:ln w="0"/>
                <a:solidFill>
                  <a:schemeClr val="accent1"/>
                </a:solidFill>
                <a:effectLst>
                  <a:outerShdw blurRad="38100" dist="25400" dir="5400000" algn="ctr" rotWithShape="0">
                    <a:srgbClr val="6E747A">
                      <a:alpha val="43000"/>
                    </a:srgbClr>
                  </a:outerShdw>
                </a:effectLst>
              </a:rPr>
              <a:t>两者分子量、沸点接近，均易溶于水</a:t>
            </a:r>
          </a:p>
        </p:txBody>
      </p:sp>
    </p:spTree>
    <p:extLst>
      <p:ext uri="{BB962C8B-B14F-4D97-AF65-F5344CB8AC3E}">
        <p14:creationId xmlns:p14="http://schemas.microsoft.com/office/powerpoint/2010/main" val="227750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363325" y="6249988"/>
            <a:ext cx="828675"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3</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Title 6">
            <a:extLst>
              <a:ext uri="{FF2B5EF4-FFF2-40B4-BE49-F238E27FC236}">
                <a16:creationId xmlns:a16="http://schemas.microsoft.com/office/drawing/2014/main" id="{50AE8E57-AFF9-DF42-79B4-AA3066677A73}"/>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AA67E10-DFE4-95B0-C68F-E109181DC855}"/>
              </a:ext>
            </a:extLst>
          </p:cNvPr>
          <p:cNvSpPr txBox="1"/>
          <p:nvPr/>
        </p:nvSpPr>
        <p:spPr>
          <a:xfrm>
            <a:off x="506306" y="881671"/>
            <a:ext cx="4301177" cy="584775"/>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醇萃取：选用</a:t>
            </a:r>
            <a:r>
              <a:rPr lang="en-US" altLang="zh-CN" sz="1600" dirty="0">
                <a:solidFill>
                  <a:srgbClr val="FF0000"/>
                </a:solidFill>
                <a:latin typeface="微软雅黑" panose="020B0503020204020204" pitchFamily="34" charset="-122"/>
                <a:ea typeface="微软雅黑" panose="020B0503020204020204" pitchFamily="34" charset="-122"/>
              </a:rPr>
              <a:t>4-</a:t>
            </a:r>
            <a:r>
              <a:rPr lang="zh-CN" altLang="en-US" sz="1600" dirty="0">
                <a:solidFill>
                  <a:srgbClr val="FF0000"/>
                </a:solidFill>
                <a:latin typeface="微软雅黑" panose="020B0503020204020204" pitchFamily="34" charset="-122"/>
                <a:ea typeface="微软雅黑" panose="020B0503020204020204" pitchFamily="34" charset="-122"/>
              </a:rPr>
              <a:t>甲基</a:t>
            </a:r>
            <a:r>
              <a:rPr lang="en-US" altLang="zh-CN" sz="1600" dirty="0">
                <a:solidFill>
                  <a:srgbClr val="FF0000"/>
                </a:solidFill>
                <a:latin typeface="微软雅黑" panose="020B0503020204020204" pitchFamily="34" charset="-122"/>
                <a:ea typeface="微软雅黑" panose="020B0503020204020204" pitchFamily="34" charset="-122"/>
              </a:rPr>
              <a:t>-2-</a:t>
            </a:r>
            <a:r>
              <a:rPr lang="zh-CN" altLang="en-US" sz="1600" dirty="0">
                <a:solidFill>
                  <a:srgbClr val="FF0000"/>
                </a:solidFill>
                <a:latin typeface="微软雅黑" panose="020B0503020204020204" pitchFamily="34" charset="-122"/>
                <a:ea typeface="微软雅黑" panose="020B0503020204020204" pitchFamily="34" charset="-122"/>
              </a:rPr>
              <a:t>戊醇，</a:t>
            </a:r>
            <a:r>
              <a:rPr lang="zh-CN" altLang="en-US" sz="1600" dirty="0">
                <a:latin typeface="微软雅黑" panose="020B0503020204020204" pitchFamily="34" charset="-122"/>
                <a:ea typeface="微软雅黑" panose="020B0503020204020204" pitchFamily="34" charset="-122"/>
              </a:rPr>
              <a:t>优选具有</a:t>
            </a:r>
            <a:r>
              <a:rPr lang="en-US" altLang="zh-CN" sz="1600" dirty="0">
                <a:solidFill>
                  <a:srgbClr val="FF0000"/>
                </a:solidFill>
                <a:latin typeface="微软雅黑" panose="020B0503020204020204" pitchFamily="34" charset="-122"/>
                <a:ea typeface="微软雅黑" panose="020B0503020204020204" pitchFamily="34" charset="-122"/>
              </a:rPr>
              <a:t>5-8</a:t>
            </a:r>
            <a:r>
              <a:rPr lang="zh-CN" altLang="en-US" sz="1600" dirty="0">
                <a:solidFill>
                  <a:srgbClr val="FF0000"/>
                </a:solidFill>
                <a:latin typeface="微软雅黑" panose="020B0503020204020204" pitchFamily="34" charset="-122"/>
                <a:ea typeface="微软雅黑" panose="020B0503020204020204" pitchFamily="34" charset="-122"/>
              </a:rPr>
              <a:t>个</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zh-CN" altLang="en-US" sz="1600" dirty="0">
                <a:solidFill>
                  <a:srgbClr val="FF0000"/>
                </a:solidFill>
                <a:latin typeface="微软雅黑" panose="020B0503020204020204" pitchFamily="34" charset="-122"/>
                <a:ea typeface="微软雅黑" panose="020B0503020204020204" pitchFamily="34" charset="-122"/>
              </a:rPr>
              <a:t>碳原子</a:t>
            </a:r>
            <a:r>
              <a:rPr lang="zh-CN" altLang="en-US" sz="1600" dirty="0">
                <a:latin typeface="微软雅黑" panose="020B0503020204020204" pitchFamily="34" charset="-122"/>
                <a:ea typeface="微软雅黑" panose="020B0503020204020204" pitchFamily="34" charset="-122"/>
              </a:rPr>
              <a:t>，只存在</a:t>
            </a:r>
            <a:r>
              <a:rPr lang="zh-CN" altLang="en-US" sz="1600" dirty="0">
                <a:solidFill>
                  <a:srgbClr val="FF0000"/>
                </a:solidFill>
                <a:latin typeface="微软雅黑" panose="020B0503020204020204" pitchFamily="34" charset="-122"/>
                <a:ea typeface="微软雅黑" panose="020B0503020204020204" pitchFamily="34" charset="-122"/>
              </a:rPr>
              <a:t>一个羟基</a:t>
            </a:r>
            <a:r>
              <a:rPr lang="zh-CN" altLang="en-US" sz="1600" dirty="0">
                <a:latin typeface="微软雅黑" panose="020B0503020204020204" pitchFamily="34" charset="-122"/>
                <a:ea typeface="微软雅黑" panose="020B0503020204020204" pitchFamily="34" charset="-122"/>
              </a:rPr>
              <a:t>的受阻醇</a:t>
            </a:r>
          </a:p>
        </p:txBody>
      </p:sp>
      <p:pic>
        <p:nvPicPr>
          <p:cNvPr id="10" name="图片 9">
            <a:extLst>
              <a:ext uri="{FF2B5EF4-FFF2-40B4-BE49-F238E27FC236}">
                <a16:creationId xmlns:a16="http://schemas.microsoft.com/office/drawing/2014/main" id="{4E76193E-3870-EF03-8ECE-925B862E2B8B}"/>
              </a:ext>
            </a:extLst>
          </p:cNvPr>
          <p:cNvPicPr>
            <a:picLocks noChangeAspect="1"/>
          </p:cNvPicPr>
          <p:nvPr/>
        </p:nvPicPr>
        <p:blipFill>
          <a:blip r:embed="rId6"/>
          <a:stretch>
            <a:fillRect/>
          </a:stretch>
        </p:blipFill>
        <p:spPr>
          <a:xfrm>
            <a:off x="5948487" y="774218"/>
            <a:ext cx="5506680" cy="3655860"/>
          </a:xfrm>
          <a:prstGeom prst="rect">
            <a:avLst/>
          </a:prstGeom>
        </p:spPr>
      </p:pic>
      <p:graphicFrame>
        <p:nvGraphicFramePr>
          <p:cNvPr id="12" name="表格 11">
            <a:extLst>
              <a:ext uri="{FF2B5EF4-FFF2-40B4-BE49-F238E27FC236}">
                <a16:creationId xmlns:a16="http://schemas.microsoft.com/office/drawing/2014/main" id="{FF2938A8-C101-764C-40F2-53D31F6B5345}"/>
              </a:ext>
            </a:extLst>
          </p:cNvPr>
          <p:cNvGraphicFramePr>
            <a:graphicFrameLocks noGrp="1"/>
          </p:cNvGraphicFramePr>
          <p:nvPr>
            <p:extLst>
              <p:ext uri="{D42A27DB-BD31-4B8C-83A1-F6EECF244321}">
                <p14:modId xmlns:p14="http://schemas.microsoft.com/office/powerpoint/2010/main" val="2161049934"/>
              </p:ext>
            </p:extLst>
          </p:nvPr>
        </p:nvGraphicFramePr>
        <p:xfrm>
          <a:off x="1224226" y="1655683"/>
          <a:ext cx="2865335" cy="2867100"/>
        </p:xfrm>
        <a:graphic>
          <a:graphicData uri="http://schemas.openxmlformats.org/drawingml/2006/table">
            <a:tbl>
              <a:tblPr firstRow="1" bandRow="1">
                <a:tableStyleId>{5C22544A-7EE6-4342-B048-85BDC9FD1C3A}</a:tableStyleId>
              </a:tblPr>
              <a:tblGrid>
                <a:gridCol w="2865335">
                  <a:extLst>
                    <a:ext uri="{9D8B030D-6E8A-4147-A177-3AD203B41FA5}">
                      <a16:colId xmlns:a16="http://schemas.microsoft.com/office/drawing/2014/main" val="1379667124"/>
                    </a:ext>
                  </a:extLst>
                </a:gridCol>
              </a:tblGrid>
              <a:tr h="573420">
                <a:tc>
                  <a:txBody>
                    <a:bodyPr/>
                    <a:lstStyle/>
                    <a:p>
                      <a:pPr algn="ctr"/>
                      <a:r>
                        <a:rPr lang="zh-CN" altLang="en-US" sz="1600" dirty="0">
                          <a:latin typeface="微软雅黑" panose="020B0503020204020204" pitchFamily="34" charset="-122"/>
                          <a:ea typeface="微软雅黑" panose="020B0503020204020204" pitchFamily="34" charset="-122"/>
                        </a:rPr>
                        <a:t>含水混合物原料组成</a:t>
                      </a:r>
                    </a:p>
                  </a:txBody>
                  <a:tcPr anchor="ctr"/>
                </a:tc>
                <a:extLst>
                  <a:ext uri="{0D108BD9-81ED-4DB2-BD59-A6C34878D82A}">
                    <a16:rowId xmlns:a16="http://schemas.microsoft.com/office/drawing/2014/main" val="4169089367"/>
                  </a:ext>
                </a:extLst>
              </a:tr>
              <a:tr h="573420">
                <a:tc>
                  <a:txBody>
                    <a:bodyPr/>
                    <a:lstStyle/>
                    <a:p>
                      <a:pPr algn="ctr"/>
                      <a:r>
                        <a:rPr lang="en-US" altLang="zh-CN" sz="1600" dirty="0">
                          <a:latin typeface="微软雅黑" panose="020B0503020204020204" pitchFamily="34" charset="-122"/>
                          <a:ea typeface="微软雅黑" panose="020B0503020204020204" pitchFamily="34" charset="-122"/>
                        </a:rPr>
                        <a:t>0.5-10%(</a:t>
                      </a:r>
                      <a:r>
                        <a:rPr lang="zh-CN" altLang="en-US" sz="1600" dirty="0">
                          <a:latin typeface="微软雅黑" panose="020B0503020204020204" pitchFamily="34" charset="-122"/>
                          <a:ea typeface="微软雅黑" panose="020B0503020204020204" pitchFamily="34" charset="-122"/>
                        </a:rPr>
                        <a:t>重量</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低聚物</a:t>
                      </a:r>
                    </a:p>
                  </a:txBody>
                  <a:tcPr anchor="ctr"/>
                </a:tc>
                <a:extLst>
                  <a:ext uri="{0D108BD9-81ED-4DB2-BD59-A6C34878D82A}">
                    <a16:rowId xmlns:a16="http://schemas.microsoft.com/office/drawing/2014/main" val="1454276271"/>
                  </a:ext>
                </a:extLst>
              </a:tr>
              <a:tr h="573420">
                <a:tc>
                  <a:txBody>
                    <a:bodyPr/>
                    <a:lstStyle/>
                    <a:p>
                      <a:pPr algn="ctr"/>
                      <a:r>
                        <a:rPr lang="en-US" altLang="zh-CN" sz="1600" dirty="0">
                          <a:latin typeface="微软雅黑" panose="020B0503020204020204" pitchFamily="34" charset="-122"/>
                          <a:ea typeface="微软雅黑" panose="020B0503020204020204" pitchFamily="34" charset="-122"/>
                        </a:rPr>
                        <a:t>5-30%(</a:t>
                      </a:r>
                      <a:r>
                        <a:rPr lang="zh-CN" altLang="en-US" sz="1600" dirty="0">
                          <a:latin typeface="微软雅黑" panose="020B0503020204020204" pitchFamily="34" charset="-122"/>
                          <a:ea typeface="微软雅黑" panose="020B0503020204020204" pitchFamily="34" charset="-122"/>
                        </a:rPr>
                        <a:t>重量</a:t>
                      </a:r>
                      <a:r>
                        <a:rPr lang="en-US" altLang="zh-CN" sz="1600" dirty="0">
                          <a:latin typeface="微软雅黑" panose="020B0503020204020204" pitchFamily="34" charset="-122"/>
                          <a:ea typeface="微软雅黑" panose="020B0503020204020204" pitchFamily="34" charset="-122"/>
                        </a:rPr>
                        <a:t>)ε-</a:t>
                      </a:r>
                      <a:r>
                        <a:rPr lang="zh-CN" altLang="en-US" sz="1600" dirty="0">
                          <a:latin typeface="微软雅黑" panose="020B0503020204020204" pitchFamily="34" charset="-122"/>
                          <a:ea typeface="微软雅黑" panose="020B0503020204020204" pitchFamily="34" charset="-122"/>
                        </a:rPr>
                        <a:t>己内酰胺</a:t>
                      </a:r>
                    </a:p>
                  </a:txBody>
                  <a:tcPr anchor="ctr"/>
                </a:tc>
                <a:extLst>
                  <a:ext uri="{0D108BD9-81ED-4DB2-BD59-A6C34878D82A}">
                    <a16:rowId xmlns:a16="http://schemas.microsoft.com/office/drawing/2014/main" val="4203786279"/>
                  </a:ext>
                </a:extLst>
              </a:tr>
              <a:tr h="573420">
                <a:tc>
                  <a:txBody>
                    <a:bodyPr/>
                    <a:lstStyle/>
                    <a:p>
                      <a:pPr algn="ctr"/>
                      <a:r>
                        <a:rPr lang="en-US" altLang="zh-CN" sz="1600" dirty="0">
                          <a:latin typeface="微软雅黑" panose="020B0503020204020204" pitchFamily="34" charset="-122"/>
                          <a:ea typeface="微软雅黑" panose="020B0503020204020204" pitchFamily="34" charset="-122"/>
                        </a:rPr>
                        <a:t>0.1-10%(</a:t>
                      </a:r>
                      <a:r>
                        <a:rPr lang="zh-CN" altLang="en-US" sz="1600" dirty="0">
                          <a:latin typeface="微软雅黑" panose="020B0503020204020204" pitchFamily="34" charset="-122"/>
                          <a:ea typeface="微软雅黑" panose="020B0503020204020204" pitchFamily="34" charset="-122"/>
                        </a:rPr>
                        <a:t>重量</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a:t>
                      </a:r>
                    </a:p>
                  </a:txBody>
                  <a:tcPr anchor="ctr"/>
                </a:tc>
                <a:extLst>
                  <a:ext uri="{0D108BD9-81ED-4DB2-BD59-A6C34878D82A}">
                    <a16:rowId xmlns:a16="http://schemas.microsoft.com/office/drawing/2014/main" val="196969870"/>
                  </a:ext>
                </a:extLst>
              </a:tr>
              <a:tr h="573420">
                <a:tc>
                  <a:txBody>
                    <a:bodyPr/>
                    <a:lstStyle/>
                    <a:p>
                      <a:pPr algn="ctr"/>
                      <a:r>
                        <a:rPr lang="en-US" altLang="zh-CN" sz="1600" dirty="0">
                          <a:latin typeface="微软雅黑" panose="020B0503020204020204" pitchFamily="34" charset="-122"/>
                          <a:ea typeface="微软雅黑" panose="020B0503020204020204" pitchFamily="34" charset="-122"/>
                        </a:rPr>
                        <a:t>0.1-10%(</a:t>
                      </a:r>
                      <a:r>
                        <a:rPr lang="zh-CN" altLang="en-US" sz="1600" dirty="0">
                          <a:latin typeface="微软雅黑" panose="020B0503020204020204" pitchFamily="34" charset="-122"/>
                          <a:ea typeface="微软雅黑" panose="020B0503020204020204" pitchFamily="34" charset="-122"/>
                        </a:rPr>
                        <a:t>重量</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氨基己酰胺</a:t>
                      </a:r>
                    </a:p>
                  </a:txBody>
                  <a:tcPr anchor="ctr"/>
                </a:tc>
                <a:extLst>
                  <a:ext uri="{0D108BD9-81ED-4DB2-BD59-A6C34878D82A}">
                    <a16:rowId xmlns:a16="http://schemas.microsoft.com/office/drawing/2014/main" val="2603990805"/>
                  </a:ext>
                </a:extLst>
              </a:tr>
            </a:tbl>
          </a:graphicData>
        </a:graphic>
      </p:graphicFrame>
      <p:sp>
        <p:nvSpPr>
          <p:cNvPr id="13" name="文本框 12">
            <a:extLst>
              <a:ext uri="{FF2B5EF4-FFF2-40B4-BE49-F238E27FC236}">
                <a16:creationId xmlns:a16="http://schemas.microsoft.com/office/drawing/2014/main" id="{70399900-A56B-D217-4874-EB3AB2CE2D77}"/>
              </a:ext>
            </a:extLst>
          </p:cNvPr>
          <p:cNvSpPr txBox="1"/>
          <p:nvPr/>
        </p:nvSpPr>
        <p:spPr>
          <a:xfrm>
            <a:off x="6725963" y="4666026"/>
            <a:ext cx="4841197" cy="1169551"/>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                                  图</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流程示意图</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a:</a:t>
            </a:r>
            <a:r>
              <a:rPr lang="zh-CN" altLang="en-US" sz="1400" dirty="0">
                <a:latin typeface="微软雅黑" panose="020B0503020204020204" pitchFamily="34" charset="-122"/>
                <a:ea typeface="微软雅黑" panose="020B0503020204020204" pitchFamily="34" charset="-122"/>
              </a:rPr>
              <a:t>含水原料，</a:t>
            </a:r>
            <a:r>
              <a:rPr lang="en-US" altLang="zh-CN" sz="1400" dirty="0">
                <a:latin typeface="微软雅黑" panose="020B0503020204020204" pitchFamily="34" charset="-122"/>
                <a:ea typeface="微软雅黑" panose="020B0503020204020204" pitchFamily="34" charset="-122"/>
              </a:rPr>
              <a:t>A:</a:t>
            </a:r>
            <a:r>
              <a:rPr lang="zh-CN" altLang="en-US" sz="1400" dirty="0">
                <a:latin typeface="微软雅黑" panose="020B0503020204020204" pitchFamily="34" charset="-122"/>
                <a:ea typeface="微软雅黑" panose="020B0503020204020204" pitchFamily="34" charset="-122"/>
              </a:rPr>
              <a:t>环化反应器，</a:t>
            </a:r>
            <a:r>
              <a:rPr lang="en-US" altLang="zh-CN" sz="1400" dirty="0">
                <a:latin typeface="微软雅黑" panose="020B0503020204020204" pitchFamily="34" charset="-122"/>
                <a:ea typeface="微软雅黑" panose="020B0503020204020204" pitchFamily="34" charset="-122"/>
              </a:rPr>
              <a:t>B:</a:t>
            </a:r>
            <a:r>
              <a:rPr lang="zh-CN" altLang="en-US" sz="1400" dirty="0">
                <a:latin typeface="微软雅黑" panose="020B0503020204020204" pitchFamily="34" charset="-122"/>
                <a:ea typeface="微软雅黑" panose="020B0503020204020204" pitchFamily="34" charset="-122"/>
              </a:rPr>
              <a:t>蒸馏区，</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氨，</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提取塔</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g:</a:t>
            </a:r>
            <a:r>
              <a:rPr lang="zh-CN" altLang="en-US" sz="1400" dirty="0">
                <a:latin typeface="微软雅黑" panose="020B0503020204020204" pitchFamily="34" charset="-122"/>
                <a:ea typeface="微软雅黑" panose="020B0503020204020204" pitchFamily="34" charset="-122"/>
              </a:rPr>
              <a:t>回洗水，</a:t>
            </a:r>
            <a:r>
              <a:rPr lang="en-US" altLang="zh-CN" sz="1400" dirty="0">
                <a:latin typeface="微软雅黑" panose="020B0503020204020204" pitchFamily="34" charset="-122"/>
                <a:ea typeface="微软雅黑" panose="020B0503020204020204" pitchFamily="34" charset="-122"/>
              </a:rPr>
              <a:t>h:</a:t>
            </a:r>
            <a:r>
              <a:rPr lang="zh-CN" altLang="en-US" sz="1400" dirty="0">
                <a:latin typeface="微软雅黑" panose="020B0503020204020204" pitchFamily="34" charset="-122"/>
                <a:ea typeface="微软雅黑" panose="020B0503020204020204" pitchFamily="34" charset="-122"/>
              </a:rPr>
              <a:t>醇溶剂，</a:t>
            </a:r>
            <a:r>
              <a:rPr lang="en-US" altLang="zh-CN" sz="1400" dirty="0">
                <a:latin typeface="微软雅黑" panose="020B0503020204020204" pitchFamily="34" charset="-122"/>
                <a:ea typeface="微软雅黑" panose="020B0503020204020204" pitchFamily="34" charset="-122"/>
              </a:rPr>
              <a:t>e:</a:t>
            </a:r>
            <a:r>
              <a:rPr lang="zh-CN" altLang="en-US" sz="1400" dirty="0">
                <a:latin typeface="微软雅黑" panose="020B0503020204020204" pitchFamily="34" charset="-122"/>
                <a:ea typeface="微软雅黑" panose="020B0503020204020204" pitchFamily="34" charset="-122"/>
              </a:rPr>
              <a:t>醇提取相，</a:t>
            </a:r>
            <a:r>
              <a:rPr lang="en-US" altLang="zh-CN" sz="1400" dirty="0">
                <a:latin typeface="微软雅黑" panose="020B0503020204020204" pitchFamily="34" charset="-122"/>
                <a:ea typeface="微软雅黑" panose="020B0503020204020204" pitchFamily="34" charset="-122"/>
              </a:rPr>
              <a:t>D:</a:t>
            </a:r>
            <a:r>
              <a:rPr lang="zh-CN" altLang="en-US" sz="1400" dirty="0">
                <a:latin typeface="微软雅黑" panose="020B0503020204020204" pitchFamily="34" charset="-122"/>
                <a:ea typeface="微软雅黑" panose="020B0503020204020204" pitchFamily="34" charset="-122"/>
              </a:rPr>
              <a:t>蒸馏塔，</a:t>
            </a:r>
            <a:r>
              <a:rPr lang="en-US" altLang="zh-CN" sz="1400" dirty="0">
                <a:latin typeface="微软雅黑" panose="020B0503020204020204" pitchFamily="34" charset="-122"/>
                <a:ea typeface="微软雅黑" panose="020B0503020204020204" pitchFamily="34" charset="-122"/>
              </a:rPr>
              <a:t>j:</a:t>
            </a:r>
            <a:r>
              <a:rPr lang="zh-CN" altLang="en-US" sz="1400" dirty="0">
                <a:latin typeface="微软雅黑" panose="020B0503020204020204" pitchFamily="34" charset="-122"/>
                <a:ea typeface="微软雅黑" panose="020B0503020204020204" pitchFamily="34" charset="-122"/>
              </a:rPr>
              <a:t>低沸点醇</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和溶解的水，</a:t>
            </a:r>
            <a:r>
              <a:rPr lang="en-US" altLang="zh-CN" sz="1400" dirty="0">
                <a:latin typeface="微软雅黑" panose="020B0503020204020204" pitchFamily="34" charset="-122"/>
                <a:ea typeface="微软雅黑" panose="020B0503020204020204" pitchFamily="34" charset="-122"/>
              </a:rPr>
              <a:t>i:</a:t>
            </a:r>
            <a:r>
              <a:rPr lang="zh-CN" altLang="en-US" sz="1400" dirty="0">
                <a:latin typeface="微软雅黑" panose="020B0503020204020204" pitchFamily="34" charset="-122"/>
                <a:ea typeface="微软雅黑" panose="020B0503020204020204" pitchFamily="34" charset="-122"/>
              </a:rPr>
              <a:t>己内酰胺产物，</a:t>
            </a:r>
            <a:r>
              <a:rPr lang="en-US" altLang="zh-CN" sz="1400" dirty="0">
                <a:latin typeface="微软雅黑" panose="020B0503020204020204" pitchFamily="34" charset="-122"/>
                <a:ea typeface="微软雅黑" panose="020B0503020204020204" pitchFamily="34" charset="-122"/>
              </a:rPr>
              <a:t>E:</a:t>
            </a:r>
            <a:r>
              <a:rPr lang="zh-CN" altLang="en-US" sz="1400" dirty="0">
                <a:latin typeface="微软雅黑" panose="020B0503020204020204" pitchFamily="34" charset="-122"/>
                <a:ea typeface="微软雅黑" panose="020B0503020204020204" pitchFamily="34" charset="-122"/>
              </a:rPr>
              <a:t>液液分离器，</a:t>
            </a:r>
            <a:r>
              <a:rPr lang="en-US" altLang="zh-CN" sz="1400" dirty="0">
                <a:latin typeface="微软雅黑" panose="020B0503020204020204" pitchFamily="34" charset="-122"/>
                <a:ea typeface="微软雅黑" panose="020B0503020204020204" pitchFamily="34" charset="-122"/>
              </a:rPr>
              <a:t>f:</a:t>
            </a:r>
            <a:r>
              <a:rPr lang="zh-CN" altLang="en-US" sz="1400" dirty="0">
                <a:latin typeface="微软雅黑" panose="020B0503020204020204" pitchFamily="34" charset="-122"/>
                <a:ea typeface="微软雅黑" panose="020B0503020204020204" pitchFamily="34" charset="-122"/>
              </a:rPr>
              <a:t>水提余液相</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F:</a:t>
            </a:r>
            <a:r>
              <a:rPr lang="zh-CN" altLang="en-US" sz="1400" dirty="0">
                <a:latin typeface="微软雅黑" panose="020B0503020204020204" pitchFamily="34" charset="-122"/>
                <a:ea typeface="微软雅黑" panose="020B0503020204020204" pitchFamily="34" charset="-122"/>
              </a:rPr>
              <a:t>汽提塔，</a:t>
            </a:r>
            <a:r>
              <a:rPr lang="en-US" altLang="zh-CN" sz="1400" dirty="0">
                <a:latin typeface="微软雅黑" panose="020B0503020204020204" pitchFamily="34" charset="-122"/>
                <a:ea typeface="微软雅黑" panose="020B0503020204020204" pitchFamily="34" charset="-122"/>
              </a:rPr>
              <a:t>k:</a:t>
            </a:r>
            <a:r>
              <a:rPr lang="zh-CN" altLang="en-US" sz="1400" dirty="0">
                <a:latin typeface="微软雅黑" panose="020B0503020204020204" pitchFamily="34" charset="-122"/>
                <a:ea typeface="微软雅黑" panose="020B0503020204020204" pitchFamily="34" charset="-122"/>
              </a:rPr>
              <a:t>含水混合物</a:t>
            </a:r>
          </a:p>
        </p:txBody>
      </p:sp>
      <p:sp>
        <p:nvSpPr>
          <p:cNvPr id="15" name="文本框 14">
            <a:extLst>
              <a:ext uri="{FF2B5EF4-FFF2-40B4-BE49-F238E27FC236}">
                <a16:creationId xmlns:a16="http://schemas.microsoft.com/office/drawing/2014/main" id="{60AC1302-9DC8-C592-BA7F-27D4C2EA5C01}"/>
              </a:ext>
            </a:extLst>
          </p:cNvPr>
          <p:cNvSpPr txBox="1"/>
          <p:nvPr/>
        </p:nvSpPr>
        <p:spPr>
          <a:xfrm>
            <a:off x="325966" y="4606618"/>
            <a:ext cx="6081273" cy="134690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提取步骤在足够高的温度下易避免低聚物的沉淀，优选在</a:t>
            </a:r>
            <a:r>
              <a:rPr lang="en-US" altLang="zh-CN" sz="1400" dirty="0">
                <a:solidFill>
                  <a:srgbClr val="FF0000"/>
                </a:solidFill>
                <a:latin typeface="微软雅黑" panose="020B0503020204020204" pitchFamily="34" charset="-122"/>
                <a:ea typeface="微软雅黑" panose="020B0503020204020204" pitchFamily="34" charset="-122"/>
              </a:rPr>
              <a:t>50-130</a:t>
            </a:r>
            <a:r>
              <a:rPr lang="zh-CN" altLang="en-US" sz="1400" dirty="0">
                <a:solidFill>
                  <a:srgbClr val="FF0000"/>
                </a:solidFill>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之间</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提取的</a:t>
            </a:r>
            <a:r>
              <a:rPr lang="en-US" altLang="zh-CN" sz="1400" dirty="0">
                <a:latin typeface="微软雅黑" panose="020B0503020204020204" pitchFamily="34" charset="-122"/>
                <a:ea typeface="微软雅黑" panose="020B0503020204020204" pitchFamily="34" charset="-122"/>
              </a:rPr>
              <a:t>ε-</a:t>
            </a:r>
            <a:r>
              <a:rPr lang="zh-CN" altLang="en-US" sz="1400" dirty="0">
                <a:latin typeface="微软雅黑" panose="020B0503020204020204" pitchFamily="34" charset="-122"/>
                <a:ea typeface="微软雅黑" panose="020B0503020204020204" pitchFamily="34" charset="-122"/>
              </a:rPr>
              <a:t>己内酰胺可通过蒸馏和萃取从醇相中回收，</a:t>
            </a:r>
            <a:r>
              <a:rPr lang="zh-CN" altLang="en-US" sz="1400" dirty="0">
                <a:solidFill>
                  <a:srgbClr val="FF0000"/>
                </a:solidFill>
                <a:latin typeface="微软雅黑" panose="020B0503020204020204" pitchFamily="34" charset="-122"/>
                <a:ea typeface="微软雅黑" panose="020B0503020204020204" pitchFamily="34" charset="-122"/>
              </a:rPr>
              <a:t>优选蒸馏</a:t>
            </a:r>
            <a:endParaRPr lang="en-US" altLang="zh-CN" sz="14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优选的醇对</a:t>
            </a:r>
            <a:r>
              <a:rPr lang="en-US" altLang="zh-CN" sz="1400" dirty="0">
                <a:latin typeface="微软雅黑" panose="020B0503020204020204" pitchFamily="34" charset="-122"/>
                <a:ea typeface="微软雅黑" panose="020B0503020204020204" pitchFamily="34" charset="-122"/>
              </a:rPr>
              <a:t>ε-</a:t>
            </a:r>
            <a:r>
              <a:rPr lang="zh-CN" altLang="en-US" sz="1400" dirty="0">
                <a:latin typeface="微软雅黑" panose="020B0503020204020204" pitchFamily="34" charset="-122"/>
                <a:ea typeface="微软雅黑" panose="020B0503020204020204" pitchFamily="34" charset="-122"/>
              </a:rPr>
              <a:t>己内酰胺有高的亲和力，</a:t>
            </a:r>
            <a:r>
              <a:rPr lang="zh-CN" altLang="en-US" sz="1400" dirty="0">
                <a:solidFill>
                  <a:srgbClr val="FF0000"/>
                </a:solidFill>
                <a:latin typeface="微软雅黑" panose="020B0503020204020204" pitchFamily="34" charset="-122"/>
                <a:ea typeface="微软雅黑" panose="020B0503020204020204" pitchFamily="34" charset="-122"/>
              </a:rPr>
              <a:t>比</a:t>
            </a:r>
            <a:r>
              <a:rPr lang="en-US" altLang="zh-CN" sz="1400" dirty="0">
                <a:solidFill>
                  <a:srgbClr val="FF0000"/>
                </a:solidFill>
                <a:latin typeface="微软雅黑" panose="020B0503020204020204" pitchFamily="34" charset="-122"/>
                <a:ea typeface="微软雅黑" panose="020B0503020204020204" pitchFamily="34" charset="-122"/>
              </a:rPr>
              <a:t>ε-</a:t>
            </a:r>
            <a:r>
              <a:rPr lang="zh-CN" altLang="en-US" sz="1400" dirty="0">
                <a:solidFill>
                  <a:srgbClr val="FF0000"/>
                </a:solidFill>
                <a:latin typeface="微软雅黑" panose="020B0503020204020204" pitchFamily="34" charset="-122"/>
                <a:ea typeface="微软雅黑" panose="020B0503020204020204" pitchFamily="34" charset="-122"/>
              </a:rPr>
              <a:t>己内酰胺沸点低，与水的密度差大，与水低互溶。</a:t>
            </a:r>
          </a:p>
        </p:txBody>
      </p:sp>
      <p:sp>
        <p:nvSpPr>
          <p:cNvPr id="16" name="文本框 15">
            <a:extLst>
              <a:ext uri="{FF2B5EF4-FFF2-40B4-BE49-F238E27FC236}">
                <a16:creationId xmlns:a16="http://schemas.microsoft.com/office/drawing/2014/main" id="{877CEEC1-F1F3-0EF7-B9E6-4A6CB9C1FC2C}"/>
              </a:ext>
            </a:extLst>
          </p:cNvPr>
          <p:cNvSpPr txBox="1"/>
          <p:nvPr/>
        </p:nvSpPr>
        <p:spPr>
          <a:xfrm>
            <a:off x="1732209" y="6218432"/>
            <a:ext cx="5428444" cy="415498"/>
          </a:xfrm>
          <a:prstGeom prst="rect">
            <a:avLst/>
          </a:prstGeom>
          <a:noFill/>
        </p:spPr>
        <p:txBody>
          <a:bodyPr wrap="square" rtlCol="0">
            <a:spAutoFit/>
          </a:bodyPr>
          <a:lstStyle/>
          <a:p>
            <a:r>
              <a:rPr lang="en-US" altLang="zh-CN" sz="1050" dirty="0">
                <a:latin typeface="微软雅黑" panose="020B0503020204020204" pitchFamily="34" charset="-122"/>
                <a:ea typeface="微软雅黑" panose="020B0503020204020204" pitchFamily="34" charset="-122"/>
              </a:rPr>
              <a:t>[1]R·P·M·</a:t>
            </a:r>
            <a:r>
              <a:rPr lang="zh-CN" altLang="en-US" sz="1050" dirty="0">
                <a:latin typeface="微软雅黑" panose="020B0503020204020204" pitchFamily="34" charset="-122"/>
                <a:ea typeface="微软雅黑" panose="020B0503020204020204" pitchFamily="34" charset="-122"/>
              </a:rPr>
              <a:t>圭特 </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从</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－氨基己酰胺和</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－氨基己酰胺低聚物分离</a:t>
            </a:r>
            <a:r>
              <a:rPr lang="en-US" altLang="zh-CN" sz="1050" dirty="0">
                <a:latin typeface="微软雅黑" panose="020B0503020204020204" pitchFamily="34" charset="-122"/>
                <a:ea typeface="微软雅黑" panose="020B0503020204020204" pitchFamily="34" charset="-122"/>
              </a:rPr>
              <a:t>ε</a:t>
            </a:r>
            <a:r>
              <a:rPr lang="zh-CN" altLang="en-US" sz="1050" dirty="0">
                <a:latin typeface="微软雅黑" panose="020B0503020204020204" pitchFamily="34" charset="-122"/>
                <a:ea typeface="微软雅黑" panose="020B0503020204020204" pitchFamily="34" charset="-122"/>
              </a:rPr>
              <a:t>－己内酰胺的方法</a:t>
            </a:r>
            <a:r>
              <a:rPr lang="en-US" altLang="zh-CN" sz="1050" dirty="0">
                <a:latin typeface="微软雅黑" panose="020B0503020204020204" pitchFamily="34" charset="-122"/>
                <a:ea typeface="微软雅黑" panose="020B0503020204020204" pitchFamily="34" charset="-122"/>
              </a:rPr>
              <a:t>[P].</a:t>
            </a:r>
          </a:p>
          <a:p>
            <a:r>
              <a:rPr lang="zh-CN" altLang="en-US" sz="1050" dirty="0">
                <a:latin typeface="微软雅黑" panose="020B0503020204020204" pitchFamily="34" charset="-122"/>
                <a:ea typeface="微软雅黑" panose="020B0503020204020204" pitchFamily="34" charset="-122"/>
              </a:rPr>
              <a:t>荷兰</a:t>
            </a:r>
            <a:r>
              <a:rPr lang="en-US" altLang="zh-CN" sz="1050" dirty="0">
                <a:latin typeface="微软雅黑" panose="020B0503020204020204" pitchFamily="34" charset="-122"/>
                <a:ea typeface="微软雅黑" panose="020B0503020204020204" pitchFamily="34" charset="-122"/>
              </a:rPr>
              <a:t>:CN97180750.7,2003-01-22</a:t>
            </a:r>
            <a:r>
              <a:rPr lang="en-US" altLang="zh-CN" sz="1050" dirty="0"/>
              <a:t>.</a:t>
            </a:r>
            <a:endParaRPr lang="zh-CN" altLang="en-US" sz="1050" dirty="0"/>
          </a:p>
        </p:txBody>
      </p:sp>
    </p:spTree>
    <p:extLst>
      <p:ext uri="{BB962C8B-B14F-4D97-AF65-F5344CB8AC3E}">
        <p14:creationId xmlns:p14="http://schemas.microsoft.com/office/powerpoint/2010/main" val="890935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296585" y="6272026"/>
            <a:ext cx="82852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4</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6">
            <a:extLst>
              <a:ext uri="{FF2B5EF4-FFF2-40B4-BE49-F238E27FC236}">
                <a16:creationId xmlns:a16="http://schemas.microsoft.com/office/drawing/2014/main" id="{4C656F8D-E90D-D111-C8CC-399442A117B9}"/>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sp>
        <p:nvSpPr>
          <p:cNvPr id="16" name="文本框 15">
            <a:extLst>
              <a:ext uri="{FF2B5EF4-FFF2-40B4-BE49-F238E27FC236}">
                <a16:creationId xmlns:a16="http://schemas.microsoft.com/office/drawing/2014/main" id="{94EF7162-6821-BC0C-BA13-174A8A24B777}"/>
              </a:ext>
            </a:extLst>
          </p:cNvPr>
          <p:cNvSpPr txBox="1"/>
          <p:nvPr/>
        </p:nvSpPr>
        <p:spPr>
          <a:xfrm>
            <a:off x="156631" y="849949"/>
            <a:ext cx="6103335" cy="1446550"/>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专利</a:t>
            </a:r>
            <a:r>
              <a:rPr lang="en-US" altLang="zh-CN" sz="1600" b="0" i="0" dirty="0">
                <a:solidFill>
                  <a:srgbClr val="FF0000"/>
                </a:solidFill>
                <a:effectLst/>
                <a:highlight>
                  <a:srgbClr val="FFFFFF"/>
                </a:highlight>
                <a:latin typeface="Microsoft YaHei" panose="020B0503020204020204" pitchFamily="34" charset="-122"/>
                <a:ea typeface="Microsoft YaHei" panose="020B0503020204020204" pitchFamily="34" charset="-122"/>
              </a:rPr>
              <a:t>CN112500304A</a:t>
            </a:r>
            <a:r>
              <a:rPr lang="zh-CN" altLang="en-US" sz="1600" b="0" i="0" dirty="0">
                <a:effectLst/>
                <a:highlight>
                  <a:srgbClr val="FFFFFF"/>
                </a:highlight>
                <a:latin typeface="Microsoft YaHei" panose="020B0503020204020204" pitchFamily="34" charset="-122"/>
                <a:ea typeface="Microsoft YaHei" panose="020B0503020204020204" pitchFamily="34" charset="-122"/>
              </a:rPr>
              <a:t>公开了一种</a:t>
            </a:r>
            <a:r>
              <a:rPr lang="en-US" altLang="zh-CN" sz="1600" b="0" i="0" dirty="0">
                <a:effectLst/>
                <a:highlight>
                  <a:srgbClr val="FFFFFF"/>
                </a:highlight>
                <a:latin typeface="Microsoft YaHei" panose="020B0503020204020204" pitchFamily="34" charset="-122"/>
                <a:ea typeface="Microsoft YaHei" panose="020B0503020204020204" pitchFamily="34" charset="-122"/>
              </a:rPr>
              <a:t>6-</a:t>
            </a:r>
            <a:r>
              <a:rPr lang="zh-CN" altLang="en-US" sz="1600" b="0" i="0" dirty="0">
                <a:effectLst/>
                <a:highlight>
                  <a:srgbClr val="FFFFFF"/>
                </a:highlight>
                <a:latin typeface="Microsoft YaHei" panose="020B0503020204020204" pitchFamily="34" charset="-122"/>
                <a:ea typeface="Microsoft YaHei" panose="020B0503020204020204" pitchFamily="34" charset="-122"/>
              </a:rPr>
              <a:t>氨基己酸的制备方法，以己内酰胺为原料，经碱性水解、中和处理、脱盐处理、</a:t>
            </a:r>
            <a:r>
              <a:rPr lang="zh-CN" altLang="en-US" sz="1600" dirty="0">
                <a:highlight>
                  <a:srgbClr val="FFFFFF"/>
                </a:highlight>
                <a:latin typeface="Microsoft YaHei" panose="020B0503020204020204" pitchFamily="34" charset="-122"/>
                <a:ea typeface="Microsoft YaHei" panose="020B0503020204020204" pitchFamily="34" charset="-122"/>
              </a:rPr>
              <a:t>精制处理得到，精制部分以</a:t>
            </a:r>
            <a:r>
              <a:rPr lang="zh-CN" altLang="en-US" sz="1600" dirty="0">
                <a:solidFill>
                  <a:srgbClr val="FF0000"/>
                </a:solidFill>
                <a:highlight>
                  <a:srgbClr val="FFFFFF"/>
                </a:highlight>
                <a:latin typeface="Microsoft YaHei" panose="020B0503020204020204" pitchFamily="34" charset="-122"/>
                <a:ea typeface="Microsoft YaHei" panose="020B0503020204020204" pitchFamily="34" charset="-122"/>
              </a:rPr>
              <a:t>乙醇</a:t>
            </a:r>
            <a:r>
              <a:rPr lang="zh-CN" altLang="en-US" sz="1600" dirty="0">
                <a:highlight>
                  <a:srgbClr val="FFFFFF"/>
                </a:highlight>
                <a:latin typeface="Microsoft YaHei" panose="020B0503020204020204" pitchFamily="34" charset="-122"/>
                <a:ea typeface="Microsoft YaHei" panose="020B0503020204020204" pitchFamily="34" charset="-122"/>
              </a:rPr>
              <a:t>为溶剂通过</a:t>
            </a:r>
            <a:r>
              <a:rPr lang="zh-CN" altLang="en-US" sz="1600" dirty="0">
                <a:solidFill>
                  <a:srgbClr val="FF0000"/>
                </a:solidFill>
                <a:highlight>
                  <a:srgbClr val="FFFFFF"/>
                </a:highlight>
                <a:latin typeface="Microsoft YaHei" panose="020B0503020204020204" pitchFamily="34" charset="-122"/>
                <a:ea typeface="Microsoft YaHei" panose="020B0503020204020204" pitchFamily="34" charset="-122"/>
              </a:rPr>
              <a:t>重结晶</a:t>
            </a:r>
            <a:r>
              <a:rPr lang="zh-CN" altLang="en-US" sz="1600" dirty="0">
                <a:highlight>
                  <a:srgbClr val="FFFFFF"/>
                </a:highlight>
                <a:latin typeface="Microsoft YaHei" panose="020B0503020204020204" pitchFamily="34" charset="-122"/>
                <a:ea typeface="Microsoft YaHei" panose="020B0503020204020204" pitchFamily="34" charset="-122"/>
              </a:rPr>
              <a:t>方式进行</a:t>
            </a:r>
            <a:r>
              <a:rPr lang="zh-CN" altLang="en-US" sz="1600" b="0" i="0" dirty="0">
                <a:effectLst/>
                <a:highlight>
                  <a:srgbClr val="FFFFFF"/>
                </a:highlight>
                <a:latin typeface="Microsoft YaHei" panose="020B0503020204020204" pitchFamily="34" charset="-122"/>
                <a:ea typeface="Microsoft YaHei" panose="020B0503020204020204" pitchFamily="34" charset="-122"/>
              </a:rPr>
              <a:t>分离。</a:t>
            </a:r>
            <a:endParaRPr lang="en-US" altLang="zh-CN" sz="1600" b="0" i="0" dirty="0">
              <a:effectLst/>
              <a:highlight>
                <a:srgbClr val="FFFFFF"/>
              </a:highlight>
              <a:latin typeface="Microsoft YaHei" panose="020B0503020204020204" pitchFamily="34" charset="-122"/>
              <a:ea typeface="Microsoft YaHei" panose="020B0503020204020204" pitchFamily="34" charset="-122"/>
            </a:endParaRPr>
          </a:p>
          <a:p>
            <a:endParaRPr lang="zh-CN" altLang="en-US" sz="1600" dirty="0">
              <a:latin typeface="微软雅黑" panose="020B0503020204020204" pitchFamily="34" charset="-122"/>
              <a:ea typeface="微软雅黑" panose="020B0503020204020204" pitchFamily="34" charset="-122"/>
            </a:endParaRPr>
          </a:p>
        </p:txBody>
      </p:sp>
      <p:pic>
        <p:nvPicPr>
          <p:cNvPr id="18" name="图片 17">
            <a:extLst>
              <a:ext uri="{FF2B5EF4-FFF2-40B4-BE49-F238E27FC236}">
                <a16:creationId xmlns:a16="http://schemas.microsoft.com/office/drawing/2014/main" id="{8B8D2420-B6B6-D8FD-D889-6E0031BA55AA}"/>
              </a:ext>
            </a:extLst>
          </p:cNvPr>
          <p:cNvPicPr>
            <a:picLocks noChangeAspect="1"/>
          </p:cNvPicPr>
          <p:nvPr/>
        </p:nvPicPr>
        <p:blipFill>
          <a:blip r:embed="rId6"/>
          <a:stretch>
            <a:fillRect/>
          </a:stretch>
        </p:blipFill>
        <p:spPr>
          <a:xfrm>
            <a:off x="156631" y="2461023"/>
            <a:ext cx="6103336" cy="2982375"/>
          </a:xfrm>
          <a:prstGeom prst="rect">
            <a:avLst/>
          </a:prstGeom>
        </p:spPr>
      </p:pic>
      <p:sp>
        <p:nvSpPr>
          <p:cNvPr id="20" name="文本框 19">
            <a:extLst>
              <a:ext uri="{FF2B5EF4-FFF2-40B4-BE49-F238E27FC236}">
                <a16:creationId xmlns:a16="http://schemas.microsoft.com/office/drawing/2014/main" id="{5DDDF9F3-B30C-1730-FCA0-B36A9FFE1FEE}"/>
              </a:ext>
            </a:extLst>
          </p:cNvPr>
          <p:cNvSpPr txBox="1"/>
          <p:nvPr/>
        </p:nvSpPr>
        <p:spPr>
          <a:xfrm>
            <a:off x="6638641" y="849949"/>
            <a:ext cx="4992002" cy="787523"/>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崔利用己内酰胺制备氨基己酸，精制部分通过减压浓缩，用无水乙醇析出氨基己酸结晶。</a:t>
            </a:r>
          </a:p>
        </p:txBody>
      </p:sp>
      <p:pic>
        <p:nvPicPr>
          <p:cNvPr id="22" name="图片 21">
            <a:extLst>
              <a:ext uri="{FF2B5EF4-FFF2-40B4-BE49-F238E27FC236}">
                <a16:creationId xmlns:a16="http://schemas.microsoft.com/office/drawing/2014/main" id="{6CBA90F3-644C-6917-B26B-E04977ECFD32}"/>
              </a:ext>
            </a:extLst>
          </p:cNvPr>
          <p:cNvPicPr>
            <a:picLocks noChangeAspect="1"/>
          </p:cNvPicPr>
          <p:nvPr/>
        </p:nvPicPr>
        <p:blipFill>
          <a:blip r:embed="rId7"/>
          <a:stretch>
            <a:fillRect/>
          </a:stretch>
        </p:blipFill>
        <p:spPr>
          <a:xfrm>
            <a:off x="6638641" y="1910208"/>
            <a:ext cx="5225547" cy="2103598"/>
          </a:xfrm>
          <a:prstGeom prst="rect">
            <a:avLst/>
          </a:prstGeom>
        </p:spPr>
      </p:pic>
      <p:sp>
        <p:nvSpPr>
          <p:cNvPr id="23" name="文本框 22">
            <a:extLst>
              <a:ext uri="{FF2B5EF4-FFF2-40B4-BE49-F238E27FC236}">
                <a16:creationId xmlns:a16="http://schemas.microsoft.com/office/drawing/2014/main" id="{9CBCC14A-7CC3-492B-7F6D-42CFE8BFD7C0}"/>
              </a:ext>
            </a:extLst>
          </p:cNvPr>
          <p:cNvSpPr txBox="1"/>
          <p:nvPr/>
        </p:nvSpPr>
        <p:spPr>
          <a:xfrm>
            <a:off x="6638641" y="4286543"/>
            <a:ext cx="4903907" cy="1156855"/>
          </a:xfrm>
          <a:prstGeom prst="rect">
            <a:avLst/>
          </a:prstGeom>
          <a:noFill/>
        </p:spPr>
        <p:txBody>
          <a:bodyPr wrap="none" rtlCol="0" anchor="ctr">
            <a:spAutoFit/>
          </a:bodyPr>
          <a:lstStyle/>
          <a:p>
            <a:pPr>
              <a:lnSpc>
                <a:spcPct val="150000"/>
              </a:lnSpc>
            </a:pPr>
            <a:r>
              <a:rPr lang="zh-CN" altLang="en-US" sz="16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由上表可以看出，残余液越多，加入乙醇析出结晶</a:t>
            </a:r>
            <a:endParaRPr lang="en-US" altLang="zh-CN" sz="16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16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损失较大，氨基己酸收率越低，当残余液量过多时，</a:t>
            </a:r>
            <a:endParaRPr lang="en-US" altLang="zh-CN" sz="16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a:p>
            <a:pPr>
              <a:lnSpc>
                <a:spcPct val="150000"/>
              </a:lnSpc>
            </a:pPr>
            <a:r>
              <a:rPr lang="zh-CN" altLang="en-US" sz="16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加入乙醇后形成互溶液，无结晶析出。</a:t>
            </a:r>
          </a:p>
        </p:txBody>
      </p:sp>
      <p:sp>
        <p:nvSpPr>
          <p:cNvPr id="24" name="文本框 23">
            <a:extLst>
              <a:ext uri="{FF2B5EF4-FFF2-40B4-BE49-F238E27FC236}">
                <a16:creationId xmlns:a16="http://schemas.microsoft.com/office/drawing/2014/main" id="{739CEC98-0495-A910-DE78-F0300D3B7B9A}"/>
              </a:ext>
            </a:extLst>
          </p:cNvPr>
          <p:cNvSpPr txBox="1"/>
          <p:nvPr/>
        </p:nvSpPr>
        <p:spPr>
          <a:xfrm>
            <a:off x="1693573" y="6246839"/>
            <a:ext cx="5740674" cy="415498"/>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[1]</a:t>
            </a:r>
            <a:r>
              <a:rPr lang="zh-CN" altLang="en-US" sz="1050" dirty="0">
                <a:latin typeface="微软雅黑" panose="020B0503020204020204" pitchFamily="34" charset="-122"/>
                <a:ea typeface="微软雅黑" panose="020B0503020204020204" pitchFamily="34" charset="-122"/>
              </a:rPr>
              <a:t>崔焕茹</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利用己内酰胺制取氨基己酸</a:t>
            </a:r>
            <a:r>
              <a:rPr lang="en-US" altLang="zh-CN" sz="1050" dirty="0">
                <a:latin typeface="微软雅黑" panose="020B0503020204020204" pitchFamily="34" charset="-122"/>
                <a:ea typeface="微软雅黑" panose="020B0503020204020204" pitchFamily="34" charset="-122"/>
              </a:rPr>
              <a:t>[J].</a:t>
            </a:r>
            <a:r>
              <a:rPr lang="zh-CN" altLang="en-US" sz="1050" dirty="0">
                <a:latin typeface="微软雅黑" panose="020B0503020204020204" pitchFamily="34" charset="-122"/>
                <a:ea typeface="微软雅黑" panose="020B0503020204020204" pitchFamily="34" charset="-122"/>
              </a:rPr>
              <a:t>河北化工</a:t>
            </a:r>
            <a:r>
              <a:rPr lang="en-US" altLang="zh-CN" sz="1050" dirty="0">
                <a:latin typeface="微软雅黑" panose="020B0503020204020204" pitchFamily="34" charset="-122"/>
                <a:ea typeface="微软雅黑" panose="020B0503020204020204" pitchFamily="34" charset="-122"/>
              </a:rPr>
              <a:t>,2003,(04):24-25.</a:t>
            </a:r>
          </a:p>
          <a:p>
            <a:r>
              <a:rPr lang="en-US" altLang="zh-CN" sz="1050" dirty="0">
                <a:latin typeface="微软雅黑" panose="020B0503020204020204" pitchFamily="34" charset="-122"/>
                <a:ea typeface="微软雅黑" panose="020B0503020204020204" pitchFamily="34" charset="-122"/>
              </a:rPr>
              <a:t>[2]</a:t>
            </a:r>
            <a:r>
              <a:rPr lang="zh-CN" altLang="en-US" sz="1050" dirty="0">
                <a:latin typeface="微软雅黑" panose="020B0503020204020204" pitchFamily="34" charset="-122"/>
                <a:ea typeface="微软雅黑" panose="020B0503020204020204" pitchFamily="34" charset="-122"/>
              </a:rPr>
              <a:t>马斌</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吴燕枫</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尹文娟</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等</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氨基己酸的制备方法</a:t>
            </a:r>
            <a:r>
              <a:rPr lang="en-US" altLang="zh-CN" sz="1050" dirty="0">
                <a:latin typeface="微软雅黑" panose="020B0503020204020204" pitchFamily="34" charset="-122"/>
                <a:ea typeface="微软雅黑" panose="020B0503020204020204" pitchFamily="34" charset="-122"/>
              </a:rPr>
              <a:t>[P].</a:t>
            </a:r>
            <a:r>
              <a:rPr lang="zh-CN" altLang="en-US" sz="1050" dirty="0">
                <a:latin typeface="微软雅黑" panose="020B0503020204020204" pitchFamily="34" charset="-122"/>
                <a:ea typeface="微软雅黑" panose="020B0503020204020204" pitchFamily="34" charset="-122"/>
              </a:rPr>
              <a:t>江苏省</a:t>
            </a:r>
            <a:r>
              <a:rPr lang="en-US" altLang="zh-CN" sz="1050" dirty="0">
                <a:latin typeface="微软雅黑" panose="020B0503020204020204" pitchFamily="34" charset="-122"/>
                <a:ea typeface="微软雅黑" panose="020B0503020204020204" pitchFamily="34" charset="-122"/>
              </a:rPr>
              <a:t>:CN202011635755.0,2021-03-16.</a:t>
            </a:r>
          </a:p>
        </p:txBody>
      </p:sp>
    </p:spTree>
    <p:extLst>
      <p:ext uri="{BB962C8B-B14F-4D97-AF65-F5344CB8AC3E}">
        <p14:creationId xmlns:p14="http://schemas.microsoft.com/office/powerpoint/2010/main" val="3525647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296585" y="6272026"/>
            <a:ext cx="82852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5</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6">
            <a:extLst>
              <a:ext uri="{FF2B5EF4-FFF2-40B4-BE49-F238E27FC236}">
                <a16:creationId xmlns:a16="http://schemas.microsoft.com/office/drawing/2014/main" id="{4C656F8D-E90D-D111-C8CC-399442A117B9}"/>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sp>
        <p:nvSpPr>
          <p:cNvPr id="2" name="文本框 1">
            <a:extLst>
              <a:ext uri="{FF2B5EF4-FFF2-40B4-BE49-F238E27FC236}">
                <a16:creationId xmlns:a16="http://schemas.microsoft.com/office/drawing/2014/main" id="{F0A7CD63-871F-8C2C-BC13-11D2FBE6C4F4}"/>
              </a:ext>
            </a:extLst>
          </p:cNvPr>
          <p:cNvSpPr txBox="1"/>
          <p:nvPr/>
        </p:nvSpPr>
        <p:spPr>
          <a:xfrm>
            <a:off x="506306" y="645161"/>
            <a:ext cx="4539588" cy="792205"/>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专利</a:t>
            </a:r>
            <a:r>
              <a:rPr lang="en-US" altLang="zh-CN" sz="1600" b="0" i="0" dirty="0">
                <a:effectLst/>
                <a:latin typeface="微软雅黑" panose="020B0503020204020204" pitchFamily="34" charset="-122"/>
                <a:ea typeface="微软雅黑" panose="020B0503020204020204" pitchFamily="34" charset="-122"/>
              </a:rPr>
              <a:t>CN102686562B</a:t>
            </a:r>
            <a:r>
              <a:rPr lang="zh-CN" altLang="en-US" sz="1600" dirty="0">
                <a:latin typeface="微软雅黑" panose="020B0503020204020204" pitchFamily="34" charset="-122"/>
                <a:ea typeface="微软雅黑" panose="020B0503020204020204" pitchFamily="34" charset="-122"/>
              </a:rPr>
              <a:t>公开了一种用发酵过程得到的</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氨基己酸来制备己内酰胺的方法。流程如下</a:t>
            </a:r>
            <a:r>
              <a:rPr lang="zh-CN" altLang="en-US" sz="1600" dirty="0"/>
              <a:t>：</a:t>
            </a:r>
          </a:p>
        </p:txBody>
      </p:sp>
      <p:graphicFrame>
        <p:nvGraphicFramePr>
          <p:cNvPr id="3" name="图示 2">
            <a:extLst>
              <a:ext uri="{FF2B5EF4-FFF2-40B4-BE49-F238E27FC236}">
                <a16:creationId xmlns:a16="http://schemas.microsoft.com/office/drawing/2014/main" id="{CE2A77AD-E321-2643-C17E-D9CC99B3C79E}"/>
              </a:ext>
            </a:extLst>
          </p:cNvPr>
          <p:cNvGraphicFramePr/>
          <p:nvPr>
            <p:extLst>
              <p:ext uri="{D42A27DB-BD31-4B8C-83A1-F6EECF244321}">
                <p14:modId xmlns:p14="http://schemas.microsoft.com/office/powerpoint/2010/main" val="367221882"/>
              </p:ext>
            </p:extLst>
          </p:nvPr>
        </p:nvGraphicFramePr>
        <p:xfrm>
          <a:off x="325966" y="1597704"/>
          <a:ext cx="4601811" cy="437093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6" name="文本框 5">
            <a:extLst>
              <a:ext uri="{FF2B5EF4-FFF2-40B4-BE49-F238E27FC236}">
                <a16:creationId xmlns:a16="http://schemas.microsoft.com/office/drawing/2014/main" id="{4CEEAB1D-76DD-2896-6819-08C76C64B11F}"/>
              </a:ext>
            </a:extLst>
          </p:cNvPr>
          <p:cNvSpPr txBox="1"/>
          <p:nvPr/>
        </p:nvSpPr>
        <p:spPr>
          <a:xfrm>
            <a:off x="1623348" y="6204369"/>
            <a:ext cx="6007384" cy="461665"/>
          </a:xfrm>
          <a:prstGeom prst="rect">
            <a:avLst/>
          </a:prstGeom>
          <a:noFill/>
        </p:spPr>
        <p:txBody>
          <a:bodyPr wrap="square" rtlCol="0">
            <a:spAutoFit/>
          </a:bodyPr>
          <a:lstStyle/>
          <a:p>
            <a:r>
              <a:rPr lang="en-US" altLang="zh-CN" sz="800" dirty="0">
                <a:latin typeface="微软雅黑" panose="020B0503020204020204" pitchFamily="34" charset="-122"/>
                <a:ea typeface="微软雅黑" panose="020B0503020204020204" pitchFamily="34" charset="-122"/>
              </a:rPr>
              <a:t>[1]</a:t>
            </a:r>
            <a:r>
              <a:rPr lang="zh-CN" altLang="en-US" sz="800" dirty="0">
                <a:latin typeface="微软雅黑" panose="020B0503020204020204" pitchFamily="34" charset="-122"/>
                <a:ea typeface="微软雅黑" panose="020B0503020204020204" pitchFamily="34" charset="-122"/>
              </a:rPr>
              <a:t>鲁道夫</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菲利普斯</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玛丽亚</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古伊特</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托马斯</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万德杜斯</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罗拉纳</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麦德勒尼</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拉姆斯多克</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用发酵过程得到的</a:t>
            </a:r>
            <a:r>
              <a:rPr lang="en-US" altLang="zh-CN" sz="800" dirty="0">
                <a:latin typeface="微软雅黑" panose="020B0503020204020204" pitchFamily="34" charset="-122"/>
                <a:ea typeface="微软雅黑" panose="020B0503020204020204" pitchFamily="34" charset="-122"/>
              </a:rPr>
              <a:t>6-</a:t>
            </a:r>
            <a:r>
              <a:rPr lang="zh-CN" altLang="en-US" sz="800" dirty="0">
                <a:latin typeface="微软雅黑" panose="020B0503020204020204" pitchFamily="34" charset="-122"/>
                <a:ea typeface="微软雅黑" panose="020B0503020204020204" pitchFamily="34" charset="-122"/>
              </a:rPr>
              <a:t>氨基己酸来制备己内酰胺</a:t>
            </a:r>
            <a:r>
              <a:rPr lang="en-US" altLang="zh-CN" sz="800" dirty="0">
                <a:latin typeface="微软雅黑" panose="020B0503020204020204" pitchFamily="34" charset="-122"/>
                <a:ea typeface="微软雅黑" panose="020B0503020204020204" pitchFamily="34" charset="-122"/>
              </a:rPr>
              <a:t>[P].</a:t>
            </a:r>
            <a:r>
              <a:rPr lang="zh-CN" altLang="en-US" sz="800" dirty="0">
                <a:latin typeface="微软雅黑" panose="020B0503020204020204" pitchFamily="34" charset="-122"/>
                <a:ea typeface="微软雅黑" panose="020B0503020204020204" pitchFamily="34" charset="-122"/>
              </a:rPr>
              <a:t>荷兰</a:t>
            </a:r>
            <a:r>
              <a:rPr lang="en-US" altLang="zh-CN" sz="800" dirty="0">
                <a:latin typeface="微软雅黑" panose="020B0503020204020204" pitchFamily="34" charset="-122"/>
                <a:ea typeface="微软雅黑" panose="020B0503020204020204" pitchFamily="34" charset="-122"/>
              </a:rPr>
              <a:t>:CN201080059413.7,2014-07-16.</a:t>
            </a:r>
          </a:p>
          <a:p>
            <a:r>
              <a:rPr lang="en-US" altLang="zh-CN" sz="800" dirty="0">
                <a:latin typeface="微软雅黑" panose="020B0503020204020204" pitchFamily="34" charset="-122"/>
                <a:ea typeface="微软雅黑" panose="020B0503020204020204" pitchFamily="34" charset="-122"/>
              </a:rPr>
              <a:t>[2](NL) W P F A (NL) W B(NL) M P R G, et </a:t>
            </a:r>
            <a:r>
              <a:rPr lang="en-US" altLang="zh-CN" sz="800" dirty="0" err="1">
                <a:latin typeface="微软雅黑" panose="020B0503020204020204" pitchFamily="34" charset="-122"/>
                <a:ea typeface="微软雅黑" panose="020B0503020204020204" pitchFamily="34" charset="-122"/>
              </a:rPr>
              <a:t>al.Process</a:t>
            </a:r>
            <a:r>
              <a:rPr lang="en-US" altLang="zh-CN" sz="800" dirty="0">
                <a:latin typeface="微软雅黑" panose="020B0503020204020204" pitchFamily="34" charset="-122"/>
                <a:ea typeface="微软雅黑" panose="020B0503020204020204" pitchFamily="34" charset="-122"/>
              </a:rPr>
              <a:t> to prepare </a:t>
            </a:r>
            <a:r>
              <a:rPr lang="en-US" altLang="zh-CN" sz="800" dirty="0" err="1">
                <a:latin typeface="微软雅黑" panose="020B0503020204020204" pitchFamily="34" charset="-122"/>
                <a:ea typeface="微软雅黑" panose="020B0503020204020204" pitchFamily="34" charset="-122"/>
              </a:rPr>
              <a:t>epsi</a:t>
            </a:r>
            <a:r>
              <a:rPr lang="en-US" altLang="zh-CN" sz="800" dirty="0">
                <a:latin typeface="微软雅黑" panose="020B0503020204020204" pitchFamily="34" charset="-122"/>
                <a:ea typeface="微软雅黑" panose="020B0503020204020204" pitchFamily="34" charset="-122"/>
              </a:rPr>
              <a:t>-caprolactam[P].US19990376310,2001-2-27.</a:t>
            </a:r>
            <a:endParaRPr lang="zh-CN" altLang="en-US" sz="8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9C9784A9-B5FE-BDC9-CFE1-5BAAA987CBD7}"/>
              </a:ext>
            </a:extLst>
          </p:cNvPr>
          <p:cNvSpPr txBox="1"/>
          <p:nvPr/>
        </p:nvSpPr>
        <p:spPr>
          <a:xfrm>
            <a:off x="6331849" y="645161"/>
            <a:ext cx="5456875" cy="1161536"/>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专利</a:t>
            </a:r>
            <a:r>
              <a:rPr lang="en-US" altLang="zh-CN" sz="1600" b="0" i="0" dirty="0">
                <a:effectLst/>
                <a:latin typeface="Roboto" panose="02000000000000000000" pitchFamily="2" charset="0"/>
              </a:rPr>
              <a:t>US6194572B1</a:t>
            </a:r>
            <a:r>
              <a:rPr lang="zh-CN" altLang="en-US" sz="1600" dirty="0">
                <a:latin typeface="微软雅黑" panose="020B0503020204020204" pitchFamily="34" charset="-122"/>
                <a:ea typeface="微软雅黑" panose="020B0503020204020204" pitchFamily="34" charset="-122"/>
              </a:rPr>
              <a:t>公开了一种</a:t>
            </a:r>
            <a:r>
              <a:rPr lang="zh-CN" altLang="en-US" sz="1600" b="0" i="0" dirty="0">
                <a:solidFill>
                  <a:srgbClr val="000000"/>
                </a:solidFill>
                <a:effectLst/>
                <a:latin typeface="微软雅黑" panose="020B0503020204020204" pitchFamily="34" charset="-122"/>
                <a:ea typeface="微软雅黑" panose="020B0503020204020204" pitchFamily="34" charset="-122"/>
              </a:rPr>
              <a:t>在过热蒸汽下处理</a:t>
            </a:r>
            <a:r>
              <a:rPr lang="en-US" altLang="zh-CN" sz="1600" b="0" i="0" dirty="0">
                <a:solidFill>
                  <a:srgbClr val="000000"/>
                </a:solidFill>
                <a:effectLst/>
                <a:latin typeface="微软雅黑" panose="020B0503020204020204" pitchFamily="34" charset="-122"/>
                <a:ea typeface="微软雅黑" panose="020B0503020204020204" pitchFamily="34" charset="-122"/>
              </a:rPr>
              <a:t>6-</a:t>
            </a:r>
            <a:r>
              <a:rPr lang="zh-CN" altLang="en-US" sz="1600" b="0" i="0" dirty="0">
                <a:solidFill>
                  <a:srgbClr val="000000"/>
                </a:solidFill>
                <a:effectLst/>
                <a:latin typeface="微软雅黑" panose="020B0503020204020204" pitchFamily="34" charset="-122"/>
                <a:ea typeface="微软雅黑" panose="020B0503020204020204" pitchFamily="34" charset="-122"/>
              </a:rPr>
              <a:t>氨基己酸、</a:t>
            </a:r>
            <a:r>
              <a:rPr lang="en-US" altLang="zh-CN" sz="1600" b="0" i="0" dirty="0">
                <a:solidFill>
                  <a:srgbClr val="000000"/>
                </a:solidFill>
                <a:effectLst/>
                <a:latin typeface="微软雅黑" panose="020B0503020204020204" pitchFamily="34" charset="-122"/>
                <a:ea typeface="微软雅黑" panose="020B0503020204020204" pitchFamily="34" charset="-122"/>
              </a:rPr>
              <a:t>6-</a:t>
            </a:r>
            <a:r>
              <a:rPr lang="zh-CN" altLang="en-US" sz="1600" b="0" i="0" dirty="0">
                <a:solidFill>
                  <a:srgbClr val="000000"/>
                </a:solidFill>
                <a:effectLst/>
                <a:latin typeface="微软雅黑" panose="020B0503020204020204" pitchFamily="34" charset="-122"/>
                <a:ea typeface="微软雅黑" panose="020B0503020204020204" pitchFamily="34" charset="-122"/>
              </a:rPr>
              <a:t>氨基己酸酯或</a:t>
            </a:r>
            <a:r>
              <a:rPr lang="en-US" altLang="zh-CN" sz="1600" b="0" i="0" dirty="0">
                <a:solidFill>
                  <a:srgbClr val="000000"/>
                </a:solidFill>
                <a:effectLst/>
                <a:latin typeface="微软雅黑" panose="020B0503020204020204" pitchFamily="34" charset="-122"/>
                <a:ea typeface="微软雅黑" panose="020B0503020204020204" pitchFamily="34" charset="-122"/>
              </a:rPr>
              <a:t>6-</a:t>
            </a:r>
            <a:r>
              <a:rPr lang="zh-CN" altLang="en-US" sz="1600" b="0" i="0" dirty="0">
                <a:solidFill>
                  <a:srgbClr val="000000"/>
                </a:solidFill>
                <a:effectLst/>
                <a:latin typeface="微软雅黑" panose="020B0503020204020204" pitchFamily="34" charset="-122"/>
                <a:ea typeface="微软雅黑" panose="020B0503020204020204" pitchFamily="34" charset="-122"/>
              </a:rPr>
              <a:t>氨基己酰胺或至少包含上述两种化合物的混合物来制备</a:t>
            </a:r>
            <a:r>
              <a:rPr lang="en-US" altLang="zh-CN" sz="1600" b="0" i="0" dirty="0">
                <a:solidFill>
                  <a:srgbClr val="000000"/>
                </a:solidFill>
                <a:effectLst/>
                <a:latin typeface="微软雅黑" panose="020B0503020204020204" pitchFamily="34" charset="-122"/>
                <a:ea typeface="微软雅黑" panose="020B0503020204020204" pitchFamily="34" charset="-122"/>
              </a:rPr>
              <a:t>e-</a:t>
            </a:r>
            <a:r>
              <a:rPr lang="zh-CN" altLang="en-US" sz="1600" b="0" i="0" dirty="0">
                <a:solidFill>
                  <a:srgbClr val="000000"/>
                </a:solidFill>
                <a:effectLst/>
                <a:latin typeface="微软雅黑" panose="020B0503020204020204" pitchFamily="34" charset="-122"/>
                <a:ea typeface="微软雅黑" panose="020B0503020204020204" pitchFamily="34" charset="-122"/>
              </a:rPr>
              <a:t>己内酰胺的方法</a:t>
            </a:r>
            <a:r>
              <a:rPr lang="zh-CN" altLang="en-US" sz="1600" dirty="0">
                <a:latin typeface="微软雅黑" panose="020B0503020204020204" pitchFamily="34" charset="-122"/>
                <a:ea typeface="微软雅黑" panose="020B0503020204020204" pitchFamily="34" charset="-122"/>
              </a:rPr>
              <a:t>。</a:t>
            </a:r>
            <a:endParaRPr lang="zh-CN" altLang="en-US" sz="1600" dirty="0"/>
          </a:p>
        </p:txBody>
      </p:sp>
      <p:graphicFrame>
        <p:nvGraphicFramePr>
          <p:cNvPr id="10" name="表格 9">
            <a:extLst>
              <a:ext uri="{FF2B5EF4-FFF2-40B4-BE49-F238E27FC236}">
                <a16:creationId xmlns:a16="http://schemas.microsoft.com/office/drawing/2014/main" id="{5839F702-78E3-FAC8-EC64-6069E74F3929}"/>
              </a:ext>
            </a:extLst>
          </p:cNvPr>
          <p:cNvGraphicFramePr>
            <a:graphicFrameLocks noGrp="1"/>
          </p:cNvGraphicFramePr>
          <p:nvPr>
            <p:extLst>
              <p:ext uri="{D42A27DB-BD31-4B8C-83A1-F6EECF244321}">
                <p14:modId xmlns:p14="http://schemas.microsoft.com/office/powerpoint/2010/main" val="3703993400"/>
              </p:ext>
            </p:extLst>
          </p:nvPr>
        </p:nvGraphicFramePr>
        <p:xfrm>
          <a:off x="6331849" y="2042429"/>
          <a:ext cx="3013894" cy="1854200"/>
        </p:xfrm>
        <a:graphic>
          <a:graphicData uri="http://schemas.openxmlformats.org/drawingml/2006/table">
            <a:tbl>
              <a:tblPr firstRow="1" bandRow="1">
                <a:tableStyleId>{5C22544A-7EE6-4342-B048-85BDC9FD1C3A}</a:tableStyleId>
              </a:tblPr>
              <a:tblGrid>
                <a:gridCol w="3013894">
                  <a:extLst>
                    <a:ext uri="{9D8B030D-6E8A-4147-A177-3AD203B41FA5}">
                      <a16:colId xmlns:a16="http://schemas.microsoft.com/office/drawing/2014/main" val="172774179"/>
                    </a:ext>
                  </a:extLst>
                </a:gridCol>
              </a:tblGrid>
              <a:tr h="370840">
                <a:tc>
                  <a:txBody>
                    <a:bodyPr/>
                    <a:lstStyle/>
                    <a:p>
                      <a:pPr algn="ctr"/>
                      <a:r>
                        <a:rPr lang="zh-CN" altLang="en-US" sz="1600" dirty="0">
                          <a:latin typeface="微软雅黑" panose="020B0503020204020204" pitchFamily="34" charset="-122"/>
                          <a:ea typeface="微软雅黑" panose="020B0503020204020204" pitchFamily="34" charset="-122"/>
                        </a:rPr>
                        <a:t>可用于本发明的典型混合物</a:t>
                      </a:r>
                    </a:p>
                  </a:txBody>
                  <a:tcPr anchor="ctr"/>
                </a:tc>
                <a:extLst>
                  <a:ext uri="{0D108BD9-81ED-4DB2-BD59-A6C34878D82A}">
                    <a16:rowId xmlns:a16="http://schemas.microsoft.com/office/drawing/2014/main" val="3494903623"/>
                  </a:ext>
                </a:extLst>
              </a:tr>
              <a:tr h="370840">
                <a:tc>
                  <a:txBody>
                    <a:bodyPr/>
                    <a:lstStyle/>
                    <a:p>
                      <a:pPr algn="ctr"/>
                      <a:r>
                        <a:rPr lang="en-US" altLang="zh-CN" sz="1600" dirty="0">
                          <a:latin typeface="微软雅黑" panose="020B0503020204020204" pitchFamily="34" charset="-122"/>
                          <a:ea typeface="微软雅黑" panose="020B0503020204020204" pitchFamily="34" charset="-122"/>
                        </a:rPr>
                        <a:t>5-50wt%</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a:t>
                      </a:r>
                    </a:p>
                  </a:txBody>
                  <a:tcPr anchor="ctr"/>
                </a:tc>
                <a:extLst>
                  <a:ext uri="{0D108BD9-81ED-4DB2-BD59-A6C34878D82A}">
                    <a16:rowId xmlns:a16="http://schemas.microsoft.com/office/drawing/2014/main" val="4049023033"/>
                  </a:ext>
                </a:extLst>
              </a:tr>
              <a:tr h="370840">
                <a:tc>
                  <a:txBody>
                    <a:bodyPr/>
                    <a:lstStyle/>
                    <a:p>
                      <a:pPr algn="ctr"/>
                      <a:r>
                        <a:rPr lang="en-US" altLang="zh-CN" sz="1600" dirty="0">
                          <a:latin typeface="微软雅黑" panose="020B0503020204020204" pitchFamily="34" charset="-122"/>
                          <a:ea typeface="微软雅黑" panose="020B0503020204020204" pitchFamily="34" charset="-122"/>
                        </a:rPr>
                        <a:t>10-50wt%</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氨基己酰胺</a:t>
                      </a:r>
                    </a:p>
                  </a:txBody>
                  <a:tcPr anchor="ctr"/>
                </a:tc>
                <a:extLst>
                  <a:ext uri="{0D108BD9-81ED-4DB2-BD59-A6C34878D82A}">
                    <a16:rowId xmlns:a16="http://schemas.microsoft.com/office/drawing/2014/main" val="127157457"/>
                  </a:ext>
                </a:extLst>
              </a:tr>
              <a:tr h="370840">
                <a:tc>
                  <a:txBody>
                    <a:bodyPr/>
                    <a:lstStyle/>
                    <a:p>
                      <a:pPr algn="ctr"/>
                      <a:r>
                        <a:rPr lang="en-US" altLang="zh-CN" sz="1600" dirty="0">
                          <a:latin typeface="微软雅黑" panose="020B0503020204020204" pitchFamily="34" charset="-122"/>
                          <a:ea typeface="微软雅黑" panose="020B0503020204020204" pitchFamily="34" charset="-122"/>
                        </a:rPr>
                        <a:t>0-40wt%</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ε-</a:t>
                      </a:r>
                      <a:r>
                        <a:rPr lang="zh-CN" altLang="en-US" sz="1600" dirty="0">
                          <a:latin typeface="微软雅黑" panose="020B0503020204020204" pitchFamily="34" charset="-122"/>
                          <a:ea typeface="微软雅黑" panose="020B0503020204020204" pitchFamily="34" charset="-122"/>
                        </a:rPr>
                        <a:t>己内酰胺</a:t>
                      </a:r>
                    </a:p>
                  </a:txBody>
                  <a:tcPr anchor="ctr"/>
                </a:tc>
                <a:extLst>
                  <a:ext uri="{0D108BD9-81ED-4DB2-BD59-A6C34878D82A}">
                    <a16:rowId xmlns:a16="http://schemas.microsoft.com/office/drawing/2014/main" val="2282072209"/>
                  </a:ext>
                </a:extLst>
              </a:tr>
              <a:tr h="370840">
                <a:tc>
                  <a:txBody>
                    <a:bodyPr/>
                    <a:lstStyle/>
                    <a:p>
                      <a:pPr algn="ctr"/>
                      <a:r>
                        <a:rPr lang="en-US" altLang="zh-CN" sz="1600" dirty="0">
                          <a:latin typeface="微软雅黑" panose="020B0503020204020204" pitchFamily="34" charset="-122"/>
                          <a:ea typeface="微软雅黑" panose="020B0503020204020204" pitchFamily="34" charset="-122"/>
                        </a:rPr>
                        <a:t>0-35wt%</a:t>
                      </a:r>
                      <a:r>
                        <a:rPr lang="zh-CN" altLang="en-US" sz="1600" dirty="0">
                          <a:latin typeface="微软雅黑" panose="020B0503020204020204" pitchFamily="34" charset="-122"/>
                          <a:ea typeface="微软雅黑" panose="020B0503020204020204" pitchFamily="34" charset="-122"/>
                        </a:rPr>
                        <a:t>的上述低聚物</a:t>
                      </a:r>
                    </a:p>
                  </a:txBody>
                  <a:tcPr anchor="ctr"/>
                </a:tc>
                <a:extLst>
                  <a:ext uri="{0D108BD9-81ED-4DB2-BD59-A6C34878D82A}">
                    <a16:rowId xmlns:a16="http://schemas.microsoft.com/office/drawing/2014/main" val="1958025916"/>
                  </a:ext>
                </a:extLst>
              </a:tr>
            </a:tbl>
          </a:graphicData>
        </a:graphic>
      </p:graphicFrame>
      <p:grpSp>
        <p:nvGrpSpPr>
          <p:cNvPr id="36" name="组合 35">
            <a:extLst>
              <a:ext uri="{FF2B5EF4-FFF2-40B4-BE49-F238E27FC236}">
                <a16:creationId xmlns:a16="http://schemas.microsoft.com/office/drawing/2014/main" id="{C9E4CF2B-8783-9227-9C8B-1E4B46963251}"/>
              </a:ext>
            </a:extLst>
          </p:cNvPr>
          <p:cNvGrpSpPr/>
          <p:nvPr/>
        </p:nvGrpSpPr>
        <p:grpSpPr>
          <a:xfrm>
            <a:off x="6331849" y="2488673"/>
            <a:ext cx="5323532" cy="3411610"/>
            <a:chOff x="6175419" y="2415145"/>
            <a:chExt cx="5323532" cy="3411610"/>
          </a:xfrm>
        </p:grpSpPr>
        <p:sp>
          <p:nvSpPr>
            <p:cNvPr id="11" name="矩形: 圆角 10">
              <a:extLst>
                <a:ext uri="{FF2B5EF4-FFF2-40B4-BE49-F238E27FC236}">
                  <a16:creationId xmlns:a16="http://schemas.microsoft.com/office/drawing/2014/main" id="{89F9F95B-72CC-F85C-6400-8543A60D8586}"/>
                </a:ext>
              </a:extLst>
            </p:cNvPr>
            <p:cNvSpPr/>
            <p:nvPr/>
          </p:nvSpPr>
          <p:spPr>
            <a:xfrm>
              <a:off x="6175419" y="4429095"/>
              <a:ext cx="598868" cy="1215598"/>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混合物</a:t>
              </a:r>
            </a:p>
          </p:txBody>
        </p:sp>
        <p:cxnSp>
          <p:nvCxnSpPr>
            <p:cNvPr id="13" name="直接箭头连接符 12">
              <a:extLst>
                <a:ext uri="{FF2B5EF4-FFF2-40B4-BE49-F238E27FC236}">
                  <a16:creationId xmlns:a16="http://schemas.microsoft.com/office/drawing/2014/main" id="{1097AF69-904F-443E-820A-F6454C841497}"/>
                </a:ext>
              </a:extLst>
            </p:cNvPr>
            <p:cNvCxnSpPr>
              <a:cxnSpLocks/>
            </p:cNvCxnSpPr>
            <p:nvPr/>
          </p:nvCxnSpPr>
          <p:spPr>
            <a:xfrm>
              <a:off x="6774287" y="5050498"/>
              <a:ext cx="115265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A022C3BB-AF25-DC9A-E86F-22DC1124492F}"/>
                </a:ext>
              </a:extLst>
            </p:cNvPr>
            <p:cNvSpPr txBox="1"/>
            <p:nvPr/>
          </p:nvSpPr>
          <p:spPr>
            <a:xfrm>
              <a:off x="6901662" y="4652262"/>
              <a:ext cx="902811" cy="307777"/>
            </a:xfrm>
            <a:prstGeom prst="rect">
              <a:avLst/>
            </a:prstGeom>
            <a:noFill/>
          </p:spPr>
          <p:txBody>
            <a:bodyPr wrap="none" rtlCol="0">
              <a:spAutoFit/>
            </a:bodyPr>
            <a:lstStyle/>
            <a:p>
              <a:r>
                <a:rPr lang="zh-CN" altLang="en-US" sz="1400" dirty="0">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过热蒸汽</a:t>
              </a:r>
            </a:p>
          </p:txBody>
        </p:sp>
        <p:sp>
          <p:nvSpPr>
            <p:cNvPr id="22" name="矩形: 圆角 21">
              <a:extLst>
                <a:ext uri="{FF2B5EF4-FFF2-40B4-BE49-F238E27FC236}">
                  <a16:creationId xmlns:a16="http://schemas.microsoft.com/office/drawing/2014/main" id="{C01D72DB-3DFE-80A4-0353-33F20EED6A9C}"/>
                </a:ext>
              </a:extLst>
            </p:cNvPr>
            <p:cNvSpPr/>
            <p:nvPr/>
          </p:nvSpPr>
          <p:spPr>
            <a:xfrm>
              <a:off x="7926946" y="4274240"/>
              <a:ext cx="1609860" cy="155251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CE9284EA-3DD3-CF84-5026-3F8442BD28EC}"/>
                </a:ext>
              </a:extLst>
            </p:cNvPr>
            <p:cNvSpPr txBox="1"/>
            <p:nvPr/>
          </p:nvSpPr>
          <p:spPr>
            <a:xfrm>
              <a:off x="8204704" y="3892472"/>
              <a:ext cx="929005" cy="340519"/>
            </a:xfrm>
            <a:prstGeom prst="roundRect">
              <a:avLst/>
            </a:prstGeom>
            <a:solidFill>
              <a:schemeClr val="accent2">
                <a:lumMod val="60000"/>
                <a:lumOff val="40000"/>
              </a:schemeClr>
            </a:solid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水解产物</a:t>
              </a:r>
            </a:p>
          </p:txBody>
        </p:sp>
        <p:sp>
          <p:nvSpPr>
            <p:cNvPr id="24" name="文本框 23">
              <a:extLst>
                <a:ext uri="{FF2B5EF4-FFF2-40B4-BE49-F238E27FC236}">
                  <a16:creationId xmlns:a16="http://schemas.microsoft.com/office/drawing/2014/main" id="{81E16CF9-B6C2-48DA-3506-6282DB58502D}"/>
                </a:ext>
              </a:extLst>
            </p:cNvPr>
            <p:cNvSpPr txBox="1"/>
            <p:nvPr/>
          </p:nvSpPr>
          <p:spPr>
            <a:xfrm>
              <a:off x="8126430" y="5059668"/>
              <a:ext cx="1085554" cy="307777"/>
            </a:xfrm>
            <a:prstGeom prst="rect">
              <a:avLst/>
            </a:prstGeom>
            <a:noFill/>
          </p:spPr>
          <p:txBody>
            <a:bodyPr wrap="none" rtlCol="0">
              <a:spAutoFit/>
            </a:bodyPr>
            <a:lstStyle/>
            <a:p>
              <a:r>
                <a:rPr lang="en-US" altLang="zh-CN" sz="14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6-</a:t>
              </a:r>
              <a:r>
                <a:rPr lang="zh-CN" altLang="en-US" sz="14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氨基己酸</a:t>
              </a:r>
            </a:p>
          </p:txBody>
        </p:sp>
        <p:sp>
          <p:nvSpPr>
            <p:cNvPr id="25" name="文本框 24">
              <a:extLst>
                <a:ext uri="{FF2B5EF4-FFF2-40B4-BE49-F238E27FC236}">
                  <a16:creationId xmlns:a16="http://schemas.microsoft.com/office/drawing/2014/main" id="{AE90DEAB-FAF4-01B3-FBDF-D808C9335B56}"/>
                </a:ext>
              </a:extLst>
            </p:cNvPr>
            <p:cNvSpPr txBox="1"/>
            <p:nvPr/>
          </p:nvSpPr>
          <p:spPr>
            <a:xfrm>
              <a:off x="8063602" y="4722096"/>
              <a:ext cx="1265090" cy="307777"/>
            </a:xfrm>
            <a:prstGeom prst="rect">
              <a:avLst/>
            </a:prstGeom>
            <a:noFill/>
          </p:spPr>
          <p:txBody>
            <a:bodyPr wrap="none" rtlCol="0">
              <a:spAutoFit/>
            </a:bodyPr>
            <a:lstStyle/>
            <a:p>
              <a:r>
                <a:rPr lang="en-US" altLang="zh-CN" sz="14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6-</a:t>
              </a:r>
              <a:r>
                <a:rPr lang="zh-CN" altLang="en-US" sz="14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氨基己酰胺</a:t>
              </a:r>
            </a:p>
          </p:txBody>
        </p:sp>
        <p:sp>
          <p:nvSpPr>
            <p:cNvPr id="26" name="文本框 25">
              <a:extLst>
                <a:ext uri="{FF2B5EF4-FFF2-40B4-BE49-F238E27FC236}">
                  <a16:creationId xmlns:a16="http://schemas.microsoft.com/office/drawing/2014/main" id="{0F13149D-B896-C405-F266-DD6CDA64C95A}"/>
                </a:ext>
              </a:extLst>
            </p:cNvPr>
            <p:cNvSpPr txBox="1"/>
            <p:nvPr/>
          </p:nvSpPr>
          <p:spPr>
            <a:xfrm>
              <a:off x="8137153" y="4344485"/>
              <a:ext cx="1167686" cy="432792"/>
            </a:xfrm>
            <a:prstGeom prst="flowChartTerminator">
              <a:avLst/>
            </a:prstGeom>
            <a:noFill/>
          </p:spPr>
          <p:txBody>
            <a:bodyPr wrap="none" rtlCol="0">
              <a:spAutoFit/>
            </a:bodyPr>
            <a:lstStyle/>
            <a:p>
              <a:r>
                <a:rPr lang="en-US" altLang="zh-CN" sz="1400" dirty="0">
                  <a:ln w="0"/>
                  <a:solidFill>
                    <a:schemeClr val="accent2"/>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ε-</a:t>
              </a:r>
              <a:r>
                <a:rPr lang="zh-CN" altLang="en-US" sz="1400" dirty="0">
                  <a:ln w="0"/>
                  <a:solidFill>
                    <a:schemeClr val="accent2"/>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己内酰胺</a:t>
              </a:r>
            </a:p>
          </p:txBody>
        </p:sp>
        <p:sp>
          <p:nvSpPr>
            <p:cNvPr id="27" name="文本框 26">
              <a:extLst>
                <a:ext uri="{FF2B5EF4-FFF2-40B4-BE49-F238E27FC236}">
                  <a16:creationId xmlns:a16="http://schemas.microsoft.com/office/drawing/2014/main" id="{4239C851-D9C5-73E4-266F-5F3C4B1E366F}"/>
                </a:ext>
              </a:extLst>
            </p:cNvPr>
            <p:cNvSpPr txBox="1"/>
            <p:nvPr/>
          </p:nvSpPr>
          <p:spPr>
            <a:xfrm>
              <a:off x="8161086" y="5407484"/>
              <a:ext cx="1082348" cy="307777"/>
            </a:xfrm>
            <a:prstGeom prst="rect">
              <a:avLst/>
            </a:prstGeom>
            <a:noFill/>
          </p:spPr>
          <p:txBody>
            <a:bodyPr wrap="none" rtlCol="0">
              <a:spAutoFit/>
            </a:bodyPr>
            <a:lstStyle/>
            <a:p>
              <a:r>
                <a:rPr lang="zh-CN" altLang="en-US" sz="14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上述低聚物</a:t>
              </a:r>
            </a:p>
          </p:txBody>
        </p:sp>
        <p:sp>
          <p:nvSpPr>
            <p:cNvPr id="29" name="左大括号 28">
              <a:extLst>
                <a:ext uri="{FF2B5EF4-FFF2-40B4-BE49-F238E27FC236}">
                  <a16:creationId xmlns:a16="http://schemas.microsoft.com/office/drawing/2014/main" id="{7DF40E50-945C-2EEC-B085-3D3CF6485280}"/>
                </a:ext>
              </a:extLst>
            </p:cNvPr>
            <p:cNvSpPr/>
            <p:nvPr/>
          </p:nvSpPr>
          <p:spPr>
            <a:xfrm>
              <a:off x="9372835" y="2415145"/>
              <a:ext cx="571776" cy="3137154"/>
            </a:xfrm>
            <a:prstGeom prst="leftBrace">
              <a:avLst>
                <a:gd name="adj1" fmla="val 8333"/>
                <a:gd name="adj2" fmla="val 6642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320CBC32-B030-1266-C6DB-4DBDBE9377D5}"/>
                </a:ext>
              </a:extLst>
            </p:cNvPr>
            <p:cNvSpPr txBox="1"/>
            <p:nvPr/>
          </p:nvSpPr>
          <p:spPr>
            <a:xfrm>
              <a:off x="9891109" y="2646561"/>
              <a:ext cx="1607842" cy="1600438"/>
            </a:xfrm>
            <a:prstGeom prst="rect">
              <a:avLst/>
            </a:prstGeom>
            <a:noFill/>
            <a:ln w="12700">
              <a:solidFill>
                <a:srgbClr val="0070C0"/>
              </a:solidFill>
              <a:prstDash val="dash"/>
            </a:ln>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萃取分离</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使用氯仿、二氯甲烷、</a:t>
              </a:r>
              <a:r>
                <a:rPr lang="en-US" altLang="zh-CN" sz="1400" dirty="0">
                  <a:latin typeface="微软雅黑" panose="020B0503020204020204" pitchFamily="34" charset="-122"/>
                  <a:ea typeface="微软雅黑" panose="020B0503020204020204" pitchFamily="34" charset="-122"/>
                </a:rPr>
                <a:t>1,1,1-</a:t>
              </a:r>
              <a:r>
                <a:rPr lang="zh-CN" altLang="en-US" sz="1400" dirty="0">
                  <a:latin typeface="微软雅黑" panose="020B0503020204020204" pitchFamily="34" charset="-122"/>
                  <a:ea typeface="微软雅黑" panose="020B0503020204020204" pitchFamily="34" charset="-122"/>
                </a:rPr>
                <a:t>三氯甲烷和苯酚作为萃取剂或</a:t>
              </a:r>
              <a:r>
                <a:rPr lang="en-US" altLang="zh-CN" sz="1400" b="0" i="0" dirty="0">
                  <a:solidFill>
                    <a:srgbClr val="000000"/>
                  </a:solidFill>
                  <a:effectLst/>
                  <a:latin typeface="微软雅黑" panose="020B0503020204020204" pitchFamily="34" charset="-122"/>
                  <a:ea typeface="微软雅黑" panose="020B0503020204020204" pitchFamily="34" charset="-122"/>
                </a:rPr>
                <a:t>C</a:t>
              </a:r>
              <a:r>
                <a:rPr lang="en-US" altLang="zh-CN" sz="1400" b="0" i="0" baseline="-25000" dirty="0">
                  <a:solidFill>
                    <a:srgbClr val="000000"/>
                  </a:solidFill>
                  <a:effectLst/>
                  <a:latin typeface="微软雅黑" panose="020B0503020204020204" pitchFamily="34" charset="-122"/>
                  <a:ea typeface="微软雅黑" panose="020B0503020204020204" pitchFamily="34" charset="-122"/>
                </a:rPr>
                <a:t>5</a:t>
              </a:r>
              <a:r>
                <a:rPr lang="en-US" altLang="zh-CN" sz="1400" b="0" i="0" dirty="0">
                  <a:solidFill>
                    <a:srgbClr val="000000"/>
                  </a:solidFill>
                  <a:effectLst/>
                  <a:latin typeface="微软雅黑" panose="020B0503020204020204" pitchFamily="34" charset="-122"/>
                  <a:ea typeface="微软雅黑" panose="020B0503020204020204" pitchFamily="34" charset="-122"/>
                </a:rPr>
                <a:t>-C</a:t>
              </a:r>
              <a:r>
                <a:rPr lang="en-US" altLang="zh-CN" sz="1400" b="0" i="0" baseline="-25000" dirty="0">
                  <a:solidFill>
                    <a:srgbClr val="000000"/>
                  </a:solidFill>
                  <a:effectLst/>
                  <a:latin typeface="微软雅黑" panose="020B0503020204020204" pitchFamily="34" charset="-122"/>
                  <a:ea typeface="微软雅黑" panose="020B0503020204020204" pitchFamily="34" charset="-122"/>
                </a:rPr>
                <a:t>10</a:t>
              </a:r>
              <a:r>
                <a:rPr lang="zh-CN" altLang="en-US" sz="1400" b="0" i="0" dirty="0">
                  <a:solidFill>
                    <a:srgbClr val="000000"/>
                  </a:solidFill>
                  <a:effectLst/>
                  <a:latin typeface="微软雅黑" panose="020B0503020204020204" pitchFamily="34" charset="-122"/>
                  <a:ea typeface="微软雅黑" panose="020B0503020204020204" pitchFamily="34" charset="-122"/>
                </a:rPr>
                <a:t>醇</a:t>
              </a:r>
              <a:r>
                <a:rPr lang="en-US" altLang="zh-CN" sz="1400" b="0" i="0" dirty="0">
                  <a:solidFill>
                    <a:srgbClr val="000000"/>
                  </a:solidFill>
                  <a:effectLst/>
                  <a:latin typeface="微软雅黑" panose="020B0503020204020204" pitchFamily="34" charset="-122"/>
                  <a:ea typeface="微软雅黑" panose="020B0503020204020204" pitchFamily="34" charset="-122"/>
                </a:rPr>
                <a:t>(</a:t>
              </a:r>
              <a:r>
                <a:rPr lang="zh-CN" altLang="en-US" sz="1400" b="0" i="0" dirty="0">
                  <a:solidFill>
                    <a:srgbClr val="000000"/>
                  </a:solidFill>
                  <a:effectLst/>
                  <a:latin typeface="微软雅黑" panose="020B0503020204020204" pitchFamily="34" charset="-122"/>
                  <a:ea typeface="微软雅黑" panose="020B0503020204020204" pitchFamily="34" charset="-122"/>
                </a:rPr>
                <a:t>例如</a:t>
              </a:r>
              <a:r>
                <a:rPr lang="en-US" altLang="zh-CN" sz="1400" b="0" i="0" dirty="0">
                  <a:solidFill>
                    <a:srgbClr val="000000"/>
                  </a:solidFill>
                  <a:effectLst/>
                  <a:latin typeface="微软雅黑" panose="020B0503020204020204" pitchFamily="34" charset="-122"/>
                  <a:ea typeface="微软雅黑" panose="020B0503020204020204" pitchFamily="34" charset="-122"/>
                </a:rPr>
                <a:t>4-</a:t>
              </a:r>
              <a:r>
                <a:rPr lang="zh-CN" altLang="en-US" sz="1400" b="0" i="0" dirty="0">
                  <a:solidFill>
                    <a:srgbClr val="000000"/>
                  </a:solidFill>
                  <a:effectLst/>
                  <a:latin typeface="微软雅黑" panose="020B0503020204020204" pitchFamily="34" charset="-122"/>
                  <a:ea typeface="微软雅黑" panose="020B0503020204020204" pitchFamily="34" charset="-122"/>
                </a:rPr>
                <a:t>甲基</a:t>
              </a:r>
              <a:r>
                <a:rPr lang="en-US" altLang="zh-CN" sz="1400" b="0" i="0" dirty="0">
                  <a:solidFill>
                    <a:srgbClr val="000000"/>
                  </a:solidFill>
                  <a:effectLst/>
                  <a:latin typeface="微软雅黑" panose="020B0503020204020204" pitchFamily="34" charset="-122"/>
                  <a:ea typeface="微软雅黑" panose="020B0503020204020204" pitchFamily="34" charset="-122"/>
                </a:rPr>
                <a:t>-2-</a:t>
              </a:r>
              <a:r>
                <a:rPr lang="zh-CN" altLang="en-US" sz="1400" b="0" i="0" dirty="0">
                  <a:solidFill>
                    <a:srgbClr val="000000"/>
                  </a:solidFill>
                  <a:effectLst/>
                  <a:latin typeface="微软雅黑" panose="020B0503020204020204" pitchFamily="34" charset="-122"/>
                  <a:ea typeface="微软雅黑" panose="020B0503020204020204" pitchFamily="34" charset="-122"/>
                </a:rPr>
                <a:t>戊醇）进行萃取</a:t>
              </a:r>
              <a:endParaRPr lang="en-US" altLang="zh-CN" sz="14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07CB9956-16CC-2EF3-FA5C-3183FD9E9BF4}"/>
                </a:ext>
              </a:extLst>
            </p:cNvPr>
            <p:cNvSpPr txBox="1"/>
            <p:nvPr/>
          </p:nvSpPr>
          <p:spPr>
            <a:xfrm>
              <a:off x="10316534" y="4806151"/>
              <a:ext cx="902811" cy="307777"/>
            </a:xfrm>
            <a:prstGeom prst="rect">
              <a:avLst/>
            </a:prstGeom>
            <a:noFill/>
            <a:ln w="12700">
              <a:solidFill>
                <a:srgbClr val="0070C0"/>
              </a:solidFill>
              <a:prstDash val="dash"/>
            </a:ln>
          </p:spPr>
          <p:txBody>
            <a:bodyPr wrap="none" rtlCol="0">
              <a:spAutoFit/>
            </a:bodyPr>
            <a:lstStyle/>
            <a:p>
              <a:r>
                <a:rPr lang="zh-CN" altLang="en-US" sz="1400" dirty="0">
                  <a:latin typeface="微软雅黑" panose="020B0503020204020204" pitchFamily="34" charset="-122"/>
                  <a:ea typeface="微软雅黑" panose="020B0503020204020204" pitchFamily="34" charset="-122"/>
                </a:rPr>
                <a:t>蒸馏分离</a:t>
              </a:r>
              <a:endParaRPr lang="en-US" altLang="zh-CN" sz="14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021039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296585" y="6272026"/>
            <a:ext cx="82852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6</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6">
            <a:extLst>
              <a:ext uri="{FF2B5EF4-FFF2-40B4-BE49-F238E27FC236}">
                <a16:creationId xmlns:a16="http://schemas.microsoft.com/office/drawing/2014/main" id="{4C656F8D-E90D-D111-C8CC-399442A117B9}"/>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sp>
        <p:nvSpPr>
          <p:cNvPr id="2" name="文本框 1">
            <a:extLst>
              <a:ext uri="{FF2B5EF4-FFF2-40B4-BE49-F238E27FC236}">
                <a16:creationId xmlns:a16="http://schemas.microsoft.com/office/drawing/2014/main" id="{5909D8F4-A00B-7E15-4333-A15D06A4B402}"/>
              </a:ext>
            </a:extLst>
          </p:cNvPr>
          <p:cNvSpPr txBox="1"/>
          <p:nvPr/>
        </p:nvSpPr>
        <p:spPr>
          <a:xfrm>
            <a:off x="156633" y="729826"/>
            <a:ext cx="7467660" cy="422873"/>
          </a:xfrm>
          <a:prstGeom prst="rect">
            <a:avLst/>
          </a:prstGeom>
          <a:noFill/>
        </p:spPr>
        <p:txBody>
          <a:bodyPr wrap="square" rtlCol="0">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专利</a:t>
            </a:r>
            <a:r>
              <a:rPr lang="en-US" altLang="zh-CN" sz="1600" dirty="0">
                <a:latin typeface="微软雅黑" panose="020B0503020204020204" pitchFamily="34" charset="-122"/>
                <a:ea typeface="微软雅黑" panose="020B0503020204020204" pitchFamily="34" charset="-122"/>
              </a:rPr>
              <a:t>CN1088060C</a:t>
            </a:r>
            <a:r>
              <a:rPr lang="zh-CN" altLang="en-US" sz="1600" dirty="0">
                <a:latin typeface="微软雅黑" panose="020B0503020204020204" pitchFamily="34" charset="-122"/>
                <a:ea typeface="微软雅黑" panose="020B0503020204020204" pitchFamily="34" charset="-122"/>
              </a:rPr>
              <a:t>公开了一种从</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氨基己酸中制备</a:t>
            </a:r>
            <a:r>
              <a:rPr lang="en-US" altLang="zh-CN" sz="1600" dirty="0">
                <a:latin typeface="微软雅黑" panose="020B0503020204020204" pitchFamily="34" charset="-122"/>
                <a:ea typeface="微软雅黑" panose="020B0503020204020204" pitchFamily="34" charset="-122"/>
              </a:rPr>
              <a:t>ε-</a:t>
            </a:r>
            <a:r>
              <a:rPr lang="zh-CN" altLang="en-US" sz="1600" dirty="0">
                <a:latin typeface="微软雅黑" panose="020B0503020204020204" pitchFamily="34" charset="-122"/>
                <a:ea typeface="微软雅黑" panose="020B0503020204020204" pitchFamily="34" charset="-122"/>
              </a:rPr>
              <a:t>己内酰胺的方法。</a:t>
            </a:r>
            <a:endParaRPr lang="zh-CN" altLang="en-US" sz="1600" dirty="0"/>
          </a:p>
        </p:txBody>
      </p:sp>
      <p:graphicFrame>
        <p:nvGraphicFramePr>
          <p:cNvPr id="6" name="表格 5">
            <a:extLst>
              <a:ext uri="{FF2B5EF4-FFF2-40B4-BE49-F238E27FC236}">
                <a16:creationId xmlns:a16="http://schemas.microsoft.com/office/drawing/2014/main" id="{62ED56A5-E119-1AB3-0321-62FD9E4B61BC}"/>
              </a:ext>
            </a:extLst>
          </p:cNvPr>
          <p:cNvGraphicFramePr>
            <a:graphicFrameLocks noGrp="1"/>
          </p:cNvGraphicFramePr>
          <p:nvPr>
            <p:extLst>
              <p:ext uri="{D42A27DB-BD31-4B8C-83A1-F6EECF244321}">
                <p14:modId xmlns:p14="http://schemas.microsoft.com/office/powerpoint/2010/main" val="619686477"/>
              </p:ext>
            </p:extLst>
          </p:nvPr>
        </p:nvGraphicFramePr>
        <p:xfrm>
          <a:off x="325966" y="3532739"/>
          <a:ext cx="3083000" cy="2225040"/>
        </p:xfrm>
        <a:graphic>
          <a:graphicData uri="http://schemas.openxmlformats.org/drawingml/2006/table">
            <a:tbl>
              <a:tblPr firstRow="1" bandRow="1">
                <a:tableStyleId>{5C22544A-7EE6-4342-B048-85BDC9FD1C3A}</a:tableStyleId>
              </a:tblPr>
              <a:tblGrid>
                <a:gridCol w="3083000">
                  <a:extLst>
                    <a:ext uri="{9D8B030D-6E8A-4147-A177-3AD203B41FA5}">
                      <a16:colId xmlns:a16="http://schemas.microsoft.com/office/drawing/2014/main" val="1019227627"/>
                    </a:ext>
                  </a:extLst>
                </a:gridCol>
              </a:tblGrid>
              <a:tr h="370840">
                <a:tc>
                  <a:txBody>
                    <a:bodyPr/>
                    <a:lstStyle/>
                    <a:p>
                      <a:pPr algn="ctr"/>
                      <a:r>
                        <a:rPr lang="zh-CN" altLang="en-US" sz="1800" dirty="0">
                          <a:latin typeface="微软雅黑" panose="020B0503020204020204" pitchFamily="34" charset="-122"/>
                          <a:ea typeface="微软雅黑" panose="020B0503020204020204" pitchFamily="34" charset="-122"/>
                        </a:rPr>
                        <a:t>含水混合物组成（除醇后）</a:t>
                      </a:r>
                    </a:p>
                  </a:txBody>
                  <a:tcPr anchor="ctr"/>
                </a:tc>
                <a:extLst>
                  <a:ext uri="{0D108BD9-81ED-4DB2-BD59-A6C34878D82A}">
                    <a16:rowId xmlns:a16="http://schemas.microsoft.com/office/drawing/2014/main" val="1515342980"/>
                  </a:ext>
                </a:extLst>
              </a:tr>
              <a:tr h="370840">
                <a:tc>
                  <a:txBody>
                    <a:bodyPr/>
                    <a:lstStyle/>
                    <a:p>
                      <a:pPr algn="ctr"/>
                      <a:r>
                        <a:rPr lang="en-US" altLang="zh-CN" sz="1800" dirty="0">
                          <a:latin typeface="微软雅黑" panose="020B0503020204020204" pitchFamily="34" charset="-122"/>
                          <a:ea typeface="微软雅黑" panose="020B0503020204020204" pitchFamily="34" charset="-122"/>
                        </a:rPr>
                        <a:t>2-15wt%6-</a:t>
                      </a:r>
                      <a:r>
                        <a:rPr lang="zh-CN" altLang="en-US" sz="1800" dirty="0">
                          <a:latin typeface="微软雅黑" panose="020B0503020204020204" pitchFamily="34" charset="-122"/>
                          <a:ea typeface="微软雅黑" panose="020B0503020204020204" pitchFamily="34" charset="-122"/>
                        </a:rPr>
                        <a:t>氨基己酸</a:t>
                      </a:r>
                    </a:p>
                  </a:txBody>
                  <a:tcPr anchor="ctr"/>
                </a:tc>
                <a:extLst>
                  <a:ext uri="{0D108BD9-81ED-4DB2-BD59-A6C34878D82A}">
                    <a16:rowId xmlns:a16="http://schemas.microsoft.com/office/drawing/2014/main" val="965436319"/>
                  </a:ext>
                </a:extLst>
              </a:tr>
              <a:tr h="370840">
                <a:tc>
                  <a:txBody>
                    <a:bodyPr/>
                    <a:lstStyle/>
                    <a:p>
                      <a:pPr algn="ctr"/>
                      <a:r>
                        <a:rPr lang="en-US" altLang="zh-CN" sz="1800" dirty="0">
                          <a:latin typeface="微软雅黑" panose="020B0503020204020204" pitchFamily="34" charset="-122"/>
                          <a:ea typeface="微软雅黑" panose="020B0503020204020204" pitchFamily="34" charset="-122"/>
                        </a:rPr>
                        <a:t>2-15wt%ε-</a:t>
                      </a:r>
                      <a:r>
                        <a:rPr lang="zh-CN" altLang="en-US" sz="1800" dirty="0">
                          <a:latin typeface="微软雅黑" panose="020B0503020204020204" pitchFamily="34" charset="-122"/>
                          <a:ea typeface="微软雅黑" panose="020B0503020204020204" pitchFamily="34" charset="-122"/>
                        </a:rPr>
                        <a:t>己内酰胺</a:t>
                      </a:r>
                    </a:p>
                  </a:txBody>
                  <a:tcPr anchor="ctr"/>
                </a:tc>
                <a:extLst>
                  <a:ext uri="{0D108BD9-81ED-4DB2-BD59-A6C34878D82A}">
                    <a16:rowId xmlns:a16="http://schemas.microsoft.com/office/drawing/2014/main" val="1352434729"/>
                  </a:ext>
                </a:extLst>
              </a:tr>
              <a:tr h="370840">
                <a:tc>
                  <a:txBody>
                    <a:bodyPr/>
                    <a:lstStyle/>
                    <a:p>
                      <a:pPr algn="ctr"/>
                      <a:r>
                        <a:rPr lang="en-US" altLang="zh-CN" sz="1800" dirty="0">
                          <a:latin typeface="微软雅黑" panose="020B0503020204020204" pitchFamily="34" charset="-122"/>
                          <a:ea typeface="微软雅黑" panose="020B0503020204020204" pitchFamily="34" charset="-122"/>
                        </a:rPr>
                        <a:t>2-20wt%6-</a:t>
                      </a:r>
                      <a:r>
                        <a:rPr lang="zh-CN" altLang="en-US" sz="1800" dirty="0">
                          <a:latin typeface="微软雅黑" panose="020B0503020204020204" pitchFamily="34" charset="-122"/>
                          <a:ea typeface="微软雅黑" panose="020B0503020204020204" pitchFamily="34" charset="-122"/>
                        </a:rPr>
                        <a:t>氨基己酰胺</a:t>
                      </a:r>
                    </a:p>
                  </a:txBody>
                  <a:tcPr anchor="ctr"/>
                </a:tc>
                <a:extLst>
                  <a:ext uri="{0D108BD9-81ED-4DB2-BD59-A6C34878D82A}">
                    <a16:rowId xmlns:a16="http://schemas.microsoft.com/office/drawing/2014/main" val="1235340711"/>
                  </a:ext>
                </a:extLst>
              </a:tr>
              <a:tr h="370840">
                <a:tc>
                  <a:txBody>
                    <a:bodyPr/>
                    <a:lstStyle/>
                    <a:p>
                      <a:pPr algn="ctr"/>
                      <a:r>
                        <a:rPr lang="en-US" altLang="zh-CN" sz="1800" dirty="0">
                          <a:latin typeface="微软雅黑" panose="020B0503020204020204" pitchFamily="34" charset="-122"/>
                          <a:ea typeface="微软雅黑" panose="020B0503020204020204" pitchFamily="34" charset="-122"/>
                        </a:rPr>
                        <a:t>1-8wt%</a:t>
                      </a:r>
                      <a:r>
                        <a:rPr lang="zh-CN" altLang="en-US" sz="1800" dirty="0">
                          <a:latin typeface="微软雅黑" panose="020B0503020204020204" pitchFamily="34" charset="-122"/>
                          <a:ea typeface="微软雅黑" panose="020B0503020204020204" pitchFamily="34" charset="-122"/>
                        </a:rPr>
                        <a:t>低聚物</a:t>
                      </a:r>
                    </a:p>
                  </a:txBody>
                  <a:tcPr anchor="ctr"/>
                </a:tc>
                <a:extLst>
                  <a:ext uri="{0D108BD9-81ED-4DB2-BD59-A6C34878D82A}">
                    <a16:rowId xmlns:a16="http://schemas.microsoft.com/office/drawing/2014/main" val="2315489699"/>
                  </a:ext>
                </a:extLst>
              </a:tr>
              <a:tr h="370840">
                <a:tc>
                  <a:txBody>
                    <a:bodyPr/>
                    <a:lstStyle/>
                    <a:p>
                      <a:pPr algn="ctr"/>
                      <a:r>
                        <a:rPr lang="en-US" altLang="zh-CN" sz="1800" dirty="0">
                          <a:latin typeface="微软雅黑" panose="020B0503020204020204" pitchFamily="34" charset="-122"/>
                          <a:ea typeface="微软雅黑" panose="020B0503020204020204" pitchFamily="34" charset="-122"/>
                        </a:rPr>
                        <a:t>60-90wt%</a:t>
                      </a:r>
                      <a:r>
                        <a:rPr lang="zh-CN" altLang="en-US" sz="1800" dirty="0">
                          <a:latin typeface="微软雅黑" panose="020B0503020204020204" pitchFamily="34" charset="-122"/>
                          <a:ea typeface="微软雅黑" panose="020B0503020204020204" pitchFamily="34" charset="-122"/>
                        </a:rPr>
                        <a:t>水</a:t>
                      </a:r>
                    </a:p>
                  </a:txBody>
                  <a:tcPr anchor="ctr"/>
                </a:tc>
                <a:extLst>
                  <a:ext uri="{0D108BD9-81ED-4DB2-BD59-A6C34878D82A}">
                    <a16:rowId xmlns:a16="http://schemas.microsoft.com/office/drawing/2014/main" val="3845727321"/>
                  </a:ext>
                </a:extLst>
              </a:tr>
            </a:tbl>
          </a:graphicData>
        </a:graphic>
      </p:graphicFrame>
      <p:grpSp>
        <p:nvGrpSpPr>
          <p:cNvPr id="69" name="组合 68">
            <a:extLst>
              <a:ext uri="{FF2B5EF4-FFF2-40B4-BE49-F238E27FC236}">
                <a16:creationId xmlns:a16="http://schemas.microsoft.com/office/drawing/2014/main" id="{FD587588-621D-B11D-AB90-3D42B481A4C0}"/>
              </a:ext>
            </a:extLst>
          </p:cNvPr>
          <p:cNvGrpSpPr/>
          <p:nvPr/>
        </p:nvGrpSpPr>
        <p:grpSpPr>
          <a:xfrm>
            <a:off x="156633" y="1030423"/>
            <a:ext cx="11968472" cy="2341809"/>
            <a:chOff x="111764" y="1186639"/>
            <a:chExt cx="11968472" cy="2341809"/>
          </a:xfrm>
        </p:grpSpPr>
        <p:cxnSp>
          <p:nvCxnSpPr>
            <p:cNvPr id="56" name="直接箭头连接符 55">
              <a:extLst>
                <a:ext uri="{FF2B5EF4-FFF2-40B4-BE49-F238E27FC236}">
                  <a16:creationId xmlns:a16="http://schemas.microsoft.com/office/drawing/2014/main" id="{A4CBB2AF-0EF2-E315-C99C-4F731A7A10F5}"/>
                </a:ext>
              </a:extLst>
            </p:cNvPr>
            <p:cNvCxnSpPr>
              <a:cxnSpLocks/>
            </p:cNvCxnSpPr>
            <p:nvPr/>
          </p:nvCxnSpPr>
          <p:spPr>
            <a:xfrm flipV="1">
              <a:off x="10197742" y="1186639"/>
              <a:ext cx="0" cy="11615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68" name="组合 67">
              <a:extLst>
                <a:ext uri="{FF2B5EF4-FFF2-40B4-BE49-F238E27FC236}">
                  <a16:creationId xmlns:a16="http://schemas.microsoft.com/office/drawing/2014/main" id="{2EDCD4AA-37F9-B7FE-043C-39227076C68E}"/>
                </a:ext>
              </a:extLst>
            </p:cNvPr>
            <p:cNvGrpSpPr/>
            <p:nvPr/>
          </p:nvGrpSpPr>
          <p:grpSpPr>
            <a:xfrm>
              <a:off x="111764" y="1433716"/>
              <a:ext cx="11968472" cy="2094732"/>
              <a:chOff x="156633" y="1433716"/>
              <a:chExt cx="11968472" cy="2094732"/>
            </a:xfrm>
          </p:grpSpPr>
          <p:sp>
            <p:nvSpPr>
              <p:cNvPr id="11" name="矩形 10">
                <a:extLst>
                  <a:ext uri="{FF2B5EF4-FFF2-40B4-BE49-F238E27FC236}">
                    <a16:creationId xmlns:a16="http://schemas.microsoft.com/office/drawing/2014/main" id="{78B385A6-F0F4-FAA4-6D42-BACDFB3A135D}"/>
                  </a:ext>
                </a:extLst>
              </p:cNvPr>
              <p:cNvSpPr/>
              <p:nvPr/>
            </p:nvSpPr>
            <p:spPr>
              <a:xfrm>
                <a:off x="156633" y="1978597"/>
                <a:ext cx="1951150" cy="78072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5-</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甲酰戊酸或</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5-</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甲酰戊酸</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C</a:t>
                </a:r>
                <a:r>
                  <a:rPr lang="en-US" altLang="zh-CN" sz="1600" baseline="-250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1</a:t>
                </a:r>
                <a:r>
                  <a:rPr lang="en-US" altLang="zh-CN" sz="1600" baseline="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-C</a:t>
                </a:r>
                <a:r>
                  <a:rPr lang="en-US" altLang="zh-CN" sz="1600" baseline="-250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6</a:t>
                </a:r>
                <a:r>
                  <a:rPr lang="zh-CN" altLang="en-US" sz="1600" baseline="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烷基酯</a:t>
                </a:r>
                <a:endPar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49011187-10AA-EBA1-A5AB-128736D25142}"/>
                  </a:ext>
                </a:extLst>
              </p:cNvPr>
              <p:cNvSpPr/>
              <p:nvPr/>
            </p:nvSpPr>
            <p:spPr>
              <a:xfrm>
                <a:off x="3193955" y="2021228"/>
                <a:ext cx="1338119" cy="695460"/>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初始含水含混合物</a:t>
                </a:r>
              </a:p>
            </p:txBody>
          </p:sp>
          <p:sp>
            <p:nvSpPr>
              <p:cNvPr id="17" name="矩形 16">
                <a:extLst>
                  <a:ext uri="{FF2B5EF4-FFF2-40B4-BE49-F238E27FC236}">
                    <a16:creationId xmlns:a16="http://schemas.microsoft.com/office/drawing/2014/main" id="{D5A04F37-B5E8-3FE5-9F0C-ECE65243A0A3}"/>
                  </a:ext>
                </a:extLst>
              </p:cNvPr>
              <p:cNvSpPr/>
              <p:nvPr/>
            </p:nvSpPr>
            <p:spPr>
              <a:xfrm>
                <a:off x="10472020" y="2000497"/>
                <a:ext cx="1653085" cy="695460"/>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含低含量</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ε-</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己内酰胺的混合物</a:t>
                </a:r>
              </a:p>
            </p:txBody>
          </p:sp>
          <p:sp>
            <p:nvSpPr>
              <p:cNvPr id="18" name="矩形 17">
                <a:extLst>
                  <a:ext uri="{FF2B5EF4-FFF2-40B4-BE49-F238E27FC236}">
                    <a16:creationId xmlns:a16="http://schemas.microsoft.com/office/drawing/2014/main" id="{CCC7CCED-5241-944D-F8EC-4F8FD4CB9715}"/>
                  </a:ext>
                </a:extLst>
              </p:cNvPr>
              <p:cNvSpPr/>
              <p:nvPr/>
            </p:nvSpPr>
            <p:spPr>
              <a:xfrm>
                <a:off x="5446257" y="2014713"/>
                <a:ext cx="1859766" cy="695460"/>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含醇量低</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0.1wt%</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的含水混合物</a:t>
                </a:r>
              </a:p>
            </p:txBody>
          </p:sp>
          <p:cxnSp>
            <p:nvCxnSpPr>
              <p:cNvPr id="20" name="连接符: 肘形 19">
                <a:extLst>
                  <a:ext uri="{FF2B5EF4-FFF2-40B4-BE49-F238E27FC236}">
                    <a16:creationId xmlns:a16="http://schemas.microsoft.com/office/drawing/2014/main" id="{8D21D278-0801-C8E5-A752-831758B486A2}"/>
                  </a:ext>
                </a:extLst>
              </p:cNvPr>
              <p:cNvCxnSpPr>
                <a:cxnSpLocks/>
              </p:cNvCxnSpPr>
              <p:nvPr/>
            </p:nvCxnSpPr>
            <p:spPr>
              <a:xfrm flipV="1">
                <a:off x="2107783" y="2368957"/>
                <a:ext cx="1085518" cy="1"/>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8D641585-99DB-5FDC-73E1-BBFB26341266}"/>
                  </a:ext>
                </a:extLst>
              </p:cNvPr>
              <p:cNvCxnSpPr>
                <a:cxnSpLocks/>
                <a:stCxn id="12" idx="3"/>
              </p:cNvCxnSpPr>
              <p:nvPr/>
            </p:nvCxnSpPr>
            <p:spPr>
              <a:xfrm>
                <a:off x="4532074" y="2368958"/>
                <a:ext cx="92213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D3D25B41-62E2-A00D-892C-667092871438}"/>
                  </a:ext>
                </a:extLst>
              </p:cNvPr>
              <p:cNvSpPr/>
              <p:nvPr/>
            </p:nvSpPr>
            <p:spPr>
              <a:xfrm>
                <a:off x="8088469" y="2006045"/>
                <a:ext cx="1381152" cy="695460"/>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环化反应流出混合物</a:t>
                </a:r>
              </a:p>
            </p:txBody>
          </p:sp>
          <p:cxnSp>
            <p:nvCxnSpPr>
              <p:cNvPr id="35" name="直接箭头连接符 34">
                <a:extLst>
                  <a:ext uri="{FF2B5EF4-FFF2-40B4-BE49-F238E27FC236}">
                    <a16:creationId xmlns:a16="http://schemas.microsoft.com/office/drawing/2014/main" id="{CFF72814-1F4A-CE1F-50DE-24873B6812CD}"/>
                  </a:ext>
                </a:extLst>
              </p:cNvPr>
              <p:cNvCxnSpPr>
                <a:cxnSpLocks/>
              </p:cNvCxnSpPr>
              <p:nvPr/>
            </p:nvCxnSpPr>
            <p:spPr>
              <a:xfrm>
                <a:off x="7306023" y="2368957"/>
                <a:ext cx="80595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2C67DFB-17D7-CE45-16E2-4A26AA0A0F5E}"/>
                  </a:ext>
                </a:extLst>
              </p:cNvPr>
              <p:cNvCxnSpPr>
                <a:cxnSpLocks/>
                <a:stCxn id="34" idx="3"/>
                <a:endCxn id="17" idx="1"/>
              </p:cNvCxnSpPr>
              <p:nvPr/>
            </p:nvCxnSpPr>
            <p:spPr>
              <a:xfrm flipV="1">
                <a:off x="9469621" y="2348227"/>
                <a:ext cx="1002399" cy="55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CF6C6300-54DE-8F93-4EDF-6F2BBDD7A47B}"/>
                  </a:ext>
                </a:extLst>
              </p:cNvPr>
              <p:cNvSpPr txBox="1"/>
              <p:nvPr/>
            </p:nvSpPr>
            <p:spPr>
              <a:xfrm>
                <a:off x="2199136" y="2053911"/>
                <a:ext cx="902811" cy="307777"/>
              </a:xfrm>
              <a:prstGeom prst="rect">
                <a:avLst/>
              </a:prstGeom>
              <a:noFill/>
            </p:spPr>
            <p:txBody>
              <a:bodyPr wrap="none" rtlCol="0">
                <a:spAutoFit/>
              </a:bodyPr>
              <a:lstStyle/>
              <a:p>
                <a:r>
                  <a:rPr lang="zh-CN" altLang="en-US" sz="14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还原胺化</a:t>
                </a:r>
              </a:p>
            </p:txBody>
          </p:sp>
          <p:sp>
            <p:nvSpPr>
              <p:cNvPr id="42" name="文本框 41">
                <a:extLst>
                  <a:ext uri="{FF2B5EF4-FFF2-40B4-BE49-F238E27FC236}">
                    <a16:creationId xmlns:a16="http://schemas.microsoft.com/office/drawing/2014/main" id="{F8B10490-2470-D286-EF72-8A62596CFAF7}"/>
                  </a:ext>
                </a:extLst>
              </p:cNvPr>
              <p:cNvSpPr txBox="1"/>
              <p:nvPr/>
            </p:nvSpPr>
            <p:spPr>
              <a:xfrm>
                <a:off x="4537696" y="2045998"/>
                <a:ext cx="902811" cy="307777"/>
              </a:xfrm>
              <a:prstGeom prst="rect">
                <a:avLst/>
              </a:prstGeom>
              <a:noFill/>
            </p:spPr>
            <p:txBody>
              <a:bodyPr wrap="none" rtlCol="0">
                <a:spAutoFit/>
              </a:bodyPr>
              <a:lstStyle/>
              <a:p>
                <a:r>
                  <a:rPr lang="zh-CN" altLang="en-US" sz="14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蒸汽汽提</a:t>
                </a:r>
              </a:p>
            </p:txBody>
          </p:sp>
          <p:sp>
            <p:nvSpPr>
              <p:cNvPr id="43" name="文本框 42">
                <a:extLst>
                  <a:ext uri="{FF2B5EF4-FFF2-40B4-BE49-F238E27FC236}">
                    <a16:creationId xmlns:a16="http://schemas.microsoft.com/office/drawing/2014/main" id="{5758601A-921B-E76A-E69E-FD84A0FD84FE}"/>
                  </a:ext>
                </a:extLst>
              </p:cNvPr>
              <p:cNvSpPr txBox="1"/>
              <p:nvPr/>
            </p:nvSpPr>
            <p:spPr>
              <a:xfrm>
                <a:off x="7257595" y="2077900"/>
                <a:ext cx="902811" cy="307777"/>
              </a:xfrm>
              <a:prstGeom prst="rect">
                <a:avLst/>
              </a:prstGeom>
              <a:noFill/>
            </p:spPr>
            <p:txBody>
              <a:bodyPr wrap="none" rtlCol="0">
                <a:spAutoFit/>
              </a:bodyPr>
              <a:lstStyle/>
              <a:p>
                <a:r>
                  <a:rPr lang="zh-CN" altLang="en-US" sz="14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环化反应</a:t>
                </a:r>
              </a:p>
            </p:txBody>
          </p:sp>
          <p:sp>
            <p:nvSpPr>
              <p:cNvPr id="44" name="文本框 43">
                <a:extLst>
                  <a:ext uri="{FF2B5EF4-FFF2-40B4-BE49-F238E27FC236}">
                    <a16:creationId xmlns:a16="http://schemas.microsoft.com/office/drawing/2014/main" id="{6C0646BD-28E3-CB5E-ECD4-43623F00171D}"/>
                  </a:ext>
                </a:extLst>
              </p:cNvPr>
              <p:cNvSpPr txBox="1"/>
              <p:nvPr/>
            </p:nvSpPr>
            <p:spPr>
              <a:xfrm>
                <a:off x="7446670" y="1433716"/>
                <a:ext cx="2860078" cy="307777"/>
              </a:xfrm>
              <a:prstGeom prst="rect">
                <a:avLst/>
              </a:prstGeom>
              <a:noFill/>
            </p:spPr>
            <p:txBody>
              <a:bodyPr wrap="none" rtlCol="0">
                <a:spAutoFit/>
              </a:bodyPr>
              <a:lstStyle/>
              <a:p>
                <a:r>
                  <a:rPr lang="zh-CN" altLang="en-US" sz="14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结晶、蒸馏、萃取分离</a:t>
                </a:r>
                <a:r>
                  <a:rPr lang="en-US" altLang="zh-CN" sz="14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ε-</a:t>
                </a:r>
                <a:r>
                  <a:rPr lang="zh-CN" altLang="en-US" sz="14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己内酰胺</a:t>
                </a:r>
              </a:p>
            </p:txBody>
          </p:sp>
          <p:grpSp>
            <p:nvGrpSpPr>
              <p:cNvPr id="67" name="组合 66">
                <a:extLst>
                  <a:ext uri="{FF2B5EF4-FFF2-40B4-BE49-F238E27FC236}">
                    <a16:creationId xmlns:a16="http://schemas.microsoft.com/office/drawing/2014/main" id="{52F6242B-A17F-F1DB-32E5-66B64FAC14F1}"/>
                  </a:ext>
                </a:extLst>
              </p:cNvPr>
              <p:cNvGrpSpPr/>
              <p:nvPr/>
            </p:nvGrpSpPr>
            <p:grpSpPr>
              <a:xfrm>
                <a:off x="7709000" y="2385677"/>
                <a:ext cx="3589564" cy="1142771"/>
                <a:chOff x="7709000" y="2385677"/>
                <a:chExt cx="3589564" cy="1142771"/>
              </a:xfrm>
            </p:grpSpPr>
            <p:cxnSp>
              <p:nvCxnSpPr>
                <p:cNvPr id="61" name="连接符: 肘形 60">
                  <a:extLst>
                    <a:ext uri="{FF2B5EF4-FFF2-40B4-BE49-F238E27FC236}">
                      <a16:creationId xmlns:a16="http://schemas.microsoft.com/office/drawing/2014/main" id="{A17D9BF3-F107-8D42-B365-B3A3E77A134F}"/>
                    </a:ext>
                  </a:extLst>
                </p:cNvPr>
                <p:cNvCxnSpPr>
                  <a:cxnSpLocks/>
                  <a:stCxn id="17" idx="2"/>
                </p:cNvCxnSpPr>
                <p:nvPr/>
              </p:nvCxnSpPr>
              <p:spPr>
                <a:xfrm rot="5400000">
                  <a:off x="9087537" y="1317421"/>
                  <a:ext cx="832491" cy="3589563"/>
                </a:xfrm>
                <a:prstGeom prst="bentConnector2">
                  <a:avLst/>
                </a:prstGeom>
                <a:ln w="19050"/>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FE273A38-103D-4A3B-D278-DFCBEC82304B}"/>
                    </a:ext>
                  </a:extLst>
                </p:cNvPr>
                <p:cNvCxnSpPr>
                  <a:cxnSpLocks/>
                  <a:endCxn id="43" idx="2"/>
                </p:cNvCxnSpPr>
                <p:nvPr/>
              </p:nvCxnSpPr>
              <p:spPr>
                <a:xfrm flipV="1">
                  <a:off x="7709000" y="2385677"/>
                  <a:ext cx="1" cy="114277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grpSp>
      <p:sp>
        <p:nvSpPr>
          <p:cNvPr id="74" name="文本框 73">
            <a:extLst>
              <a:ext uri="{FF2B5EF4-FFF2-40B4-BE49-F238E27FC236}">
                <a16:creationId xmlns:a16="http://schemas.microsoft.com/office/drawing/2014/main" id="{27CA689F-6E92-AF5B-2F5E-EC24BDF6BF0F}"/>
              </a:ext>
            </a:extLst>
          </p:cNvPr>
          <p:cNvSpPr txBox="1"/>
          <p:nvPr/>
        </p:nvSpPr>
        <p:spPr>
          <a:xfrm>
            <a:off x="3699564" y="3882164"/>
            <a:ext cx="8166470" cy="1526187"/>
          </a:xfrm>
          <a:prstGeom prst="rect">
            <a:avLst/>
          </a:prstGeom>
          <a:noFill/>
          <a:ln w="19050">
            <a:solidFill>
              <a:schemeClr val="accent1"/>
            </a:solidFill>
            <a:prstDash val="dash"/>
          </a:ln>
        </p:spPr>
        <p:txBody>
          <a:bodyPr wrap="square" rtlCol="0">
            <a:spAutoFit/>
          </a:bodyPr>
          <a:lstStyle/>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流程的精制部分采用了结晶、蒸馏、萃取等分离手段。其中萃取剂可以选择二氯甲烷、环己烷、甲苯、苯、氯仿或三氯乙烯。</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除醇是因为醇存在下，环化反应会生成副产物</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甲基己内酰胺及其各种前体，会降低</a:t>
            </a:r>
            <a:r>
              <a:rPr lang="en-US" altLang="zh-CN" sz="1600" dirty="0">
                <a:latin typeface="微软雅黑" panose="020B0503020204020204" pitchFamily="34" charset="-122"/>
                <a:ea typeface="微软雅黑" panose="020B0503020204020204" pitchFamily="34" charset="-122"/>
              </a:rPr>
              <a:t>ε-</a:t>
            </a:r>
            <a:r>
              <a:rPr lang="zh-CN" altLang="en-US" sz="1600" dirty="0">
                <a:latin typeface="微软雅黑" panose="020B0503020204020204" pitchFamily="34" charset="-122"/>
                <a:ea typeface="微软雅黑" panose="020B0503020204020204" pitchFamily="34" charset="-122"/>
              </a:rPr>
              <a:t>己内酰胺的收率。</a:t>
            </a:r>
          </a:p>
        </p:txBody>
      </p:sp>
      <p:sp>
        <p:nvSpPr>
          <p:cNvPr id="75" name="文本框 74">
            <a:extLst>
              <a:ext uri="{FF2B5EF4-FFF2-40B4-BE49-F238E27FC236}">
                <a16:creationId xmlns:a16="http://schemas.microsoft.com/office/drawing/2014/main" id="{7439739D-765A-8574-D299-B6041A4D74ED}"/>
              </a:ext>
            </a:extLst>
          </p:cNvPr>
          <p:cNvSpPr txBox="1"/>
          <p:nvPr/>
        </p:nvSpPr>
        <p:spPr>
          <a:xfrm>
            <a:off x="1703936" y="6221653"/>
            <a:ext cx="5224507" cy="415498"/>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[1]R·P·M·</a:t>
            </a:r>
            <a:r>
              <a:rPr lang="zh-CN" altLang="en-US" sz="1050" dirty="0">
                <a:latin typeface="微软雅黑" panose="020B0503020204020204" pitchFamily="34" charset="-122"/>
                <a:ea typeface="微软雅黑" panose="020B0503020204020204" pitchFamily="34" charset="-122"/>
              </a:rPr>
              <a:t>圭特 </a:t>
            </a:r>
            <a:r>
              <a:rPr lang="en-US" altLang="zh-CN" sz="1050" dirty="0">
                <a:latin typeface="微软雅黑" panose="020B0503020204020204" pitchFamily="34" charset="-122"/>
                <a:ea typeface="微软雅黑" panose="020B0503020204020204" pitchFamily="34" charset="-122"/>
              </a:rPr>
              <a:t>,S·L·</a:t>
            </a:r>
            <a:r>
              <a:rPr lang="zh-CN" altLang="en-US" sz="1050" dirty="0">
                <a:latin typeface="微软雅黑" panose="020B0503020204020204" pitchFamily="34" charset="-122"/>
                <a:ea typeface="微软雅黑" panose="020B0503020204020204" pitchFamily="34" charset="-122"/>
              </a:rPr>
              <a:t>拉内 </a:t>
            </a:r>
            <a:r>
              <a:rPr lang="en-US" altLang="zh-CN" sz="1050" dirty="0">
                <a:latin typeface="微软雅黑" panose="020B0503020204020204" pitchFamily="34" charset="-122"/>
                <a:ea typeface="微软雅黑" panose="020B0503020204020204" pitchFamily="34" charset="-122"/>
              </a:rPr>
              <a:t>,W·</a:t>
            </a:r>
            <a:r>
              <a:rPr lang="zh-CN" altLang="en-US" sz="1050" dirty="0">
                <a:latin typeface="微软雅黑" panose="020B0503020204020204" pitchFamily="34" charset="-122"/>
                <a:ea typeface="微软雅黑" panose="020B0503020204020204" pitchFamily="34" charset="-122"/>
              </a:rPr>
              <a:t>布伊斯 </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从</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－氨基己酸中制备</a:t>
            </a:r>
            <a:r>
              <a:rPr lang="el-GR" altLang="zh-CN" sz="1050" dirty="0">
                <a:latin typeface="微软雅黑" panose="020B0503020204020204" pitchFamily="34" charset="-122"/>
                <a:ea typeface="微软雅黑" panose="020B0503020204020204" pitchFamily="34" charset="-122"/>
              </a:rPr>
              <a:t>ε</a:t>
            </a:r>
            <a:r>
              <a:rPr lang="zh-CN" altLang="el-GR"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己内酰胺的方法</a:t>
            </a:r>
            <a:r>
              <a:rPr lang="en-US" altLang="zh-CN" sz="1050" dirty="0">
                <a:latin typeface="微软雅黑" panose="020B0503020204020204" pitchFamily="34" charset="-122"/>
                <a:ea typeface="微软雅黑" panose="020B0503020204020204" pitchFamily="34" charset="-122"/>
              </a:rPr>
              <a:t>[P].</a:t>
            </a:r>
            <a:r>
              <a:rPr lang="zh-CN" altLang="en-US" sz="1050" dirty="0">
                <a:latin typeface="微软雅黑" panose="020B0503020204020204" pitchFamily="34" charset="-122"/>
                <a:ea typeface="微软雅黑" panose="020B0503020204020204" pitchFamily="34" charset="-122"/>
              </a:rPr>
              <a:t>荷兰</a:t>
            </a:r>
            <a:r>
              <a:rPr lang="en-US" altLang="zh-CN" sz="1050" dirty="0">
                <a:latin typeface="微软雅黑" panose="020B0503020204020204" pitchFamily="34" charset="-122"/>
                <a:ea typeface="微软雅黑" panose="020B0503020204020204" pitchFamily="34" charset="-122"/>
              </a:rPr>
              <a:t>:</a:t>
            </a:r>
          </a:p>
          <a:p>
            <a:r>
              <a:rPr lang="en-US" altLang="zh-CN" sz="1050" dirty="0">
                <a:latin typeface="微软雅黑" panose="020B0503020204020204" pitchFamily="34" charset="-122"/>
                <a:ea typeface="微软雅黑" panose="020B0503020204020204" pitchFamily="34" charset="-122"/>
              </a:rPr>
              <a:t>CN97193939.X,2002-07-24.</a:t>
            </a:r>
            <a:endParaRPr lang="zh-CN" altLang="en-US" sz="105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5979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296585" y="6272026"/>
            <a:ext cx="82852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7</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6">
            <a:extLst>
              <a:ext uri="{FF2B5EF4-FFF2-40B4-BE49-F238E27FC236}">
                <a16:creationId xmlns:a16="http://schemas.microsoft.com/office/drawing/2014/main" id="{4C656F8D-E90D-D111-C8CC-399442A117B9}"/>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sp>
        <p:nvSpPr>
          <p:cNvPr id="2" name="文本框 1">
            <a:extLst>
              <a:ext uri="{FF2B5EF4-FFF2-40B4-BE49-F238E27FC236}">
                <a16:creationId xmlns:a16="http://schemas.microsoft.com/office/drawing/2014/main" id="{61030FBF-FEC4-A1EA-78F8-D61F45D66C08}"/>
              </a:ext>
            </a:extLst>
          </p:cNvPr>
          <p:cNvSpPr txBox="1"/>
          <p:nvPr/>
        </p:nvSpPr>
        <p:spPr>
          <a:xfrm>
            <a:off x="156633" y="849949"/>
            <a:ext cx="8233344"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专利</a:t>
            </a:r>
            <a:r>
              <a:rPr lang="en-US" altLang="zh-CN" sz="1600" dirty="0">
                <a:latin typeface="微软雅黑" panose="020B0503020204020204" pitchFamily="34" charset="-122"/>
                <a:ea typeface="微软雅黑" panose="020B0503020204020204" pitchFamily="34" charset="-122"/>
              </a:rPr>
              <a:t>CN1216529A</a:t>
            </a:r>
            <a:r>
              <a:rPr lang="zh-CN" altLang="en-US" sz="1600" dirty="0">
                <a:latin typeface="微软雅黑" panose="020B0503020204020204" pitchFamily="34" charset="-122"/>
                <a:ea typeface="微软雅黑" panose="020B0503020204020204" pitchFamily="34" charset="-122"/>
              </a:rPr>
              <a:t>公开了一种</a:t>
            </a:r>
            <a:r>
              <a:rPr lang="en-US" altLang="zh-CN" sz="1600" dirty="0">
                <a:latin typeface="微软雅黑" panose="020B0503020204020204" pitchFamily="34" charset="-122"/>
                <a:ea typeface="微软雅黑" panose="020B0503020204020204" pitchFamily="34" charset="-122"/>
              </a:rPr>
              <a:t>ε-</a:t>
            </a:r>
            <a:r>
              <a:rPr lang="zh-CN" altLang="en-US" sz="1600" dirty="0">
                <a:latin typeface="微软雅黑" panose="020B0503020204020204" pitchFamily="34" charset="-122"/>
                <a:ea typeface="微软雅黑" panose="020B0503020204020204" pitchFamily="34" charset="-122"/>
              </a:rPr>
              <a:t>己内酰胺、</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氨基己酸和</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氨基己酰胺混合物的制备方法</a:t>
            </a:r>
          </a:p>
        </p:txBody>
      </p:sp>
      <p:graphicFrame>
        <p:nvGraphicFramePr>
          <p:cNvPr id="3" name="表格 2">
            <a:extLst>
              <a:ext uri="{FF2B5EF4-FFF2-40B4-BE49-F238E27FC236}">
                <a16:creationId xmlns:a16="http://schemas.microsoft.com/office/drawing/2014/main" id="{BBDAE726-48E1-882E-7A21-867F68FAF18E}"/>
              </a:ext>
            </a:extLst>
          </p:cNvPr>
          <p:cNvGraphicFramePr>
            <a:graphicFrameLocks noGrp="1"/>
          </p:cNvGraphicFramePr>
          <p:nvPr>
            <p:extLst>
              <p:ext uri="{D42A27DB-BD31-4B8C-83A1-F6EECF244321}">
                <p14:modId xmlns:p14="http://schemas.microsoft.com/office/powerpoint/2010/main" val="4014614537"/>
              </p:ext>
            </p:extLst>
          </p:nvPr>
        </p:nvGraphicFramePr>
        <p:xfrm>
          <a:off x="158904" y="3065938"/>
          <a:ext cx="4696496" cy="2225040"/>
        </p:xfrm>
        <a:graphic>
          <a:graphicData uri="http://schemas.openxmlformats.org/drawingml/2006/table">
            <a:tbl>
              <a:tblPr firstRow="1" bandRow="1">
                <a:tableStyleId>{5C22544A-7EE6-4342-B048-85BDC9FD1C3A}</a:tableStyleId>
              </a:tblPr>
              <a:tblGrid>
                <a:gridCol w="4696496">
                  <a:extLst>
                    <a:ext uri="{9D8B030D-6E8A-4147-A177-3AD203B41FA5}">
                      <a16:colId xmlns:a16="http://schemas.microsoft.com/office/drawing/2014/main" val="3022216423"/>
                    </a:ext>
                  </a:extLst>
                </a:gridCol>
              </a:tblGrid>
              <a:tr h="370840">
                <a:tc>
                  <a:txBody>
                    <a:bodyPr/>
                    <a:lstStyle/>
                    <a:p>
                      <a:pPr algn="ctr"/>
                      <a:r>
                        <a:rPr lang="zh-CN" altLang="en-US" dirty="0">
                          <a:latin typeface="微软雅黑" panose="020B0503020204020204" pitchFamily="34" charset="-122"/>
                          <a:ea typeface="微软雅黑" panose="020B0503020204020204" pitchFamily="34" charset="-122"/>
                        </a:rPr>
                        <a:t>含水混合物组成</a:t>
                      </a:r>
                    </a:p>
                  </a:txBody>
                  <a:tcPr anchor="ctr"/>
                </a:tc>
                <a:extLst>
                  <a:ext uri="{0D108BD9-81ED-4DB2-BD59-A6C34878D82A}">
                    <a16:rowId xmlns:a16="http://schemas.microsoft.com/office/drawing/2014/main" val="315835456"/>
                  </a:ext>
                </a:extLst>
              </a:tr>
              <a:tr h="370840">
                <a:tc>
                  <a:txBody>
                    <a:bodyPr/>
                    <a:lstStyle/>
                    <a:p>
                      <a:pPr algn="ctr"/>
                      <a:r>
                        <a:rPr lang="en-US" altLang="zh-CN" dirty="0">
                          <a:latin typeface="微软雅黑" panose="020B0503020204020204" pitchFamily="34" charset="-122"/>
                          <a:ea typeface="微软雅黑" panose="020B0503020204020204" pitchFamily="34" charset="-122"/>
                        </a:rPr>
                        <a:t>1-7wt%6-</a:t>
                      </a:r>
                      <a:r>
                        <a:rPr lang="zh-CN" altLang="en-US" dirty="0">
                          <a:latin typeface="微软雅黑" panose="020B0503020204020204" pitchFamily="34" charset="-122"/>
                          <a:ea typeface="微软雅黑" panose="020B0503020204020204" pitchFamily="34" charset="-122"/>
                        </a:rPr>
                        <a:t>氨基己酸</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氨基己酰胺的低聚物</a:t>
                      </a:r>
                    </a:p>
                  </a:txBody>
                  <a:tcPr anchor="ctr"/>
                </a:tc>
                <a:extLst>
                  <a:ext uri="{0D108BD9-81ED-4DB2-BD59-A6C34878D82A}">
                    <a16:rowId xmlns:a16="http://schemas.microsoft.com/office/drawing/2014/main" val="545742114"/>
                  </a:ext>
                </a:extLst>
              </a:tr>
              <a:tr h="370840">
                <a:tc>
                  <a:txBody>
                    <a:bodyPr/>
                    <a:lstStyle/>
                    <a:p>
                      <a:pPr algn="ctr"/>
                      <a:r>
                        <a:rPr lang="en-US" altLang="zh-CN" dirty="0">
                          <a:latin typeface="微软雅黑" panose="020B0503020204020204" pitchFamily="34" charset="-122"/>
                          <a:ea typeface="微软雅黑" panose="020B0503020204020204" pitchFamily="34" charset="-122"/>
                        </a:rPr>
                        <a:t>0.5-7wt%</a:t>
                      </a:r>
                      <a:r>
                        <a:rPr lang="zh-CN" altLang="en-US" dirty="0">
                          <a:latin typeface="微软雅黑" panose="020B0503020204020204" pitchFamily="34" charset="-122"/>
                          <a:ea typeface="微软雅黑" panose="020B0503020204020204" pitchFamily="34" charset="-122"/>
                        </a:rPr>
                        <a:t>氨（等同氨）</a:t>
                      </a:r>
                    </a:p>
                  </a:txBody>
                  <a:tcPr anchor="ctr"/>
                </a:tc>
                <a:extLst>
                  <a:ext uri="{0D108BD9-81ED-4DB2-BD59-A6C34878D82A}">
                    <a16:rowId xmlns:a16="http://schemas.microsoft.com/office/drawing/2014/main" val="4078636141"/>
                  </a:ext>
                </a:extLst>
              </a:tr>
              <a:tr h="370840">
                <a:tc>
                  <a:txBody>
                    <a:bodyPr/>
                    <a:lstStyle/>
                    <a:p>
                      <a:pPr algn="ctr"/>
                      <a:r>
                        <a:rPr lang="en-US" altLang="zh-CN" dirty="0">
                          <a:latin typeface="微软雅黑" panose="020B0503020204020204" pitchFamily="34" charset="-122"/>
                          <a:ea typeface="微软雅黑" panose="020B0503020204020204" pitchFamily="34" charset="-122"/>
                        </a:rPr>
                        <a:t>2-15wt%6-</a:t>
                      </a:r>
                      <a:r>
                        <a:rPr lang="zh-CN" altLang="en-US" dirty="0">
                          <a:latin typeface="微软雅黑" panose="020B0503020204020204" pitchFamily="34" charset="-122"/>
                          <a:ea typeface="微软雅黑" panose="020B0503020204020204" pitchFamily="34" charset="-122"/>
                        </a:rPr>
                        <a:t>氨基己酸</a:t>
                      </a:r>
                    </a:p>
                  </a:txBody>
                  <a:tcPr anchor="ctr"/>
                </a:tc>
                <a:extLst>
                  <a:ext uri="{0D108BD9-81ED-4DB2-BD59-A6C34878D82A}">
                    <a16:rowId xmlns:a16="http://schemas.microsoft.com/office/drawing/2014/main" val="4290798183"/>
                  </a:ext>
                </a:extLst>
              </a:tr>
              <a:tr h="370840">
                <a:tc>
                  <a:txBody>
                    <a:bodyPr/>
                    <a:lstStyle/>
                    <a:p>
                      <a:pPr algn="ctr"/>
                      <a:r>
                        <a:rPr lang="en-US" altLang="zh-CN" dirty="0">
                          <a:latin typeface="微软雅黑" panose="020B0503020204020204" pitchFamily="34" charset="-122"/>
                          <a:ea typeface="微软雅黑" panose="020B0503020204020204" pitchFamily="34" charset="-122"/>
                        </a:rPr>
                        <a:t>8-20wt%6-</a:t>
                      </a:r>
                      <a:r>
                        <a:rPr lang="zh-CN" altLang="en-US" dirty="0">
                          <a:latin typeface="微软雅黑" panose="020B0503020204020204" pitchFamily="34" charset="-122"/>
                          <a:ea typeface="微软雅黑" panose="020B0503020204020204" pitchFamily="34" charset="-122"/>
                        </a:rPr>
                        <a:t>氨基己酰胺</a:t>
                      </a:r>
                    </a:p>
                  </a:txBody>
                  <a:tcPr anchor="ctr"/>
                </a:tc>
                <a:extLst>
                  <a:ext uri="{0D108BD9-81ED-4DB2-BD59-A6C34878D82A}">
                    <a16:rowId xmlns:a16="http://schemas.microsoft.com/office/drawing/2014/main" val="198795759"/>
                  </a:ext>
                </a:extLst>
              </a:tr>
              <a:tr h="370840">
                <a:tc>
                  <a:txBody>
                    <a:bodyPr/>
                    <a:lstStyle/>
                    <a:p>
                      <a:pPr algn="ctr"/>
                      <a:r>
                        <a:rPr lang="en-US" altLang="zh-CN" dirty="0">
                          <a:latin typeface="微软雅黑" panose="020B0503020204020204" pitchFamily="34" charset="-122"/>
                          <a:ea typeface="微软雅黑" panose="020B0503020204020204" pitchFamily="34" charset="-122"/>
                        </a:rPr>
                        <a:t>0.1-20wt%ε-</a:t>
                      </a:r>
                      <a:r>
                        <a:rPr lang="zh-CN" altLang="en-US" dirty="0">
                          <a:latin typeface="微软雅黑" panose="020B0503020204020204" pitchFamily="34" charset="-122"/>
                          <a:ea typeface="微软雅黑" panose="020B0503020204020204" pitchFamily="34" charset="-122"/>
                        </a:rPr>
                        <a:t>己内酰胺</a:t>
                      </a:r>
                    </a:p>
                  </a:txBody>
                  <a:tcPr anchor="ctr"/>
                </a:tc>
                <a:extLst>
                  <a:ext uri="{0D108BD9-81ED-4DB2-BD59-A6C34878D82A}">
                    <a16:rowId xmlns:a16="http://schemas.microsoft.com/office/drawing/2014/main" val="4191246945"/>
                  </a:ext>
                </a:extLst>
              </a:tr>
            </a:tbl>
          </a:graphicData>
        </a:graphic>
      </p:graphicFrame>
      <p:sp>
        <p:nvSpPr>
          <p:cNvPr id="6" name="文本框 5">
            <a:extLst>
              <a:ext uri="{FF2B5EF4-FFF2-40B4-BE49-F238E27FC236}">
                <a16:creationId xmlns:a16="http://schemas.microsoft.com/office/drawing/2014/main" id="{6A3FD537-0D9C-3F30-5F54-DF1DCEE93414}"/>
              </a:ext>
            </a:extLst>
          </p:cNvPr>
          <p:cNvSpPr txBox="1"/>
          <p:nvPr/>
        </p:nvSpPr>
        <p:spPr>
          <a:xfrm>
            <a:off x="156633" y="5423276"/>
            <a:ext cx="4696496" cy="584775"/>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等同氨指游离氨和在所述含水混合物的一种化合物中以末端酰胺基形式存在的氨</a:t>
            </a:r>
          </a:p>
        </p:txBody>
      </p:sp>
      <p:grpSp>
        <p:nvGrpSpPr>
          <p:cNvPr id="88" name="组合 87">
            <a:extLst>
              <a:ext uri="{FF2B5EF4-FFF2-40B4-BE49-F238E27FC236}">
                <a16:creationId xmlns:a16="http://schemas.microsoft.com/office/drawing/2014/main" id="{752ECEC2-5354-0A74-AD5E-DBE2644666DC}"/>
              </a:ext>
            </a:extLst>
          </p:cNvPr>
          <p:cNvGrpSpPr/>
          <p:nvPr/>
        </p:nvGrpSpPr>
        <p:grpSpPr>
          <a:xfrm>
            <a:off x="1279303" y="1405671"/>
            <a:ext cx="9271786" cy="2549288"/>
            <a:chOff x="939938" y="1445273"/>
            <a:chExt cx="9271786" cy="2549288"/>
          </a:xfrm>
          <a:noFill/>
        </p:grpSpPr>
        <p:grpSp>
          <p:nvGrpSpPr>
            <p:cNvPr id="81" name="组合 80">
              <a:extLst>
                <a:ext uri="{FF2B5EF4-FFF2-40B4-BE49-F238E27FC236}">
                  <a16:creationId xmlns:a16="http://schemas.microsoft.com/office/drawing/2014/main" id="{092D806E-14D8-620E-0F25-C200F2C93F23}"/>
                </a:ext>
              </a:extLst>
            </p:cNvPr>
            <p:cNvGrpSpPr/>
            <p:nvPr/>
          </p:nvGrpSpPr>
          <p:grpSpPr>
            <a:xfrm>
              <a:off x="939938" y="2137314"/>
              <a:ext cx="9271786" cy="1857247"/>
              <a:chOff x="227517" y="1708468"/>
              <a:chExt cx="9271786" cy="1857247"/>
            </a:xfrm>
            <a:grpFill/>
          </p:grpSpPr>
          <p:sp>
            <p:nvSpPr>
              <p:cNvPr id="8" name="矩形: 圆角 7">
                <a:extLst>
                  <a:ext uri="{FF2B5EF4-FFF2-40B4-BE49-F238E27FC236}">
                    <a16:creationId xmlns:a16="http://schemas.microsoft.com/office/drawing/2014/main" id="{AFBDDE86-4401-D0A5-DA03-FF6CD3BDDB03}"/>
                  </a:ext>
                </a:extLst>
              </p:cNvPr>
              <p:cNvSpPr/>
              <p:nvPr/>
            </p:nvSpPr>
            <p:spPr>
              <a:xfrm>
                <a:off x="227517" y="1789143"/>
                <a:ext cx="1791093" cy="612742"/>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含水混合物</a:t>
                </a:r>
              </a:p>
            </p:txBody>
          </p:sp>
          <p:sp>
            <p:nvSpPr>
              <p:cNvPr id="12" name="矩形: 圆角 11">
                <a:extLst>
                  <a:ext uri="{FF2B5EF4-FFF2-40B4-BE49-F238E27FC236}">
                    <a16:creationId xmlns:a16="http://schemas.microsoft.com/office/drawing/2014/main" id="{A734CD9B-BACE-19FF-D7E7-045002E5DD8C}"/>
                  </a:ext>
                </a:extLst>
              </p:cNvPr>
              <p:cNvSpPr/>
              <p:nvPr/>
            </p:nvSpPr>
            <p:spPr>
              <a:xfrm>
                <a:off x="3803836" y="1789143"/>
                <a:ext cx="2219674" cy="612742"/>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富含</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ε-</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己内酰胺的反应混合物</a:t>
                </a:r>
              </a:p>
            </p:txBody>
          </p:sp>
          <p:sp>
            <p:nvSpPr>
              <p:cNvPr id="13" name="矩形: 圆角 12">
                <a:extLst>
                  <a:ext uri="{FF2B5EF4-FFF2-40B4-BE49-F238E27FC236}">
                    <a16:creationId xmlns:a16="http://schemas.microsoft.com/office/drawing/2014/main" id="{519E39E4-706D-8456-3E9B-A9128CF38A18}"/>
                  </a:ext>
                </a:extLst>
              </p:cNvPr>
              <p:cNvSpPr/>
              <p:nvPr/>
            </p:nvSpPr>
            <p:spPr>
              <a:xfrm>
                <a:off x="7708210" y="1785861"/>
                <a:ext cx="1791093" cy="612742"/>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含低含量</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ε-</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己内酰胺的混合物</a:t>
                </a:r>
              </a:p>
            </p:txBody>
          </p:sp>
          <p:cxnSp>
            <p:nvCxnSpPr>
              <p:cNvPr id="31" name="直接箭头连接符 30">
                <a:extLst>
                  <a:ext uri="{FF2B5EF4-FFF2-40B4-BE49-F238E27FC236}">
                    <a16:creationId xmlns:a16="http://schemas.microsoft.com/office/drawing/2014/main" id="{77032F70-CAFF-504E-D8FF-E5EC6F055509}"/>
                  </a:ext>
                </a:extLst>
              </p:cNvPr>
              <p:cNvCxnSpPr>
                <a:cxnSpLocks/>
              </p:cNvCxnSpPr>
              <p:nvPr/>
            </p:nvCxnSpPr>
            <p:spPr>
              <a:xfrm>
                <a:off x="2018610" y="2095514"/>
                <a:ext cx="1785226" cy="0"/>
              </a:xfrm>
              <a:prstGeom prst="straightConnector1">
                <a:avLst/>
              </a:prstGeom>
              <a:grpFill/>
              <a:ln w="19050">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2A48E58E-0089-884D-E4C3-2992CC428D50}"/>
                  </a:ext>
                </a:extLst>
              </p:cNvPr>
              <p:cNvSpPr txBox="1"/>
              <p:nvPr/>
            </p:nvSpPr>
            <p:spPr>
              <a:xfrm>
                <a:off x="1968589" y="1708468"/>
                <a:ext cx="1465466" cy="338554"/>
              </a:xfrm>
              <a:prstGeom prst="rect">
                <a:avLst/>
              </a:prstGeom>
              <a:grpFill/>
            </p:spPr>
            <p:txBody>
              <a:bodyPr wrap="none" rtlCol="0">
                <a:spAutoFit/>
              </a:bodyPr>
              <a:lstStyle/>
              <a:p>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加热</a:t>
                </a:r>
                <a:r>
                  <a:rPr lang="en-US" altLang="zh-CN"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环合反应</a:t>
                </a:r>
              </a:p>
            </p:txBody>
          </p:sp>
          <p:sp>
            <p:nvSpPr>
              <p:cNvPr id="55" name="文本框 54">
                <a:extLst>
                  <a:ext uri="{FF2B5EF4-FFF2-40B4-BE49-F238E27FC236}">
                    <a16:creationId xmlns:a16="http://schemas.microsoft.com/office/drawing/2014/main" id="{2F90D56C-4AFE-10D0-0779-E6884A9E60AC}"/>
                  </a:ext>
                </a:extLst>
              </p:cNvPr>
              <p:cNvSpPr txBox="1"/>
              <p:nvPr/>
            </p:nvSpPr>
            <p:spPr>
              <a:xfrm>
                <a:off x="2347271" y="2130944"/>
                <a:ext cx="1199367" cy="338554"/>
              </a:xfrm>
              <a:prstGeom prst="rect">
                <a:avLst/>
              </a:prstGeom>
              <a:grpFill/>
            </p:spPr>
            <p:txBody>
              <a:bodyPr wrap="none" rtlCol="0">
                <a:spAutoFit/>
              </a:bodyPr>
              <a:lstStyle/>
              <a:p>
                <a:r>
                  <a:rPr lang="en-US" altLang="zh-CN"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280-330</a:t>
                </a:r>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p>
            </p:txBody>
          </p:sp>
          <p:cxnSp>
            <p:nvCxnSpPr>
              <p:cNvPr id="70" name="连接符: 肘形 69">
                <a:extLst>
                  <a:ext uri="{FF2B5EF4-FFF2-40B4-BE49-F238E27FC236}">
                    <a16:creationId xmlns:a16="http://schemas.microsoft.com/office/drawing/2014/main" id="{4F1F6E27-D1E5-4079-EC3E-5C2DF419B82C}"/>
                  </a:ext>
                </a:extLst>
              </p:cNvPr>
              <p:cNvCxnSpPr/>
              <p:nvPr/>
            </p:nvCxnSpPr>
            <p:spPr>
              <a:xfrm rot="16200000" flipH="1">
                <a:off x="6154690" y="1160867"/>
                <a:ext cx="1163831" cy="3645865"/>
              </a:xfrm>
              <a:prstGeom prst="bentConnector2">
                <a:avLst/>
              </a:prstGeom>
              <a:grpFill/>
              <a:ln w="19050">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D119B679-931C-46E9-B116-262CDDC040E6}"/>
                  </a:ext>
                </a:extLst>
              </p:cNvPr>
              <p:cNvSpPr txBox="1"/>
              <p:nvPr/>
            </p:nvSpPr>
            <p:spPr>
              <a:xfrm>
                <a:off x="4970148" y="3074427"/>
                <a:ext cx="3791423" cy="374571"/>
              </a:xfrm>
              <a:prstGeom prst="roundRect">
                <a:avLst/>
              </a:prstGeom>
              <a:solidFill>
                <a:schemeClr val="accent6">
                  <a:lumMod val="60000"/>
                  <a:lumOff val="40000"/>
                </a:schemeClr>
              </a:solidFill>
            </p:spPr>
            <p:txBody>
              <a:bodyPr wrap="none" rtlCol="0">
                <a:spAutoFit/>
              </a:bodyPr>
              <a:lstStyle/>
              <a:p>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结晶、</a:t>
                </a:r>
                <a:r>
                  <a:rPr lang="en-US" altLang="zh-CN"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真空</a:t>
                </a:r>
                <a:r>
                  <a:rPr lang="en-US" altLang="zh-CN"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蒸馏、萃取分离</a:t>
                </a:r>
                <a:r>
                  <a:rPr lang="en-US" altLang="zh-CN"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ε-</a:t>
                </a:r>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己内酰胺</a:t>
                </a:r>
              </a:p>
            </p:txBody>
          </p:sp>
          <p:cxnSp>
            <p:nvCxnSpPr>
              <p:cNvPr id="76" name="直接箭头连接符 75">
                <a:extLst>
                  <a:ext uri="{FF2B5EF4-FFF2-40B4-BE49-F238E27FC236}">
                    <a16:creationId xmlns:a16="http://schemas.microsoft.com/office/drawing/2014/main" id="{1F0E9543-3E9E-9524-788C-EB43992E30B9}"/>
                  </a:ext>
                </a:extLst>
              </p:cNvPr>
              <p:cNvCxnSpPr/>
              <p:nvPr/>
            </p:nvCxnSpPr>
            <p:spPr>
              <a:xfrm flipV="1">
                <a:off x="6023510" y="2092232"/>
                <a:ext cx="1684700" cy="3282"/>
              </a:xfrm>
              <a:prstGeom prst="straightConnector1">
                <a:avLst/>
              </a:prstGeom>
              <a:grpFill/>
              <a:ln w="19050">
                <a:tailEnd type="triangle"/>
              </a:ln>
            </p:spPr>
            <p:style>
              <a:lnRef idx="1">
                <a:schemeClr val="accent1"/>
              </a:lnRef>
              <a:fillRef idx="0">
                <a:schemeClr val="accent1"/>
              </a:fillRef>
              <a:effectRef idx="0">
                <a:schemeClr val="accent1"/>
              </a:effectRef>
              <a:fontRef idx="minor">
                <a:schemeClr val="tx1"/>
              </a:fontRef>
            </p:style>
          </p:cxnSp>
        </p:grpSp>
        <p:cxnSp>
          <p:nvCxnSpPr>
            <p:cNvPr id="83" name="连接符: 肘形 82">
              <a:extLst>
                <a:ext uri="{FF2B5EF4-FFF2-40B4-BE49-F238E27FC236}">
                  <a16:creationId xmlns:a16="http://schemas.microsoft.com/office/drawing/2014/main" id="{EB185A50-10B6-F00D-1A90-E87B2FB0C938}"/>
                </a:ext>
              </a:extLst>
            </p:cNvPr>
            <p:cNvCxnSpPr/>
            <p:nvPr/>
          </p:nvCxnSpPr>
          <p:spPr>
            <a:xfrm rot="16200000" flipV="1">
              <a:off x="6437388" y="-664083"/>
              <a:ext cx="762979" cy="4994602"/>
            </a:xfrm>
            <a:prstGeom prst="bentConnector2">
              <a:avLst/>
            </a:prstGeom>
            <a:grpFill/>
            <a:ln w="19050"/>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F8676EF5-F6D6-36B3-ADE1-AB50FDB04376}"/>
                </a:ext>
              </a:extLst>
            </p:cNvPr>
            <p:cNvCxnSpPr/>
            <p:nvPr/>
          </p:nvCxnSpPr>
          <p:spPr>
            <a:xfrm>
              <a:off x="4321576" y="1445273"/>
              <a:ext cx="0" cy="1077446"/>
            </a:xfrm>
            <a:prstGeom prst="straightConnector1">
              <a:avLst/>
            </a:prstGeom>
            <a:grpFill/>
            <a:ln w="19050">
              <a:tailEnd type="triangle"/>
            </a:ln>
          </p:spPr>
          <p:style>
            <a:lnRef idx="1">
              <a:schemeClr val="accent1"/>
            </a:lnRef>
            <a:fillRef idx="0">
              <a:schemeClr val="accent1"/>
            </a:fillRef>
            <a:effectRef idx="0">
              <a:schemeClr val="accent1"/>
            </a:effectRef>
            <a:fontRef idx="minor">
              <a:schemeClr val="tx1"/>
            </a:fontRef>
          </p:style>
        </p:cxnSp>
      </p:grpSp>
      <p:sp>
        <p:nvSpPr>
          <p:cNvPr id="89" name="文本框 88">
            <a:extLst>
              <a:ext uri="{FF2B5EF4-FFF2-40B4-BE49-F238E27FC236}">
                <a16:creationId xmlns:a16="http://schemas.microsoft.com/office/drawing/2014/main" id="{63AE7E81-1D05-A252-0655-60D76E41DAD3}"/>
              </a:ext>
            </a:extLst>
          </p:cNvPr>
          <p:cNvSpPr txBox="1"/>
          <p:nvPr/>
        </p:nvSpPr>
        <p:spPr>
          <a:xfrm>
            <a:off x="4908385" y="4112532"/>
            <a:ext cx="6963183" cy="189551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己内酰胺精制部分</a:t>
            </a:r>
            <a:r>
              <a:rPr lang="zh-CN" altLang="en-US" sz="1600" dirty="0">
                <a:solidFill>
                  <a:srgbClr val="FF0000"/>
                </a:solidFill>
                <a:latin typeface="微软雅黑" panose="020B0503020204020204" pitchFamily="34" charset="-122"/>
                <a:ea typeface="微软雅黑" panose="020B0503020204020204" pitchFamily="34" charset="-122"/>
              </a:rPr>
              <a:t>优选有机溶剂萃取</a:t>
            </a:r>
            <a:r>
              <a:rPr lang="zh-CN" altLang="en-US" sz="1600" dirty="0">
                <a:latin typeface="微软雅黑" panose="020B0503020204020204" pitchFamily="34" charset="-122"/>
                <a:ea typeface="微软雅黑" panose="020B0503020204020204" pitchFamily="34" charset="-122"/>
              </a:rPr>
              <a:t>，适宜的有机溶剂有二氯甲烷、环己烷、氯仿、甲苯、苯、四氯化碳和三氯乙烷。优选萃取条件下为液体且与水不混溶的</a:t>
            </a:r>
            <a:r>
              <a:rPr lang="zh-CN" altLang="en-US" sz="1600" dirty="0">
                <a:solidFill>
                  <a:srgbClr val="FF0000"/>
                </a:solidFill>
                <a:latin typeface="微软雅黑" panose="020B0503020204020204" pitchFamily="34" charset="-122"/>
                <a:ea typeface="微软雅黑" panose="020B0503020204020204" pitchFamily="34" charset="-122"/>
              </a:rPr>
              <a:t>多元醇</a:t>
            </a:r>
            <a:r>
              <a:rPr lang="zh-CN" altLang="en-US" sz="1600" dirty="0">
                <a:latin typeface="微软雅黑" panose="020B0503020204020204" pitchFamily="34" charset="-122"/>
                <a:ea typeface="微软雅黑" panose="020B0503020204020204" pitchFamily="34" charset="-122"/>
              </a:rPr>
              <a:t>，它们比上述氯代有机物具有更高的萃取率。</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若经蒸馏回收己内酰胺，</a:t>
            </a:r>
            <a:r>
              <a:rPr lang="zh-CN" altLang="en-US" sz="1600" dirty="0">
                <a:solidFill>
                  <a:srgbClr val="FF0000"/>
                </a:solidFill>
                <a:latin typeface="微软雅黑" panose="020B0503020204020204" pitchFamily="34" charset="-122"/>
                <a:ea typeface="微软雅黑" panose="020B0503020204020204" pitchFamily="34" charset="-122"/>
              </a:rPr>
              <a:t>优选不将所有己内酰胺分离</a:t>
            </a:r>
            <a:r>
              <a:rPr lang="zh-CN" altLang="en-US" sz="1600" dirty="0">
                <a:latin typeface="微软雅黑" panose="020B0503020204020204" pitchFamily="34" charset="-122"/>
                <a:ea typeface="微软雅黑" panose="020B0503020204020204" pitchFamily="34" charset="-122"/>
              </a:rPr>
              <a:t>，蒸馏残余物中存在</a:t>
            </a:r>
            <a:r>
              <a:rPr lang="zh-CN" altLang="en-US" sz="1600" dirty="0">
                <a:solidFill>
                  <a:srgbClr val="FF0000"/>
                </a:solidFill>
                <a:latin typeface="微软雅黑" panose="020B0503020204020204" pitchFamily="34" charset="-122"/>
                <a:ea typeface="微软雅黑" panose="020B0503020204020204" pitchFamily="34" charset="-122"/>
              </a:rPr>
              <a:t>少量己内酰胺</a:t>
            </a:r>
            <a:r>
              <a:rPr lang="zh-CN" altLang="en-US" sz="1600" dirty="0">
                <a:latin typeface="微软雅黑" panose="020B0503020204020204" pitchFamily="34" charset="-122"/>
                <a:ea typeface="微软雅黑" panose="020B0503020204020204" pitchFamily="34" charset="-122"/>
              </a:rPr>
              <a:t>使得混合物中的</a:t>
            </a:r>
            <a:r>
              <a:rPr lang="zh-CN" altLang="en-US" sz="1600" dirty="0">
                <a:solidFill>
                  <a:srgbClr val="FF0000"/>
                </a:solidFill>
                <a:latin typeface="微软雅黑" panose="020B0503020204020204" pitchFamily="34" charset="-122"/>
                <a:ea typeface="微软雅黑" panose="020B0503020204020204" pitchFamily="34" charset="-122"/>
              </a:rPr>
              <a:t>低聚物不易固化。</a:t>
            </a:r>
            <a:endParaRPr lang="en-US" altLang="zh-CN" sz="1600" dirty="0">
              <a:solidFill>
                <a:srgbClr val="FF0000"/>
              </a:solidFill>
              <a:latin typeface="微软雅黑" panose="020B0503020204020204" pitchFamily="34" charset="-122"/>
              <a:ea typeface="微软雅黑" panose="020B0503020204020204" pitchFamily="34" charset="-122"/>
            </a:endParaRPr>
          </a:p>
        </p:txBody>
      </p:sp>
      <p:sp>
        <p:nvSpPr>
          <p:cNvPr id="90" name="文本框 89">
            <a:extLst>
              <a:ext uri="{FF2B5EF4-FFF2-40B4-BE49-F238E27FC236}">
                <a16:creationId xmlns:a16="http://schemas.microsoft.com/office/drawing/2014/main" id="{2C9C0CF2-32ED-9324-3E4B-F57CA780C5FD}"/>
              </a:ext>
            </a:extLst>
          </p:cNvPr>
          <p:cNvSpPr txBox="1"/>
          <p:nvPr/>
        </p:nvSpPr>
        <p:spPr>
          <a:xfrm>
            <a:off x="1629931" y="6202130"/>
            <a:ext cx="5711820" cy="415498"/>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[1]W·</a:t>
            </a:r>
            <a:r>
              <a:rPr lang="zh-CN" altLang="en-US" sz="1050" dirty="0">
                <a:latin typeface="微软雅黑" panose="020B0503020204020204" pitchFamily="34" charset="-122"/>
                <a:ea typeface="微软雅黑" panose="020B0503020204020204" pitchFamily="34" charset="-122"/>
              </a:rPr>
              <a:t>布伊斯 </a:t>
            </a:r>
            <a:r>
              <a:rPr lang="en-US" altLang="zh-CN" sz="1050" dirty="0">
                <a:latin typeface="微软雅黑" panose="020B0503020204020204" pitchFamily="34" charset="-122"/>
                <a:ea typeface="微软雅黑" panose="020B0503020204020204" pitchFamily="34" charset="-122"/>
              </a:rPr>
              <a:t>,H·F·W·</a:t>
            </a:r>
            <a:r>
              <a:rPr lang="zh-CN" altLang="en-US" sz="1050" dirty="0">
                <a:latin typeface="微软雅黑" panose="020B0503020204020204" pitchFamily="34" charset="-122"/>
                <a:ea typeface="微软雅黑" panose="020B0503020204020204" pitchFamily="34" charset="-122"/>
              </a:rPr>
              <a:t>沃尔特斯 </a:t>
            </a:r>
            <a:r>
              <a:rPr lang="en-US" altLang="zh-CN" sz="1050" dirty="0">
                <a:latin typeface="微软雅黑" panose="020B0503020204020204" pitchFamily="34" charset="-122"/>
                <a:ea typeface="微软雅黑" panose="020B0503020204020204" pitchFamily="34" charset="-122"/>
              </a:rPr>
              <a:t>.</a:t>
            </a:r>
            <a:r>
              <a:rPr lang="el-GR" altLang="zh-CN" sz="1050" dirty="0">
                <a:latin typeface="微软雅黑" panose="020B0503020204020204" pitchFamily="34" charset="-122"/>
                <a:ea typeface="微软雅黑" panose="020B0503020204020204" pitchFamily="34" charset="-122"/>
              </a:rPr>
              <a:t>ε-</a:t>
            </a:r>
            <a:r>
              <a:rPr lang="zh-CN" altLang="en-US" sz="1050" dirty="0">
                <a:latin typeface="微软雅黑" panose="020B0503020204020204" pitchFamily="34" charset="-122"/>
                <a:ea typeface="微软雅黑" panose="020B0503020204020204" pitchFamily="34" charset="-122"/>
              </a:rPr>
              <a:t>己内酰胺、</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氨基己酸和</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氨基己酰胺混合物的制备方法</a:t>
            </a:r>
            <a:r>
              <a:rPr lang="en-US" altLang="zh-CN" sz="1050" dirty="0">
                <a:latin typeface="微软雅黑" panose="020B0503020204020204" pitchFamily="34" charset="-122"/>
                <a:ea typeface="微软雅黑" panose="020B0503020204020204" pitchFamily="34" charset="-122"/>
              </a:rPr>
              <a:t>[P].</a:t>
            </a:r>
          </a:p>
          <a:p>
            <a:r>
              <a:rPr lang="zh-CN" altLang="en-US" sz="1050" dirty="0">
                <a:latin typeface="微软雅黑" panose="020B0503020204020204" pitchFamily="34" charset="-122"/>
                <a:ea typeface="微软雅黑" panose="020B0503020204020204" pitchFamily="34" charset="-122"/>
              </a:rPr>
              <a:t>荷兰</a:t>
            </a:r>
            <a:r>
              <a:rPr lang="en-US" altLang="zh-CN" sz="1050" dirty="0">
                <a:latin typeface="微软雅黑" panose="020B0503020204020204" pitchFamily="34" charset="-122"/>
                <a:ea typeface="微软雅黑" panose="020B0503020204020204" pitchFamily="34" charset="-122"/>
              </a:rPr>
              <a:t>:CN97193863.6,1999-05-12.</a:t>
            </a:r>
            <a:endParaRPr lang="zh-CN" altLang="en-US" sz="105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8692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11296585" y="6272026"/>
            <a:ext cx="828520" cy="365125"/>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8</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56633" y="191347"/>
            <a:ext cx="338667" cy="3386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387773" y="342053"/>
            <a:ext cx="237067" cy="23706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587587"/>
            <a:ext cx="12192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itle 6">
            <a:extLst>
              <a:ext uri="{FF2B5EF4-FFF2-40B4-BE49-F238E27FC236}">
                <a16:creationId xmlns:a16="http://schemas.microsoft.com/office/drawing/2014/main" id="{4C656F8D-E90D-D111-C8CC-399442A117B9}"/>
              </a:ext>
            </a:extLst>
          </p:cNvPr>
          <p:cNvSpPr txBox="1"/>
          <p:nvPr>
            <p:custDataLst>
              <p:tags r:id="rId3"/>
            </p:custDataLst>
          </p:nvPr>
        </p:nvSpPr>
        <p:spPr>
          <a:xfrm>
            <a:off x="624840" y="55033"/>
            <a:ext cx="6149447" cy="507896"/>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96000" tIns="48260" rIns="96000" bIns="48260"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333"/>
              </a:spcBef>
              <a:buSzPct val="100000"/>
            </a:pPr>
            <a:r>
              <a:rPr lang="en-US" altLang="zh-CN"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667" b="1" spc="212"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氨基己酸与己内酰胺的分离</a:t>
            </a:r>
          </a:p>
        </p:txBody>
      </p:sp>
      <p:sp>
        <p:nvSpPr>
          <p:cNvPr id="2" name="文本框 1">
            <a:extLst>
              <a:ext uri="{FF2B5EF4-FFF2-40B4-BE49-F238E27FC236}">
                <a16:creationId xmlns:a16="http://schemas.microsoft.com/office/drawing/2014/main" id="{366DB728-853B-8F76-D7DC-6D26ECFF4EA6}"/>
              </a:ext>
            </a:extLst>
          </p:cNvPr>
          <p:cNvSpPr txBox="1"/>
          <p:nvPr/>
        </p:nvSpPr>
        <p:spPr>
          <a:xfrm>
            <a:off x="150889" y="773994"/>
            <a:ext cx="520687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专利</a:t>
            </a:r>
            <a:r>
              <a:rPr lang="en-US" altLang="zh-CN" sz="1600" dirty="0">
                <a:latin typeface="微软雅黑" panose="020B0503020204020204" pitchFamily="34" charset="-122"/>
                <a:ea typeface="微软雅黑" panose="020B0503020204020204" pitchFamily="34" charset="-122"/>
              </a:rPr>
              <a:t>CN105238823A</a:t>
            </a:r>
            <a:r>
              <a:rPr lang="zh-CN" altLang="en-US" sz="1600" dirty="0">
                <a:latin typeface="微软雅黑" panose="020B0503020204020204" pitchFamily="34" charset="-122"/>
                <a:ea typeface="微软雅黑" panose="020B0503020204020204" pitchFamily="34" charset="-122"/>
              </a:rPr>
              <a:t>公开了一种</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氨基己酸的制备方法</a:t>
            </a:r>
          </a:p>
        </p:txBody>
      </p:sp>
      <p:grpSp>
        <p:nvGrpSpPr>
          <p:cNvPr id="38" name="组合 37">
            <a:extLst>
              <a:ext uri="{FF2B5EF4-FFF2-40B4-BE49-F238E27FC236}">
                <a16:creationId xmlns:a16="http://schemas.microsoft.com/office/drawing/2014/main" id="{D0A2C648-AE29-BE64-2444-D1CE266B9A1E}"/>
              </a:ext>
            </a:extLst>
          </p:cNvPr>
          <p:cNvGrpSpPr/>
          <p:nvPr/>
        </p:nvGrpSpPr>
        <p:grpSpPr>
          <a:xfrm>
            <a:off x="145718" y="1532650"/>
            <a:ext cx="11896680" cy="2895553"/>
            <a:chOff x="156633" y="1325260"/>
            <a:chExt cx="11896680" cy="2895553"/>
          </a:xfrm>
        </p:grpSpPr>
        <p:sp>
          <p:nvSpPr>
            <p:cNvPr id="3" name="矩形: 圆角 2">
              <a:extLst>
                <a:ext uri="{FF2B5EF4-FFF2-40B4-BE49-F238E27FC236}">
                  <a16:creationId xmlns:a16="http://schemas.microsoft.com/office/drawing/2014/main" id="{E787F859-1D04-5DA5-9FDC-6D069ECCEE43}"/>
                </a:ext>
              </a:extLst>
            </p:cNvPr>
            <p:cNvSpPr/>
            <p:nvPr/>
          </p:nvSpPr>
          <p:spPr>
            <a:xfrm>
              <a:off x="156633" y="1325260"/>
              <a:ext cx="1851276" cy="55725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己内酰胺</a:t>
              </a:r>
            </a:p>
          </p:txBody>
        </p:sp>
        <p:sp>
          <p:nvSpPr>
            <p:cNvPr id="6" name="矩形 5">
              <a:extLst>
                <a:ext uri="{FF2B5EF4-FFF2-40B4-BE49-F238E27FC236}">
                  <a16:creationId xmlns:a16="http://schemas.microsoft.com/office/drawing/2014/main" id="{15164751-2502-C56E-2CF6-FF8F9ABC3777}"/>
                </a:ext>
              </a:extLst>
            </p:cNvPr>
            <p:cNvSpPr/>
            <p:nvPr/>
          </p:nvSpPr>
          <p:spPr>
            <a:xfrm>
              <a:off x="10202037" y="2406483"/>
              <a:ext cx="1851276" cy="55725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过滤后减压蒸馏</a:t>
              </a:r>
            </a:p>
          </p:txBody>
        </p:sp>
        <p:sp>
          <p:nvSpPr>
            <p:cNvPr id="8" name="矩形 7">
              <a:extLst>
                <a:ext uri="{FF2B5EF4-FFF2-40B4-BE49-F238E27FC236}">
                  <a16:creationId xmlns:a16="http://schemas.microsoft.com/office/drawing/2014/main" id="{3CE0CDFE-845F-177F-EAB0-27BAD7C8E7B3}"/>
                </a:ext>
              </a:extLst>
            </p:cNvPr>
            <p:cNvSpPr/>
            <p:nvPr/>
          </p:nvSpPr>
          <p:spPr>
            <a:xfrm>
              <a:off x="2760070" y="2407473"/>
              <a:ext cx="1851276" cy="55725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30</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℃恒温水浴中搅拌反应</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20h</a:t>
              </a:r>
              <a:endPar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07C8A04F-DF51-5B85-847F-0414CB7A4797}"/>
                </a:ext>
              </a:extLst>
            </p:cNvPr>
            <p:cNvSpPr/>
            <p:nvPr/>
          </p:nvSpPr>
          <p:spPr>
            <a:xfrm>
              <a:off x="5357764" y="2407473"/>
              <a:ext cx="1851276" cy="55725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粗</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6-</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氨基己酸溶液</a:t>
              </a:r>
            </a:p>
          </p:txBody>
        </p:sp>
        <p:sp>
          <p:nvSpPr>
            <p:cNvPr id="11" name="矩形 10">
              <a:extLst>
                <a:ext uri="{FF2B5EF4-FFF2-40B4-BE49-F238E27FC236}">
                  <a16:creationId xmlns:a16="http://schemas.microsoft.com/office/drawing/2014/main" id="{A75571AD-1700-DA4F-EB52-C69986E6647E}"/>
                </a:ext>
              </a:extLst>
            </p:cNvPr>
            <p:cNvSpPr/>
            <p:nvPr/>
          </p:nvSpPr>
          <p:spPr>
            <a:xfrm>
              <a:off x="7996602" y="2406483"/>
              <a:ext cx="1851276" cy="55725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升温至</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80-90</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℃，活性炭脱色</a:t>
              </a:r>
            </a:p>
          </p:txBody>
        </p:sp>
        <p:sp>
          <p:nvSpPr>
            <p:cNvPr id="12" name="矩形: 圆角 11">
              <a:extLst>
                <a:ext uri="{FF2B5EF4-FFF2-40B4-BE49-F238E27FC236}">
                  <a16:creationId xmlns:a16="http://schemas.microsoft.com/office/drawing/2014/main" id="{5366E946-AB29-882E-CAD1-CC368ACE39F0}"/>
                </a:ext>
              </a:extLst>
            </p:cNvPr>
            <p:cNvSpPr/>
            <p:nvPr/>
          </p:nvSpPr>
          <p:spPr>
            <a:xfrm>
              <a:off x="156633" y="3424808"/>
              <a:ext cx="1851276" cy="55725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磷酸盐缓冲液</a:t>
              </a:r>
            </a:p>
          </p:txBody>
        </p:sp>
        <p:sp>
          <p:nvSpPr>
            <p:cNvPr id="13" name="矩形: 圆角 12">
              <a:extLst>
                <a:ext uri="{FF2B5EF4-FFF2-40B4-BE49-F238E27FC236}">
                  <a16:creationId xmlns:a16="http://schemas.microsoft.com/office/drawing/2014/main" id="{D5B85465-C7F2-3AC7-335D-845F3013FFC9}"/>
                </a:ext>
              </a:extLst>
            </p:cNvPr>
            <p:cNvSpPr/>
            <p:nvPr/>
          </p:nvSpPr>
          <p:spPr>
            <a:xfrm>
              <a:off x="156633" y="2407473"/>
              <a:ext cx="1851276" cy="55725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甲酸铵</a:t>
              </a:r>
            </a:p>
          </p:txBody>
        </p:sp>
        <p:sp>
          <p:nvSpPr>
            <p:cNvPr id="14" name="加号 13">
              <a:extLst>
                <a:ext uri="{FF2B5EF4-FFF2-40B4-BE49-F238E27FC236}">
                  <a16:creationId xmlns:a16="http://schemas.microsoft.com/office/drawing/2014/main" id="{AC44EA63-9B7A-E3DB-9420-A4665DF23CF9}"/>
                </a:ext>
              </a:extLst>
            </p:cNvPr>
            <p:cNvSpPr/>
            <p:nvPr/>
          </p:nvSpPr>
          <p:spPr>
            <a:xfrm>
              <a:off x="885400" y="1987025"/>
              <a:ext cx="409064" cy="340237"/>
            </a:xfrm>
            <a:prstGeom prst="mathPlu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6" name="加号 15">
              <a:extLst>
                <a:ext uri="{FF2B5EF4-FFF2-40B4-BE49-F238E27FC236}">
                  <a16:creationId xmlns:a16="http://schemas.microsoft.com/office/drawing/2014/main" id="{1006D462-9325-08A0-52C7-AE3B25F4FC81}"/>
                </a:ext>
              </a:extLst>
            </p:cNvPr>
            <p:cNvSpPr/>
            <p:nvPr/>
          </p:nvSpPr>
          <p:spPr>
            <a:xfrm>
              <a:off x="885400" y="3041647"/>
              <a:ext cx="409064" cy="340237"/>
            </a:xfrm>
            <a:prstGeom prst="mathPlu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D4AB3405-9238-DAEC-F97A-FCFBA5CFD463}"/>
                </a:ext>
              </a:extLst>
            </p:cNvPr>
            <p:cNvSpPr/>
            <p:nvPr/>
          </p:nvSpPr>
          <p:spPr>
            <a:xfrm>
              <a:off x="10202037" y="3663560"/>
              <a:ext cx="1851276" cy="55725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自然冷却结晶</a:t>
              </a:r>
            </a:p>
          </p:txBody>
        </p:sp>
        <p:sp>
          <p:nvSpPr>
            <p:cNvPr id="18" name="矩形 17">
              <a:extLst>
                <a:ext uri="{FF2B5EF4-FFF2-40B4-BE49-F238E27FC236}">
                  <a16:creationId xmlns:a16="http://schemas.microsoft.com/office/drawing/2014/main" id="{893F3B2F-2B04-E56D-B5C3-7397D3357BB7}"/>
                </a:ext>
              </a:extLst>
            </p:cNvPr>
            <p:cNvSpPr/>
            <p:nvPr/>
          </p:nvSpPr>
          <p:spPr>
            <a:xfrm>
              <a:off x="8009346" y="3663560"/>
              <a:ext cx="1851276" cy="55725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红外干燥</a:t>
              </a:r>
            </a:p>
          </p:txBody>
        </p:sp>
        <p:sp>
          <p:nvSpPr>
            <p:cNvPr id="19" name="矩形: 圆角 18">
              <a:extLst>
                <a:ext uri="{FF2B5EF4-FFF2-40B4-BE49-F238E27FC236}">
                  <a16:creationId xmlns:a16="http://schemas.microsoft.com/office/drawing/2014/main" id="{5C12FFD9-3EF9-6809-121A-B2E30FB62757}"/>
                </a:ext>
              </a:extLst>
            </p:cNvPr>
            <p:cNvSpPr/>
            <p:nvPr/>
          </p:nvSpPr>
          <p:spPr>
            <a:xfrm>
              <a:off x="5357764" y="3663560"/>
              <a:ext cx="1851276" cy="55725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精制</a:t>
              </a:r>
              <a:r>
                <a:rPr lang="en-US" altLang="zh-CN"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6-</a:t>
              </a:r>
              <a:r>
                <a:rPr lang="zh-CN" altLang="en-US" sz="16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氨基己酸</a:t>
              </a:r>
            </a:p>
          </p:txBody>
        </p:sp>
        <p:cxnSp>
          <p:nvCxnSpPr>
            <p:cNvPr id="21" name="直接箭头连接符 20">
              <a:extLst>
                <a:ext uri="{FF2B5EF4-FFF2-40B4-BE49-F238E27FC236}">
                  <a16:creationId xmlns:a16="http://schemas.microsoft.com/office/drawing/2014/main" id="{81669EE2-33B2-AA9C-665A-3FCBC9C40252}"/>
                </a:ext>
              </a:extLst>
            </p:cNvPr>
            <p:cNvCxnSpPr>
              <a:stCxn id="13" idx="3"/>
              <a:endCxn id="8" idx="1"/>
            </p:cNvCxnSpPr>
            <p:nvPr/>
          </p:nvCxnSpPr>
          <p:spPr>
            <a:xfrm>
              <a:off x="2007909" y="2686100"/>
              <a:ext cx="75216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CE65DCA-547B-DC3A-FCDD-130C39A5BEE5}"/>
                </a:ext>
              </a:extLst>
            </p:cNvPr>
            <p:cNvCxnSpPr>
              <a:stCxn id="8" idx="3"/>
              <a:endCxn id="10" idx="1"/>
            </p:cNvCxnSpPr>
            <p:nvPr/>
          </p:nvCxnSpPr>
          <p:spPr>
            <a:xfrm>
              <a:off x="4611346" y="2686100"/>
              <a:ext cx="74641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FC63C9A-1489-3C76-BD8A-88E6E3EBB039}"/>
                </a:ext>
              </a:extLst>
            </p:cNvPr>
            <p:cNvCxnSpPr>
              <a:stCxn id="10" idx="3"/>
              <a:endCxn id="11" idx="1"/>
            </p:cNvCxnSpPr>
            <p:nvPr/>
          </p:nvCxnSpPr>
          <p:spPr>
            <a:xfrm flipV="1">
              <a:off x="7209040" y="2685110"/>
              <a:ext cx="787562" cy="99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8C568821-E8F8-D838-192B-2FC49671F734}"/>
                </a:ext>
              </a:extLst>
            </p:cNvPr>
            <p:cNvCxnSpPr>
              <a:stCxn id="11" idx="3"/>
              <a:endCxn id="6" idx="1"/>
            </p:cNvCxnSpPr>
            <p:nvPr/>
          </p:nvCxnSpPr>
          <p:spPr>
            <a:xfrm>
              <a:off x="9847878" y="2685110"/>
              <a:ext cx="35415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63549B07-3418-F245-0A7A-FE2641FAAE5D}"/>
                </a:ext>
              </a:extLst>
            </p:cNvPr>
            <p:cNvCxnSpPr>
              <a:stCxn id="6" idx="2"/>
              <a:endCxn id="17" idx="0"/>
            </p:cNvCxnSpPr>
            <p:nvPr/>
          </p:nvCxnSpPr>
          <p:spPr>
            <a:xfrm>
              <a:off x="11127675" y="2963736"/>
              <a:ext cx="0" cy="6998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9EFCEC3-C355-8665-7B9C-C6EEAD941366}"/>
                </a:ext>
              </a:extLst>
            </p:cNvPr>
            <p:cNvCxnSpPr>
              <a:stCxn id="17" idx="1"/>
              <a:endCxn id="18" idx="3"/>
            </p:cNvCxnSpPr>
            <p:nvPr/>
          </p:nvCxnSpPr>
          <p:spPr>
            <a:xfrm flipH="1">
              <a:off x="9860622" y="3942187"/>
              <a:ext cx="34141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2678055-6E97-56B5-1FE5-007165EB7710}"/>
                </a:ext>
              </a:extLst>
            </p:cNvPr>
            <p:cNvCxnSpPr>
              <a:stCxn id="18" idx="1"/>
              <a:endCxn id="19" idx="3"/>
            </p:cNvCxnSpPr>
            <p:nvPr/>
          </p:nvCxnSpPr>
          <p:spPr>
            <a:xfrm flipH="1">
              <a:off x="7209040" y="3942187"/>
              <a:ext cx="80030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9EF4D27A-2433-9B2B-0BCE-D45B0550BCBC}"/>
                </a:ext>
              </a:extLst>
            </p:cNvPr>
            <p:cNvCxnSpPr>
              <a:cxnSpLocks/>
            </p:cNvCxnSpPr>
            <p:nvPr/>
          </p:nvCxnSpPr>
          <p:spPr>
            <a:xfrm flipV="1">
              <a:off x="2178171" y="2685109"/>
              <a:ext cx="0" cy="10183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30172AE8-430F-103B-56B0-1940ACF7D52E}"/>
                </a:ext>
              </a:extLst>
            </p:cNvPr>
            <p:cNvCxnSpPr>
              <a:cxnSpLocks/>
            </p:cNvCxnSpPr>
            <p:nvPr/>
          </p:nvCxnSpPr>
          <p:spPr>
            <a:xfrm>
              <a:off x="2420787" y="1694032"/>
              <a:ext cx="0" cy="99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48" name="文本框 47">
            <a:extLst>
              <a:ext uri="{FF2B5EF4-FFF2-40B4-BE49-F238E27FC236}">
                <a16:creationId xmlns:a16="http://schemas.microsoft.com/office/drawing/2014/main" id="{532A3DE5-DBBA-A7E4-503C-35BD8A8FF0E5}"/>
              </a:ext>
            </a:extLst>
          </p:cNvPr>
          <p:cNvSpPr txBox="1"/>
          <p:nvPr/>
        </p:nvSpPr>
        <p:spPr>
          <a:xfrm>
            <a:off x="2543956" y="2080945"/>
            <a:ext cx="2116285" cy="338554"/>
          </a:xfrm>
          <a:prstGeom prst="rect">
            <a:avLst/>
          </a:prstGeom>
          <a:noFill/>
        </p:spPr>
        <p:txBody>
          <a:bodyPr wrap="none" rtlCol="0">
            <a:spAutoFit/>
          </a:bodyPr>
          <a:lstStyle/>
          <a:p>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滴加浓氨水至</a:t>
            </a:r>
            <a:r>
              <a:rPr lang="en-US" altLang="zh-CN" sz="1600" dirty="0" err="1">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ph</a:t>
            </a:r>
            <a:r>
              <a:rPr lang="en-US" altLang="zh-CN"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=8.5</a:t>
            </a:r>
            <a:endPar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4635F945-4D04-144D-C110-DAEE849E9452}"/>
              </a:ext>
            </a:extLst>
          </p:cNvPr>
          <p:cNvSpPr txBox="1"/>
          <p:nvPr/>
        </p:nvSpPr>
        <p:spPr>
          <a:xfrm>
            <a:off x="2205904" y="3419997"/>
            <a:ext cx="1210588" cy="338554"/>
          </a:xfrm>
          <a:prstGeom prst="rect">
            <a:avLst/>
          </a:prstGeom>
          <a:noFill/>
        </p:spPr>
        <p:txBody>
          <a:bodyPr wrap="none" rtlCol="0">
            <a:spAutoFit/>
          </a:bodyPr>
          <a:lstStyle/>
          <a:p>
            <a:r>
              <a:rPr lang="zh-CN" altLang="en-US" sz="1600" dirty="0">
                <a:ln w="0"/>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加入固定酶</a:t>
            </a:r>
          </a:p>
        </p:txBody>
      </p:sp>
      <p:sp>
        <p:nvSpPr>
          <p:cNvPr id="58" name="文本框 57">
            <a:extLst>
              <a:ext uri="{FF2B5EF4-FFF2-40B4-BE49-F238E27FC236}">
                <a16:creationId xmlns:a16="http://schemas.microsoft.com/office/drawing/2014/main" id="{DED5F320-B8DF-4CEC-3442-4E76C728A3C8}"/>
              </a:ext>
            </a:extLst>
          </p:cNvPr>
          <p:cNvSpPr txBox="1"/>
          <p:nvPr/>
        </p:nvSpPr>
        <p:spPr>
          <a:xfrm>
            <a:off x="506306" y="5197411"/>
            <a:ext cx="941796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减压蒸馏的控制条件：真空度为</a:t>
            </a:r>
            <a:r>
              <a:rPr lang="en-US" altLang="zh-CN" sz="1600" dirty="0">
                <a:latin typeface="微软雅黑" panose="020B0503020204020204" pitchFamily="34" charset="-122"/>
                <a:ea typeface="微软雅黑" panose="020B0503020204020204" pitchFamily="34" charset="-122"/>
              </a:rPr>
              <a:t>-0.05~-0.06MPa</a:t>
            </a:r>
            <a:r>
              <a:rPr lang="zh-CN" altLang="en-US" sz="1600" dirty="0">
                <a:latin typeface="微软雅黑" panose="020B0503020204020204" pitchFamily="34" charset="-122"/>
                <a:ea typeface="微软雅黑" panose="020B0503020204020204" pitchFamily="34" charset="-122"/>
              </a:rPr>
              <a:t>，回流比为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，馏出温度为</a:t>
            </a:r>
            <a:r>
              <a:rPr lang="en-US" altLang="zh-CN" sz="1600" dirty="0">
                <a:latin typeface="微软雅黑" panose="020B0503020204020204" pitchFamily="34" charset="-122"/>
                <a:ea typeface="微软雅黑" panose="020B0503020204020204" pitchFamily="34" charset="-122"/>
              </a:rPr>
              <a:t>90~100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74CFC9AA-60B9-4E5F-888E-5744CFE0E790}"/>
              </a:ext>
            </a:extLst>
          </p:cNvPr>
          <p:cNvSpPr txBox="1"/>
          <p:nvPr/>
        </p:nvSpPr>
        <p:spPr>
          <a:xfrm>
            <a:off x="1715679" y="6262574"/>
            <a:ext cx="5272597" cy="253916"/>
          </a:xfrm>
          <a:prstGeom prst="rect">
            <a:avLst/>
          </a:prstGeom>
          <a:noFill/>
        </p:spPr>
        <p:txBody>
          <a:bodyPr wrap="none" rtlCol="0">
            <a:spAutoFit/>
          </a:bodyPr>
          <a:lstStyle/>
          <a:p>
            <a:r>
              <a:rPr lang="en-US" altLang="zh-CN" sz="1050" dirty="0">
                <a:latin typeface="微软雅黑" panose="020B0503020204020204" pitchFamily="34" charset="-122"/>
                <a:ea typeface="微软雅黑" panose="020B0503020204020204" pitchFamily="34" charset="-122"/>
              </a:rPr>
              <a:t>[1]</a:t>
            </a:r>
            <a:r>
              <a:rPr lang="zh-CN" altLang="en-US" sz="1050" dirty="0">
                <a:latin typeface="微软雅黑" panose="020B0503020204020204" pitchFamily="34" charset="-122"/>
                <a:ea typeface="微软雅黑" panose="020B0503020204020204" pitchFamily="34" charset="-122"/>
              </a:rPr>
              <a:t>唐建华</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马刚</a:t>
            </a:r>
            <a:r>
              <a:rPr lang="en-US" altLang="zh-CN" sz="1050" dirty="0">
                <a:latin typeface="微软雅黑" panose="020B0503020204020204" pitchFamily="34" charset="-122"/>
                <a:ea typeface="微软雅黑" panose="020B0503020204020204" pitchFamily="34" charset="-122"/>
              </a:rPr>
              <a:t>.</a:t>
            </a:r>
            <a:r>
              <a:rPr lang="zh-CN" altLang="en-US" sz="1050" dirty="0">
                <a:latin typeface="微软雅黑" panose="020B0503020204020204" pitchFamily="34" charset="-122"/>
                <a:ea typeface="微软雅黑" panose="020B0503020204020204" pitchFamily="34" charset="-122"/>
              </a:rPr>
              <a:t>一种</a:t>
            </a:r>
            <a:r>
              <a:rPr lang="en-US" altLang="zh-CN" sz="1050" dirty="0">
                <a:latin typeface="微软雅黑" panose="020B0503020204020204" pitchFamily="34" charset="-122"/>
                <a:ea typeface="微软雅黑" panose="020B0503020204020204" pitchFamily="34" charset="-122"/>
              </a:rPr>
              <a:t>6-</a:t>
            </a:r>
            <a:r>
              <a:rPr lang="zh-CN" altLang="en-US" sz="1050" dirty="0">
                <a:latin typeface="微软雅黑" panose="020B0503020204020204" pitchFamily="34" charset="-122"/>
                <a:ea typeface="微软雅黑" panose="020B0503020204020204" pitchFamily="34" charset="-122"/>
              </a:rPr>
              <a:t>氨基己酸的制备方法</a:t>
            </a:r>
            <a:r>
              <a:rPr lang="en-US" altLang="zh-CN" sz="1050" dirty="0">
                <a:latin typeface="微软雅黑" panose="020B0503020204020204" pitchFamily="34" charset="-122"/>
                <a:ea typeface="微软雅黑" panose="020B0503020204020204" pitchFamily="34" charset="-122"/>
              </a:rPr>
              <a:t>[P].</a:t>
            </a:r>
            <a:r>
              <a:rPr lang="zh-CN" altLang="en-US" sz="1050" dirty="0">
                <a:latin typeface="微软雅黑" panose="020B0503020204020204" pitchFamily="34" charset="-122"/>
                <a:ea typeface="微软雅黑" panose="020B0503020204020204" pitchFamily="34" charset="-122"/>
              </a:rPr>
              <a:t>四川</a:t>
            </a:r>
            <a:r>
              <a:rPr lang="en-US" altLang="zh-CN" sz="1050" dirty="0">
                <a:latin typeface="微软雅黑" panose="020B0503020204020204" pitchFamily="34" charset="-122"/>
                <a:ea typeface="微软雅黑" panose="020B0503020204020204" pitchFamily="34" charset="-122"/>
              </a:rPr>
              <a:t>:CN201510608964.9,2016-01-13.</a:t>
            </a:r>
            <a:endParaRPr lang="zh-CN" altLang="en-US" sz="105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6088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中国石化标识-01.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44507" y="5637308"/>
            <a:ext cx="1967427" cy="720721"/>
          </a:xfrm>
          <a:prstGeom prst="rect">
            <a:avLst/>
          </a:prstGeom>
        </p:spPr>
      </p:pic>
      <p:sp>
        <p:nvSpPr>
          <p:cNvPr id="2" name="文本框 1">
            <a:extLst>
              <a:ext uri="{FF2B5EF4-FFF2-40B4-BE49-F238E27FC236}">
                <a16:creationId xmlns:a16="http://schemas.microsoft.com/office/drawing/2014/main" id="{782C84DD-CF10-DE17-331F-104DF3854F84}"/>
              </a:ext>
            </a:extLst>
          </p:cNvPr>
          <p:cNvSpPr txBox="1"/>
          <p:nvPr/>
        </p:nvSpPr>
        <p:spPr>
          <a:xfrm>
            <a:off x="1775401" y="1988800"/>
            <a:ext cx="7622169" cy="1898084"/>
          </a:xfrm>
          <a:prstGeom prst="rect">
            <a:avLst/>
          </a:prstGeom>
          <a:noFill/>
        </p:spPr>
        <p:txBody>
          <a:bodyPr wrap="square" rtlCol="0">
            <a:spAutoFit/>
          </a:bodyPr>
          <a:lstStyle/>
          <a:p>
            <a:pPr algn="ctr"/>
            <a:r>
              <a:rPr kumimoji="1" lang="zh-CN" altLang="en-US" sz="5867" b="1" kern="2200" dirty="0">
                <a:solidFill>
                  <a:srgbClr val="CD0A20"/>
                </a:solidFill>
                <a:latin typeface="黑体" panose="02010609060101010101" pitchFamily="49" charset="-122"/>
                <a:ea typeface="黑体" panose="02010609060101010101" pitchFamily="49" charset="-122"/>
                <a:cs typeface="Arial" panose="020B0604020202020204"/>
              </a:rPr>
              <a:t>谢谢老师的聆听！</a:t>
            </a:r>
            <a:endParaRPr kumimoji="1" lang="en-US" altLang="zh-CN" sz="5867" b="1" kern="2200" dirty="0">
              <a:solidFill>
                <a:srgbClr val="CD0A20"/>
              </a:solidFill>
              <a:latin typeface="黑体" panose="02010609060101010101" pitchFamily="49" charset="-122"/>
              <a:ea typeface="黑体" panose="02010609060101010101" pitchFamily="49" charset="-122"/>
              <a:cs typeface="Arial" panose="020B0604020202020204"/>
            </a:endParaRPr>
          </a:p>
          <a:p>
            <a:pPr algn="ctr"/>
            <a:r>
              <a:rPr kumimoji="1" lang="zh-CN" altLang="en-US" sz="5867" b="1" kern="2200" dirty="0">
                <a:solidFill>
                  <a:srgbClr val="CD0A20"/>
                </a:solidFill>
                <a:latin typeface="黑体" panose="02010609060101010101" pitchFamily="49" charset="-122"/>
                <a:ea typeface="黑体" panose="02010609060101010101" pitchFamily="49" charset="-122"/>
                <a:cs typeface="Arial" panose="020B0604020202020204"/>
              </a:rPr>
              <a:t>欢迎批评和指正！</a:t>
            </a:r>
            <a:endParaRPr kumimoji="1" lang="en-US" altLang="zh-CN" sz="5867" b="1" kern="2200" dirty="0">
              <a:solidFill>
                <a:srgbClr val="CD0A20"/>
              </a:solidFill>
              <a:latin typeface="黑体" panose="02010609060101010101" pitchFamily="49" charset="-122"/>
              <a:ea typeface="黑体" panose="02010609060101010101" pitchFamily="49" charset="-122"/>
              <a:cs typeface="Arial" panose="020B0604020202020204"/>
            </a:endParaRPr>
          </a:p>
        </p:txBody>
      </p:sp>
    </p:spTree>
    <p:extLst>
      <p:ext uri="{BB962C8B-B14F-4D97-AF65-F5344CB8AC3E}">
        <p14:creationId xmlns:p14="http://schemas.microsoft.com/office/powerpoint/2010/main" val="28784343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19,&quot;width&quot;:4920.228346456693}"/>
</p:tagLst>
</file>

<file path=ppt/tags/tag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1742</TotalTime>
  <Words>1457</Words>
  <Application>Microsoft Office PowerPoint</Application>
  <PresentationFormat>宽屏</PresentationFormat>
  <Paragraphs>151</Paragraphs>
  <Slides>9</Slides>
  <Notes>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等线</vt:lpstr>
      <vt:lpstr>等线 Light</vt:lpstr>
      <vt:lpstr>方正兰亭中黑简体</vt:lpstr>
      <vt:lpstr>黑体</vt:lpstr>
      <vt:lpstr>Microsoft YaHei</vt:lpstr>
      <vt:lpstr>Microsoft YaHei</vt:lpstr>
      <vt:lpstr>Arial</vt:lpstr>
      <vt:lpstr>Roboto</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超 戴</dc:creator>
  <cp:lastModifiedBy>超 戴</cp:lastModifiedBy>
  <cp:revision>6</cp:revision>
  <dcterms:created xsi:type="dcterms:W3CDTF">2024-06-13T01:47:18Z</dcterms:created>
  <dcterms:modified xsi:type="dcterms:W3CDTF">2024-06-15T02:13:23Z</dcterms:modified>
</cp:coreProperties>
</file>